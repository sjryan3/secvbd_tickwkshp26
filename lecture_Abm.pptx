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7"/>
  </p:notesMasterIdLst>
  <p:handoutMasterIdLst>
    <p:handoutMasterId r:id="rId78"/>
  </p:handoutMasterIdLst>
  <p:sldIdLst>
    <p:sldId id="256" r:id="rId2"/>
    <p:sldId id="531" r:id="rId3"/>
    <p:sldId id="532" r:id="rId4"/>
    <p:sldId id="533" r:id="rId5"/>
    <p:sldId id="557" r:id="rId6"/>
    <p:sldId id="558" r:id="rId7"/>
    <p:sldId id="559" r:id="rId8"/>
    <p:sldId id="561" r:id="rId9"/>
    <p:sldId id="562" r:id="rId10"/>
    <p:sldId id="563" r:id="rId11"/>
    <p:sldId id="564" r:id="rId12"/>
    <p:sldId id="565" r:id="rId13"/>
    <p:sldId id="566" r:id="rId14"/>
    <p:sldId id="567" r:id="rId15"/>
    <p:sldId id="560" r:id="rId16"/>
    <p:sldId id="534" r:id="rId17"/>
    <p:sldId id="535" r:id="rId18"/>
    <p:sldId id="537" r:id="rId19"/>
    <p:sldId id="572" r:id="rId20"/>
    <p:sldId id="573" r:id="rId21"/>
    <p:sldId id="574" r:id="rId22"/>
    <p:sldId id="575" r:id="rId23"/>
    <p:sldId id="576" r:id="rId24"/>
    <p:sldId id="577" r:id="rId25"/>
    <p:sldId id="578" r:id="rId26"/>
    <p:sldId id="579" r:id="rId27"/>
    <p:sldId id="580" r:id="rId28"/>
    <p:sldId id="581" r:id="rId29"/>
    <p:sldId id="582" r:id="rId30"/>
    <p:sldId id="583" r:id="rId31"/>
    <p:sldId id="584" r:id="rId32"/>
    <p:sldId id="585" r:id="rId33"/>
    <p:sldId id="586" r:id="rId34"/>
    <p:sldId id="587" r:id="rId35"/>
    <p:sldId id="588" r:id="rId36"/>
    <p:sldId id="589" r:id="rId37"/>
    <p:sldId id="590" r:id="rId38"/>
    <p:sldId id="591" r:id="rId39"/>
    <p:sldId id="592" r:id="rId40"/>
    <p:sldId id="593" r:id="rId41"/>
    <p:sldId id="594" r:id="rId42"/>
    <p:sldId id="595" r:id="rId43"/>
    <p:sldId id="596" r:id="rId44"/>
    <p:sldId id="597" r:id="rId45"/>
    <p:sldId id="598" r:id="rId46"/>
    <p:sldId id="599" r:id="rId47"/>
    <p:sldId id="600" r:id="rId48"/>
    <p:sldId id="601" r:id="rId49"/>
    <p:sldId id="602" r:id="rId50"/>
    <p:sldId id="603" r:id="rId51"/>
    <p:sldId id="604" r:id="rId52"/>
    <p:sldId id="605" r:id="rId53"/>
    <p:sldId id="606" r:id="rId54"/>
    <p:sldId id="539" r:id="rId55"/>
    <p:sldId id="540" r:id="rId56"/>
    <p:sldId id="541" r:id="rId57"/>
    <p:sldId id="542" r:id="rId58"/>
    <p:sldId id="543" r:id="rId59"/>
    <p:sldId id="544" r:id="rId60"/>
    <p:sldId id="545" r:id="rId61"/>
    <p:sldId id="546" r:id="rId62"/>
    <p:sldId id="547" r:id="rId63"/>
    <p:sldId id="548" r:id="rId64"/>
    <p:sldId id="549" r:id="rId65"/>
    <p:sldId id="550" r:id="rId66"/>
    <p:sldId id="551" r:id="rId67"/>
    <p:sldId id="552" r:id="rId68"/>
    <p:sldId id="553" r:id="rId69"/>
    <p:sldId id="554" r:id="rId70"/>
    <p:sldId id="555" r:id="rId71"/>
    <p:sldId id="556" r:id="rId72"/>
    <p:sldId id="568" r:id="rId73"/>
    <p:sldId id="569" r:id="rId74"/>
    <p:sldId id="570" r:id="rId75"/>
    <p:sldId id="571" r:id="rId76"/>
  </p:sldIdLst>
  <p:sldSz cx="9144000" cy="6858000" type="screen4x3"/>
  <p:notesSz cx="9144000" cy="6858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11"/>
    <p:restoredTop sz="94658"/>
  </p:normalViewPr>
  <p:slideViewPr>
    <p:cSldViewPr>
      <p:cViewPr varScale="1">
        <p:scale>
          <a:sx n="120" d="100"/>
          <a:sy n="120" d="100"/>
        </p:scale>
        <p:origin x="194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hgaff:Documents:tick_research:field_project:2010:progress_reports:2009-201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Sheet1!$B$56</c:f>
              <c:strCache>
                <c:ptCount val="1"/>
                <c:pt idx="0">
                  <c:v>Lone Star</c:v>
                </c:pt>
              </c:strCache>
            </c:strRef>
          </c:tx>
          <c:spPr>
            <a:ln>
              <a:solidFill>
                <a:schemeClr val="tx2"/>
              </a:solidFill>
            </a:ln>
          </c:spPr>
          <c:marker>
            <c:symbol val="none"/>
          </c:marker>
          <c:xVal>
            <c:numRef>
              <c:f>Sheet1!$A$57:$A$101</c:f>
              <c:numCache>
                <c:formatCode>General</c:formatCode>
                <c:ptCount val="45"/>
                <c:pt idx="0">
                  <c:v>18</c:v>
                </c:pt>
                <c:pt idx="1">
                  <c:v>19</c:v>
                </c:pt>
                <c:pt idx="2">
                  <c:v>20</c:v>
                </c:pt>
                <c:pt idx="3">
                  <c:v>21</c:v>
                </c:pt>
                <c:pt idx="4">
                  <c:v>22</c:v>
                </c:pt>
                <c:pt idx="5">
                  <c:v>23</c:v>
                </c:pt>
                <c:pt idx="6">
                  <c:v>24</c:v>
                </c:pt>
                <c:pt idx="7">
                  <c:v>25</c:v>
                </c:pt>
                <c:pt idx="8">
                  <c:v>26</c:v>
                </c:pt>
                <c:pt idx="9">
                  <c:v>27</c:v>
                </c:pt>
                <c:pt idx="10">
                  <c:v>28</c:v>
                </c:pt>
                <c:pt idx="11">
                  <c:v>29</c:v>
                </c:pt>
                <c:pt idx="12">
                  <c:v>30</c:v>
                </c:pt>
                <c:pt idx="13">
                  <c:v>31</c:v>
                </c:pt>
                <c:pt idx="14">
                  <c:v>32</c:v>
                </c:pt>
                <c:pt idx="15">
                  <c:v>33</c:v>
                </c:pt>
                <c:pt idx="16">
                  <c:v>34</c:v>
                </c:pt>
                <c:pt idx="17">
                  <c:v>36</c:v>
                </c:pt>
                <c:pt idx="18">
                  <c:v>37</c:v>
                </c:pt>
                <c:pt idx="19">
                  <c:v>66</c:v>
                </c:pt>
                <c:pt idx="20">
                  <c:v>67</c:v>
                </c:pt>
                <c:pt idx="21">
                  <c:v>68</c:v>
                </c:pt>
                <c:pt idx="22">
                  <c:v>69</c:v>
                </c:pt>
                <c:pt idx="23">
                  <c:v>70</c:v>
                </c:pt>
                <c:pt idx="24">
                  <c:v>71</c:v>
                </c:pt>
                <c:pt idx="25">
                  <c:v>72</c:v>
                </c:pt>
                <c:pt idx="26">
                  <c:v>73</c:v>
                </c:pt>
                <c:pt idx="27">
                  <c:v>74</c:v>
                </c:pt>
                <c:pt idx="28">
                  <c:v>75</c:v>
                </c:pt>
                <c:pt idx="29">
                  <c:v>76</c:v>
                </c:pt>
                <c:pt idx="30">
                  <c:v>77</c:v>
                </c:pt>
                <c:pt idx="31">
                  <c:v>78</c:v>
                </c:pt>
                <c:pt idx="32">
                  <c:v>79</c:v>
                </c:pt>
                <c:pt idx="33">
                  <c:v>80</c:v>
                </c:pt>
                <c:pt idx="34">
                  <c:v>81</c:v>
                </c:pt>
                <c:pt idx="35">
                  <c:v>82</c:v>
                </c:pt>
                <c:pt idx="36">
                  <c:v>83</c:v>
                </c:pt>
                <c:pt idx="37">
                  <c:v>84</c:v>
                </c:pt>
                <c:pt idx="38">
                  <c:v>85</c:v>
                </c:pt>
                <c:pt idx="39">
                  <c:v>86</c:v>
                </c:pt>
                <c:pt idx="40">
                  <c:v>87</c:v>
                </c:pt>
                <c:pt idx="41">
                  <c:v>88</c:v>
                </c:pt>
                <c:pt idx="42">
                  <c:v>89</c:v>
                </c:pt>
                <c:pt idx="43">
                  <c:v>90</c:v>
                </c:pt>
                <c:pt idx="44">
                  <c:v>93</c:v>
                </c:pt>
              </c:numCache>
            </c:numRef>
          </c:xVal>
          <c:yVal>
            <c:numRef>
              <c:f>Sheet1!$B$57:$B$101</c:f>
              <c:numCache>
                <c:formatCode>General</c:formatCode>
                <c:ptCount val="45"/>
                <c:pt idx="0">
                  <c:v>0</c:v>
                </c:pt>
                <c:pt idx="1">
                  <c:v>1</c:v>
                </c:pt>
                <c:pt idx="2">
                  <c:v>6</c:v>
                </c:pt>
                <c:pt idx="3">
                  <c:v>6</c:v>
                </c:pt>
                <c:pt idx="4">
                  <c:v>3</c:v>
                </c:pt>
                <c:pt idx="5">
                  <c:v>7</c:v>
                </c:pt>
                <c:pt idx="6">
                  <c:v>82</c:v>
                </c:pt>
                <c:pt idx="7">
                  <c:v>201</c:v>
                </c:pt>
                <c:pt idx="8">
                  <c:v>40</c:v>
                </c:pt>
                <c:pt idx="9">
                  <c:v>69</c:v>
                </c:pt>
                <c:pt idx="10">
                  <c:v>108</c:v>
                </c:pt>
                <c:pt idx="11">
                  <c:v>34</c:v>
                </c:pt>
                <c:pt idx="12">
                  <c:v>4</c:v>
                </c:pt>
                <c:pt idx="13">
                  <c:v>47</c:v>
                </c:pt>
                <c:pt idx="14">
                  <c:v>2</c:v>
                </c:pt>
                <c:pt idx="15">
                  <c:v>19</c:v>
                </c:pt>
                <c:pt idx="16">
                  <c:v>0</c:v>
                </c:pt>
                <c:pt idx="17">
                  <c:v>1</c:v>
                </c:pt>
                <c:pt idx="18">
                  <c:v>0</c:v>
                </c:pt>
                <c:pt idx="19">
                  <c:v>0</c:v>
                </c:pt>
                <c:pt idx="20">
                  <c:v>83</c:v>
                </c:pt>
                <c:pt idx="21">
                  <c:v>127</c:v>
                </c:pt>
                <c:pt idx="22">
                  <c:v>155</c:v>
                </c:pt>
                <c:pt idx="23">
                  <c:v>169</c:v>
                </c:pt>
                <c:pt idx="24">
                  <c:v>127</c:v>
                </c:pt>
                <c:pt idx="25">
                  <c:v>480</c:v>
                </c:pt>
                <c:pt idx="26">
                  <c:v>146</c:v>
                </c:pt>
                <c:pt idx="27">
                  <c:v>152</c:v>
                </c:pt>
                <c:pt idx="28">
                  <c:v>257</c:v>
                </c:pt>
                <c:pt idx="29">
                  <c:v>305</c:v>
                </c:pt>
                <c:pt idx="30">
                  <c:v>315</c:v>
                </c:pt>
                <c:pt idx="31">
                  <c:v>289</c:v>
                </c:pt>
                <c:pt idx="32">
                  <c:v>44</c:v>
                </c:pt>
                <c:pt idx="33">
                  <c:v>41</c:v>
                </c:pt>
                <c:pt idx="34">
                  <c:v>46</c:v>
                </c:pt>
                <c:pt idx="35">
                  <c:v>81</c:v>
                </c:pt>
                <c:pt idx="36">
                  <c:v>8</c:v>
                </c:pt>
                <c:pt idx="37">
                  <c:v>22</c:v>
                </c:pt>
                <c:pt idx="38">
                  <c:v>2</c:v>
                </c:pt>
                <c:pt idx="39">
                  <c:v>41</c:v>
                </c:pt>
                <c:pt idx="40">
                  <c:v>17</c:v>
                </c:pt>
                <c:pt idx="41">
                  <c:v>14</c:v>
                </c:pt>
                <c:pt idx="42">
                  <c:v>47</c:v>
                </c:pt>
                <c:pt idx="43">
                  <c:v>10</c:v>
                </c:pt>
                <c:pt idx="44">
                  <c:v>0</c:v>
                </c:pt>
              </c:numCache>
            </c:numRef>
          </c:yVal>
          <c:smooth val="0"/>
          <c:extLst>
            <c:ext xmlns:c16="http://schemas.microsoft.com/office/drawing/2014/chart" uri="{C3380CC4-5D6E-409C-BE32-E72D297353CC}">
              <c16:uniqueId val="{00000000-3429-9C4A-AF1D-8737B673DCDD}"/>
            </c:ext>
          </c:extLst>
        </c:ser>
        <c:dLbls>
          <c:showLegendKey val="0"/>
          <c:showVal val="0"/>
          <c:showCatName val="0"/>
          <c:showSerName val="0"/>
          <c:showPercent val="0"/>
          <c:showBubbleSize val="0"/>
        </c:dLbls>
        <c:axId val="480133448"/>
        <c:axId val="636840920"/>
      </c:scatterChart>
      <c:valAx>
        <c:axId val="480133448"/>
        <c:scaling>
          <c:orientation val="minMax"/>
        </c:scaling>
        <c:delete val="0"/>
        <c:axPos val="b"/>
        <c:numFmt formatCode="General" sourceLinked="1"/>
        <c:majorTickMark val="out"/>
        <c:minorTickMark val="none"/>
        <c:tickLblPos val="nextTo"/>
        <c:crossAx val="636840920"/>
        <c:crosses val="autoZero"/>
        <c:crossBetween val="midCat"/>
      </c:valAx>
      <c:valAx>
        <c:axId val="636840920"/>
        <c:scaling>
          <c:orientation val="minMax"/>
        </c:scaling>
        <c:delete val="0"/>
        <c:axPos val="l"/>
        <c:majorGridlines/>
        <c:numFmt formatCode="General" sourceLinked="1"/>
        <c:majorTickMark val="out"/>
        <c:minorTickMark val="none"/>
        <c:tickLblPos val="nextTo"/>
        <c:crossAx val="480133448"/>
        <c:crosses val="autoZero"/>
        <c:crossBetween val="midCat"/>
      </c:valAx>
    </c:plotArea>
    <c:legend>
      <c:legendPos val="r"/>
      <c:overlay val="0"/>
    </c:legend>
    <c:plotVisOnly val="1"/>
    <c:dispBlanksAs val="gap"/>
    <c:showDLblsOverMax val="0"/>
  </c:chart>
  <c:spPr>
    <a:solidFill>
      <a:schemeClr val="bg1"/>
    </a:solidFill>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4" name="Rectangle 2"/>
          <p:cNvSpPr>
            <a:spLocks noGrp="1" noChangeArrowheads="1"/>
          </p:cNvSpPr>
          <p:nvPr>
            <p:ph type="hdr" sz="quarter"/>
          </p:nvPr>
        </p:nvSpPr>
        <p:spPr bwMode="auto">
          <a:xfrm>
            <a:off x="0" y="0"/>
            <a:ext cx="39624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77155" name="Rectangle 3"/>
          <p:cNvSpPr>
            <a:spLocks noGrp="1" noChangeArrowheads="1"/>
          </p:cNvSpPr>
          <p:nvPr>
            <p:ph type="dt" sz="quarter" idx="1"/>
          </p:nvPr>
        </p:nvSpPr>
        <p:spPr bwMode="auto">
          <a:xfrm>
            <a:off x="5181600" y="0"/>
            <a:ext cx="39624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77156" name="Rectangle 4"/>
          <p:cNvSpPr>
            <a:spLocks noGrp="1" noChangeArrowheads="1"/>
          </p:cNvSpPr>
          <p:nvPr>
            <p:ph type="ftr" sz="quarter" idx="2"/>
          </p:nvPr>
        </p:nvSpPr>
        <p:spPr bwMode="auto">
          <a:xfrm>
            <a:off x="0" y="6515100"/>
            <a:ext cx="39624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77157" name="Rectangle 5"/>
          <p:cNvSpPr>
            <a:spLocks noGrp="1" noChangeArrowheads="1"/>
          </p:cNvSpPr>
          <p:nvPr>
            <p:ph type="sldNum" sz="quarter" idx="3"/>
          </p:nvPr>
        </p:nvSpPr>
        <p:spPr bwMode="auto">
          <a:xfrm>
            <a:off x="5181600" y="6515100"/>
            <a:ext cx="39624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168C3979-8F0B-1541-AC57-0819A0A0A8F8}"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9624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4099" name="Rectangle 3"/>
          <p:cNvSpPr>
            <a:spLocks noGrp="1" noChangeArrowheads="1"/>
          </p:cNvSpPr>
          <p:nvPr>
            <p:ph type="dt" idx="1"/>
          </p:nvPr>
        </p:nvSpPr>
        <p:spPr bwMode="auto">
          <a:xfrm>
            <a:off x="5181600" y="0"/>
            <a:ext cx="39624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5364"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1219200" y="3257550"/>
            <a:ext cx="6705600" cy="30861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2" name="Rectangle 6"/>
          <p:cNvSpPr>
            <a:spLocks noGrp="1" noChangeArrowheads="1"/>
          </p:cNvSpPr>
          <p:nvPr>
            <p:ph type="ftr" sz="quarter" idx="4"/>
          </p:nvPr>
        </p:nvSpPr>
        <p:spPr bwMode="auto">
          <a:xfrm>
            <a:off x="0" y="6515100"/>
            <a:ext cx="39624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4103" name="Rectangle 7"/>
          <p:cNvSpPr>
            <a:spLocks noGrp="1" noChangeArrowheads="1"/>
          </p:cNvSpPr>
          <p:nvPr>
            <p:ph type="sldNum" sz="quarter" idx="5"/>
          </p:nvPr>
        </p:nvSpPr>
        <p:spPr bwMode="auto">
          <a:xfrm>
            <a:off x="5181600" y="6515100"/>
            <a:ext cx="39624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E4D1D3A3-6FE9-3E43-B8EB-FF44B8681E6D}"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96082040-6C5D-004E-A905-A9B5A88F5BF5}" type="slidenum">
              <a:rPr lang="en-US"/>
              <a:pPr/>
              <a:t>1</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5E3C7F-6BB0-7F41-839C-49DA42FA7565}" type="slidenum">
              <a:rPr lang="en-US"/>
              <a:pPr/>
              <a:t>2</a:t>
            </a:fld>
            <a:endParaRPr lang="en-US"/>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F64640-F895-F14B-8047-93F2CD31A83C}" type="slidenum">
              <a:rPr lang="en-US"/>
              <a:pPr/>
              <a:t>3</a:t>
            </a:fld>
            <a:endParaRPr lang="en-US"/>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3F77EC-AE56-494E-ABB4-25597613A26D}" type="slidenum">
              <a:rPr lang="en-US"/>
              <a:pPr/>
              <a:t>4</a:t>
            </a:fld>
            <a:endParaRPr lang="en-US"/>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797495-DE2E-2F46-A33A-CC27B96B315F}" type="slidenum">
              <a:rPr lang="en-US"/>
              <a:pPr/>
              <a:t>16</a:t>
            </a:fld>
            <a:endParaRPr lang="en-US"/>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DAFE73-ED4C-D84A-8126-F9783605C85C}" type="slidenum">
              <a:rPr lang="en-US"/>
              <a:pPr/>
              <a:t>17</a:t>
            </a:fld>
            <a:endParaRPr lang="en-US"/>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2CE16B-EAF5-2346-BC1A-5E93D355192A}" type="slidenum">
              <a:rPr lang="en-US"/>
              <a:pPr/>
              <a:t>18</a:t>
            </a:fld>
            <a:endParaRPr lang="en-US"/>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C7C640B8-64C2-BF45-A937-54C9ACC6DBE5}" type="slidenum">
              <a:rPr lang="en-US"/>
              <a:pPr/>
              <a:t>19</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a:latin typeface="Arial" charset="0"/>
              <a:ea typeface="ＭＳ Ｐゴシック" charset="-128"/>
              <a:cs typeface="ＭＳ Ｐゴシック"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2B4AE887-90A5-2B44-B513-6C78C8996CEC}" type="slidenum">
              <a:rPr lang="en-US"/>
              <a:pPr/>
              <a:t>40</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endParaRPr lang="en-US">
              <a:latin typeface="Arial" charset="0"/>
              <a:ea typeface="ＭＳ Ｐゴシック" charset="-128"/>
              <a:cs typeface="ＭＳ Ｐゴシック"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94516954-AC5B-8D43-BA5E-A1DFC0DE4D9F}" type="slidenum">
              <a:rPr lang="en-US"/>
              <a:pPr/>
              <a:t>43</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endParaRPr lang="en-US">
              <a:latin typeface="Arial" charset="0"/>
              <a:ea typeface="ＭＳ Ｐゴシック" charset="-128"/>
              <a:cs typeface="ＭＳ Ｐゴシック"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FE49BC-4A7A-4F42-BC68-EEF4F5DC554C}" type="slidenum">
              <a:rPr lang="en-US"/>
              <a:pPr/>
              <a:t>54</a:t>
            </a:fld>
            <a:endParaRPr lang="en-US"/>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CFD4C6-6D5A-A244-A4A7-8669748A6484}" type="slidenum">
              <a:rPr lang="en-US"/>
              <a:pPr/>
              <a:t>55</a:t>
            </a:fld>
            <a:endParaRPr lang="en-US"/>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6E179E-EE66-8040-BE82-36265BB1D7D5}" type="slidenum">
              <a:rPr lang="en-US"/>
              <a:pPr/>
              <a:t>56</a:t>
            </a:fld>
            <a:endParaRPr lang="en-US"/>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59E99B-A005-9B40-9347-31B3BCC921D1}" type="slidenum">
              <a:rPr lang="en-US"/>
              <a:pPr/>
              <a:t>57</a:t>
            </a:fld>
            <a:endParaRPr 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154E8F-342C-8440-83BC-CCC47DDD75F7}" type="slidenum">
              <a:rPr lang="en-US"/>
              <a:pPr/>
              <a:t>58</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D1184B-B3BC-594D-8BD4-FE3A9B6E0DAD}" type="slidenum">
              <a:rPr lang="en-US"/>
              <a:pPr/>
              <a:t>59</a:t>
            </a:fld>
            <a:endParaRPr lang="en-US"/>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A3BE2C-A234-B949-87C4-3885DB131254}" type="slidenum">
              <a:rPr lang="en-US"/>
              <a:pPr/>
              <a:t>60</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7FCBAE-6AC7-3B40-83AF-1BB26D467FF5}" type="slidenum">
              <a:rPr lang="en-US"/>
              <a:pPr/>
              <a:t>61</a:t>
            </a:fld>
            <a:endParaRPr 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25C988-ACA2-AE43-9ADE-11EEF13650ED}" type="slidenum">
              <a:rPr lang="en-US"/>
              <a:pPr/>
              <a:t>62</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642855-65B0-C244-8480-4D80370943FA}" type="slidenum">
              <a:rPr lang="en-US"/>
              <a:pPr/>
              <a:t>63</a:t>
            </a:fld>
            <a:endParaRPr lang="en-US"/>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E55671-E4D2-144D-BCE8-D34C4E0BB95C}" type="slidenum">
              <a:rPr lang="en-US"/>
              <a:pPr/>
              <a:t>64</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4D6146-5B50-B74B-82CD-C80F87C7AB91}" type="slidenum">
              <a:rPr lang="en-US"/>
              <a:pPr/>
              <a:t>65</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EC2AA7-6D51-044B-9059-DCDB7C8BD1CE}" type="slidenum">
              <a:rPr lang="en-US"/>
              <a:pPr/>
              <a:t>66</a:t>
            </a:fld>
            <a:endParaRPr lang="en-US"/>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E4509E-4F4D-164D-AB93-BE80611DB9AF}" type="slidenum">
              <a:rPr lang="en-US"/>
              <a:pPr/>
              <a:t>67</a:t>
            </a:fld>
            <a:endParaRPr lang="en-US"/>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14E605-F514-5744-8246-F2D588A3E577}" type="slidenum">
              <a:rPr lang="en-US"/>
              <a:pPr/>
              <a:t>68</a:t>
            </a:fld>
            <a:endParaRPr lang="en-US"/>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BA6DB8-46D3-8D47-BFAE-6D06BFDAED4C}" type="slidenum">
              <a:rPr lang="en-US"/>
              <a:pPr/>
              <a:t>69</a:t>
            </a:fld>
            <a:endParaRPr lang="en-US"/>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6DB21F-ABD4-DE4B-B5E4-E5731323BF0C}" type="slidenum">
              <a:rPr lang="en-US"/>
              <a:pPr/>
              <a:t>70</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251657-094C-E24D-B805-7238115EF267}" type="slidenum">
              <a:rPr lang="en-US"/>
              <a:pPr/>
              <a:t>71</a:t>
            </a:fld>
            <a:endParaRPr lang="en-US"/>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sldNum" sz="quarter" idx="10"/>
          </p:nvPr>
        </p:nvSpPr>
        <p:spPr>
          <a:ln/>
        </p:spPr>
        <p:txBody>
          <a:bodyPr/>
          <a:lstStyle>
            <a:lvl1pPr>
              <a:defRPr/>
            </a:lvl1pPr>
          </a:lstStyle>
          <a:p>
            <a:fld id="{06D19235-9B42-A642-B0D1-B2905B98BAE0}"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8521DD02-63C5-0743-BA6B-5D26F5D42235}"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4208A68A-8CC1-0F4E-80EF-7845EB0CE007}"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EC87C38F-7C1E-1645-A896-F2A8E6384932}"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2DD195AE-D806-F444-9444-52D27BBEFC97}"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8A0F402F-A53D-244D-9EE3-E8481C315E8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0B2AEE58-D8F6-3043-A6C1-1451A47D8149}"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794AAABB-73D5-EF41-BEB8-D8A5873362FE}"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87E4B7FD-4152-7945-8A5B-BFFA4946DA3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6C13FB3C-FCB8-C441-9B29-31EB40A0914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41B20DF3-D5A1-B943-AFC7-557DFDF129FB}"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Rectangle 6"/>
          <p:cNvSpPr>
            <a:spLocks noGrp="1" noChangeArrowheads="1"/>
          </p:cNvSpPr>
          <p:nvPr>
            <p:ph type="sldNum" sz="quarter" idx="10"/>
          </p:nvPr>
        </p:nvSpPr>
        <p:spPr>
          <a:ln/>
        </p:spPr>
        <p:txBody>
          <a:bodyPr/>
          <a:lstStyle>
            <a:lvl1pPr>
              <a:defRPr/>
            </a:lvl1pPr>
          </a:lstStyle>
          <a:p>
            <a:fld id="{BEDDE49D-4337-B54F-8C74-2677AE47B108}"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028" name="Group 7"/>
          <p:cNvGrpSpPr>
            <a:grpSpLocks/>
          </p:cNvGrpSpPr>
          <p:nvPr userDrawn="1"/>
        </p:nvGrpSpPr>
        <p:grpSpPr bwMode="auto">
          <a:xfrm>
            <a:off x="0" y="0"/>
            <a:ext cx="9144000" cy="381000"/>
            <a:chOff x="0" y="0"/>
            <a:chExt cx="5760" cy="240"/>
          </a:xfrm>
        </p:grpSpPr>
        <p:pic>
          <p:nvPicPr>
            <p:cNvPr id="1031" name="Picture 8"/>
            <p:cNvPicPr>
              <a:picLocks noChangeAspect="1" noChangeArrowheads="1"/>
            </p:cNvPicPr>
            <p:nvPr/>
          </p:nvPicPr>
          <p:blipFill>
            <a:blip r:embed="rId14"/>
            <a:srcRect/>
            <a:stretch>
              <a:fillRect/>
            </a:stretch>
          </p:blipFill>
          <p:spPr bwMode="auto">
            <a:xfrm>
              <a:off x="0" y="0"/>
              <a:ext cx="1880" cy="240"/>
            </a:xfrm>
            <a:prstGeom prst="rect">
              <a:avLst/>
            </a:prstGeom>
            <a:noFill/>
            <a:ln w="9525">
              <a:noFill/>
              <a:miter lim="800000"/>
              <a:headEnd/>
              <a:tailEnd/>
            </a:ln>
          </p:spPr>
        </p:pic>
        <p:sp>
          <p:nvSpPr>
            <p:cNvPr id="1033" name="Rectangle 9"/>
            <p:cNvSpPr>
              <a:spLocks noChangeArrowheads="1"/>
            </p:cNvSpPr>
            <p:nvPr/>
          </p:nvSpPr>
          <p:spPr bwMode="auto">
            <a:xfrm>
              <a:off x="1872" y="0"/>
              <a:ext cx="3888" cy="240"/>
            </a:xfrm>
            <a:prstGeom prst="rect">
              <a:avLst/>
            </a:prstGeom>
            <a:solidFill>
              <a:srgbClr val="002C5F"/>
            </a:solidFill>
            <a:ln w="0">
              <a:noFill/>
              <a:miter lim="800000"/>
              <a:headEnd/>
              <a:tailEnd/>
            </a:ln>
          </p:spPr>
          <p:txBody>
            <a:bodyPr wrap="none" anchor="ctr">
              <a:prstTxWarp prst="textNoShape">
                <a:avLst/>
              </a:prstTxWarp>
            </a:bodyPr>
            <a:lstStyle/>
            <a:p>
              <a:pPr algn="ctr"/>
              <a:endParaRPr lang="en-US" sz="2400"/>
            </a:p>
          </p:txBody>
        </p:sp>
      </p:grpSp>
      <p:sp>
        <p:nvSpPr>
          <p:cNvPr id="1034" name="Rectangle 10"/>
          <p:cNvSpPr>
            <a:spLocks noChangeArrowheads="1"/>
          </p:cNvSpPr>
          <p:nvPr userDrawn="1"/>
        </p:nvSpPr>
        <p:spPr bwMode="auto">
          <a:xfrm>
            <a:off x="0" y="6475413"/>
            <a:ext cx="9144000" cy="381000"/>
          </a:xfrm>
          <a:prstGeom prst="rect">
            <a:avLst/>
          </a:prstGeom>
          <a:solidFill>
            <a:srgbClr val="002C5F"/>
          </a:solidFill>
          <a:ln w="0">
            <a:noFill/>
            <a:miter lim="800000"/>
            <a:headEnd/>
            <a:tailEnd/>
          </a:ln>
        </p:spPr>
        <p:txBody>
          <a:bodyPr wrap="none" anchor="ctr">
            <a:prstTxWarp prst="textNoShape">
              <a:avLst/>
            </a:prstTxWarp>
          </a:bodyPr>
          <a:lstStyle/>
          <a:p>
            <a:pPr algn="ctr"/>
            <a:endParaRPr lang="en-US" sz="2400"/>
          </a:p>
        </p:txBody>
      </p:sp>
      <p:sp>
        <p:nvSpPr>
          <p:cNvPr id="1030" name="Rectangle 6"/>
          <p:cNvSpPr>
            <a:spLocks noGrp="1" noChangeArrowheads="1"/>
          </p:cNvSpPr>
          <p:nvPr>
            <p:ph type="sldNum" sz="quarter" idx="4"/>
          </p:nvPr>
        </p:nvSpPr>
        <p:spPr bwMode="auto">
          <a:xfrm>
            <a:off x="4038600" y="6477000"/>
            <a:ext cx="1066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solidFill>
                  <a:schemeClr val="bg1"/>
                </a:solidFill>
              </a:defRPr>
            </a:lvl1pPr>
          </a:lstStyle>
          <a:p>
            <a:fld id="{6C922EC8-8A85-184D-8D8B-4910E5D2F60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112" charset="0"/>
          <a:ea typeface="ＭＳ Ｐゴシック" pitchFamily="-112" charset="-128"/>
          <a:cs typeface="ＭＳ Ｐゴシック" pitchFamily="-112" charset="-128"/>
        </a:defRPr>
      </a:lvl2pPr>
      <a:lvl3pPr algn="ctr" rtl="0" eaLnBrk="0" fontAlgn="base" hangingPunct="0">
        <a:spcBef>
          <a:spcPct val="0"/>
        </a:spcBef>
        <a:spcAft>
          <a:spcPct val="0"/>
        </a:spcAft>
        <a:defRPr sz="4400">
          <a:solidFill>
            <a:schemeClr val="tx2"/>
          </a:solidFill>
          <a:latin typeface="Arial" pitchFamily="-112" charset="0"/>
          <a:ea typeface="ＭＳ Ｐゴシック" pitchFamily="-112" charset="-128"/>
          <a:cs typeface="ＭＳ Ｐゴシック" pitchFamily="-112" charset="-128"/>
        </a:defRPr>
      </a:lvl3pPr>
      <a:lvl4pPr algn="ctr" rtl="0" eaLnBrk="0" fontAlgn="base" hangingPunct="0">
        <a:spcBef>
          <a:spcPct val="0"/>
        </a:spcBef>
        <a:spcAft>
          <a:spcPct val="0"/>
        </a:spcAft>
        <a:defRPr sz="4400">
          <a:solidFill>
            <a:schemeClr val="tx2"/>
          </a:solidFill>
          <a:latin typeface="Arial" pitchFamily="-112" charset="0"/>
          <a:ea typeface="ＭＳ Ｐゴシック" pitchFamily="-112" charset="-128"/>
          <a:cs typeface="ＭＳ Ｐゴシック" pitchFamily="-112" charset="-128"/>
        </a:defRPr>
      </a:lvl4pPr>
      <a:lvl5pPr algn="ctr" rtl="0" eaLnBrk="0" fontAlgn="base" hangingPunct="0">
        <a:spcBef>
          <a:spcPct val="0"/>
        </a:spcBef>
        <a:spcAft>
          <a:spcPct val="0"/>
        </a:spcAft>
        <a:defRPr sz="4400">
          <a:solidFill>
            <a:schemeClr val="tx2"/>
          </a:solidFill>
          <a:latin typeface="Arial" pitchFamily="-112" charset="0"/>
          <a:ea typeface="ＭＳ Ｐゴシック" pitchFamily="-112" charset="-128"/>
          <a:cs typeface="ＭＳ Ｐゴシック" pitchFamily="-112" charset="-128"/>
        </a:defRPr>
      </a:lvl5pPr>
      <a:lvl6pPr marL="457200" algn="ctr" rtl="0" fontAlgn="base">
        <a:spcBef>
          <a:spcPct val="0"/>
        </a:spcBef>
        <a:spcAft>
          <a:spcPct val="0"/>
        </a:spcAft>
        <a:defRPr sz="4400">
          <a:solidFill>
            <a:schemeClr val="tx2"/>
          </a:solidFill>
          <a:latin typeface="Arial" pitchFamily="-112" charset="0"/>
          <a:ea typeface="ＭＳ Ｐゴシック" pitchFamily="-112" charset="-128"/>
          <a:cs typeface="ＭＳ Ｐゴシック" pitchFamily="-112" charset="-128"/>
        </a:defRPr>
      </a:lvl6pPr>
      <a:lvl7pPr marL="914400" algn="ctr" rtl="0" fontAlgn="base">
        <a:spcBef>
          <a:spcPct val="0"/>
        </a:spcBef>
        <a:spcAft>
          <a:spcPct val="0"/>
        </a:spcAft>
        <a:defRPr sz="4400">
          <a:solidFill>
            <a:schemeClr val="tx2"/>
          </a:solidFill>
          <a:latin typeface="Arial" pitchFamily="-112" charset="0"/>
          <a:ea typeface="ＭＳ Ｐゴシック" pitchFamily="-112" charset="-128"/>
          <a:cs typeface="ＭＳ Ｐゴシック" pitchFamily="-112" charset="-128"/>
        </a:defRPr>
      </a:lvl7pPr>
      <a:lvl8pPr marL="1371600" algn="ctr" rtl="0" fontAlgn="base">
        <a:spcBef>
          <a:spcPct val="0"/>
        </a:spcBef>
        <a:spcAft>
          <a:spcPct val="0"/>
        </a:spcAft>
        <a:defRPr sz="4400">
          <a:solidFill>
            <a:schemeClr val="tx2"/>
          </a:solidFill>
          <a:latin typeface="Arial" pitchFamily="-112" charset="0"/>
          <a:ea typeface="ＭＳ Ｐゴシック" pitchFamily="-112" charset="-128"/>
          <a:cs typeface="ＭＳ Ｐゴシック" pitchFamily="-112" charset="-128"/>
        </a:defRPr>
      </a:lvl8pPr>
      <a:lvl9pPr marL="1828800" algn="ctr" rtl="0" fontAlgn="base">
        <a:spcBef>
          <a:spcPct val="0"/>
        </a:spcBef>
        <a:spcAft>
          <a:spcPct val="0"/>
        </a:spcAft>
        <a:defRPr sz="4400">
          <a:solidFill>
            <a:schemeClr val="tx2"/>
          </a:solidFill>
          <a:latin typeface="Arial" pitchFamily="-112" charset="0"/>
          <a:ea typeface="ＭＳ Ｐゴシック" pitchFamily="-112" charset="-128"/>
          <a:cs typeface="ＭＳ Ｐゴシック" pitchFamily="-112" charset="-128"/>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hyperlink" Target="http://ccl.northwestern.edu/netlogo/models/community/sheep-selec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10"/>
          </p:nvPr>
        </p:nvSpPr>
        <p:spPr>
          <a:noFill/>
        </p:spPr>
        <p:txBody>
          <a:bodyPr/>
          <a:lstStyle/>
          <a:p>
            <a:fld id="{9546AF7D-458C-D040-B6F5-E188195521CB}" type="slidenum">
              <a:rPr lang="en-US" smtClean="0"/>
              <a:pPr/>
              <a:t>1</a:t>
            </a:fld>
            <a:endParaRPr lang="en-US"/>
          </a:p>
        </p:txBody>
      </p:sp>
      <p:sp>
        <p:nvSpPr>
          <p:cNvPr id="16387" name="Rectangle 2"/>
          <p:cNvSpPr>
            <a:spLocks noGrp="1" noChangeArrowheads="1"/>
          </p:cNvSpPr>
          <p:nvPr>
            <p:ph type="ctrTitle"/>
          </p:nvPr>
        </p:nvSpPr>
        <p:spPr>
          <a:xfrm>
            <a:off x="685800" y="2286000"/>
            <a:ext cx="7772400" cy="1143000"/>
          </a:xfrm>
        </p:spPr>
        <p:txBody>
          <a:bodyPr/>
          <a:lstStyle/>
          <a:p>
            <a:pPr eaLnBrk="1" hangingPunct="1"/>
            <a:r>
              <a:rPr lang="en-US" dirty="0"/>
              <a:t>Agent-based Modeling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Basics</a:t>
            </a:r>
          </a:p>
        </p:txBody>
      </p:sp>
      <p:sp>
        <p:nvSpPr>
          <p:cNvPr id="14339" name="Rectangle 3"/>
          <p:cNvSpPr>
            <a:spLocks noGrp="1" noChangeArrowheads="1"/>
          </p:cNvSpPr>
          <p:nvPr>
            <p:ph type="body" idx="1"/>
          </p:nvPr>
        </p:nvSpPr>
        <p:spPr/>
        <p:txBody>
          <a:bodyPr>
            <a:normAutofit fontScale="92500"/>
          </a:bodyPr>
          <a:lstStyle/>
          <a:p>
            <a:r>
              <a:rPr lang="en-US" i="1" dirty="0"/>
              <a:t>Individual-based models or agent-based models</a:t>
            </a:r>
            <a:r>
              <a:rPr lang="en-US" dirty="0"/>
              <a:t> are stochastic simulations based on the global consequences of local interactions of members of a population. </a:t>
            </a:r>
          </a:p>
          <a:p>
            <a:r>
              <a:rPr lang="en-US" dirty="0"/>
              <a:t>These </a:t>
            </a:r>
            <a:r>
              <a:rPr lang="en-US" i="1" dirty="0"/>
              <a:t>individuals</a:t>
            </a:r>
            <a:r>
              <a:rPr lang="en-US" dirty="0"/>
              <a:t> might represent plants and animals in ecosystems, vehicles in traffic, people in crowds, or autonomous characters in animation and games.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Basics (continued)</a:t>
            </a:r>
          </a:p>
        </p:txBody>
      </p:sp>
      <p:sp>
        <p:nvSpPr>
          <p:cNvPr id="15363" name="Rectangle 3"/>
          <p:cNvSpPr>
            <a:spLocks noGrp="1" noChangeArrowheads="1"/>
          </p:cNvSpPr>
          <p:nvPr>
            <p:ph type="body" idx="1"/>
          </p:nvPr>
        </p:nvSpPr>
        <p:spPr/>
        <p:txBody>
          <a:bodyPr/>
          <a:lstStyle/>
          <a:p>
            <a:r>
              <a:rPr lang="en-US"/>
              <a:t>These models typically consist of </a:t>
            </a:r>
          </a:p>
          <a:p>
            <a:pPr lvl="1"/>
            <a:r>
              <a:rPr lang="en-US"/>
              <a:t>An </a:t>
            </a:r>
            <a:r>
              <a:rPr lang="en-US" i="1"/>
              <a:t>environment</a:t>
            </a:r>
            <a:r>
              <a:rPr lang="en-US"/>
              <a:t> or </a:t>
            </a:r>
            <a:r>
              <a:rPr lang="en-US" i="1"/>
              <a:t>framework</a:t>
            </a:r>
            <a:r>
              <a:rPr lang="en-US"/>
              <a:t> in which the interactions occur</a:t>
            </a:r>
          </a:p>
          <a:p>
            <a:pPr lvl="1"/>
            <a:r>
              <a:rPr lang="en-US"/>
              <a:t>some number of </a:t>
            </a:r>
            <a:r>
              <a:rPr lang="en-US" i="1"/>
              <a:t>individuals</a:t>
            </a:r>
            <a:r>
              <a:rPr lang="en-US"/>
              <a:t> defined by</a:t>
            </a:r>
          </a:p>
          <a:p>
            <a:pPr lvl="2"/>
            <a:r>
              <a:rPr lang="en-US"/>
              <a:t>their </a:t>
            </a:r>
            <a:r>
              <a:rPr lang="en-US" i="1"/>
              <a:t>behaviors</a:t>
            </a:r>
            <a:r>
              <a:rPr lang="en-US"/>
              <a:t> (procedural rules)</a:t>
            </a:r>
          </a:p>
          <a:p>
            <a:pPr lvl="2"/>
            <a:r>
              <a:rPr lang="en-US" i="1"/>
              <a:t>characteristic parameters</a:t>
            </a:r>
            <a:r>
              <a:rPr lang="en-US"/>
              <a:t>.</a:t>
            </a:r>
          </a:p>
          <a:p>
            <a:r>
              <a:rPr lang="en-US"/>
              <a:t>The </a:t>
            </a:r>
            <a:r>
              <a:rPr lang="en-US" i="1"/>
              <a:t>characteristics </a:t>
            </a:r>
            <a:r>
              <a:rPr lang="en-US"/>
              <a:t>of each </a:t>
            </a:r>
            <a:r>
              <a:rPr lang="en-US" i="1"/>
              <a:t>individual</a:t>
            </a:r>
            <a:r>
              <a:rPr lang="en-US"/>
              <a:t> are tracked through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Other terms</a:t>
            </a:r>
          </a:p>
        </p:txBody>
      </p:sp>
      <p:sp>
        <p:nvSpPr>
          <p:cNvPr id="16387" name="Rectangle 3"/>
          <p:cNvSpPr>
            <a:spLocks noGrp="1" noChangeArrowheads="1"/>
          </p:cNvSpPr>
          <p:nvPr>
            <p:ph type="body" idx="1"/>
          </p:nvPr>
        </p:nvSpPr>
        <p:spPr/>
        <p:txBody>
          <a:bodyPr/>
          <a:lstStyle/>
          <a:p>
            <a:r>
              <a:rPr lang="en-US"/>
              <a:t>Agent-based models</a:t>
            </a:r>
          </a:p>
          <a:p>
            <a:r>
              <a:rPr lang="en-US"/>
              <a:t>Entity-based models</a:t>
            </a:r>
          </a:p>
          <a:p>
            <a:r>
              <a:rPr lang="en-US"/>
              <a:t>Individual/Entity/Agent-based simulations</a:t>
            </a:r>
          </a:p>
          <a:p>
            <a:r>
              <a:rPr lang="en-US"/>
              <a:t>Cellular automata</a:t>
            </a:r>
          </a:p>
          <a:p>
            <a:pPr lvl="1"/>
            <a:r>
              <a:rPr lang="en-US"/>
              <a:t>Differ in that all CA are homogeneous and dense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ABMs</a:t>
            </a:r>
          </a:p>
        </p:txBody>
      </p:sp>
      <p:sp>
        <p:nvSpPr>
          <p:cNvPr id="3" name="Content Placeholder 2"/>
          <p:cNvSpPr>
            <a:spLocks noGrp="1"/>
          </p:cNvSpPr>
          <p:nvPr>
            <p:ph idx="1"/>
          </p:nvPr>
        </p:nvSpPr>
        <p:spPr/>
        <p:txBody>
          <a:bodyPr>
            <a:normAutofit fontScale="85000" lnSpcReduction="10000"/>
          </a:bodyPr>
          <a:lstStyle/>
          <a:p>
            <a:r>
              <a:rPr lang="en-US" dirty="0"/>
              <a:t>The idea evolved in the 1940s, but was not realized as a computational approach until the 1970s/1980s.</a:t>
            </a:r>
          </a:p>
          <a:p>
            <a:pPr lvl="1"/>
            <a:r>
              <a:rPr lang="en-US" dirty="0"/>
              <a:t>von Neumann’s machine–an ideal cloning device– worked at Los Alamos National lab on self‐replicating systems</a:t>
            </a:r>
          </a:p>
          <a:p>
            <a:pPr lvl="1"/>
            <a:r>
              <a:rPr lang="en-US" dirty="0" err="1"/>
              <a:t>Stanislav</a:t>
            </a:r>
            <a:r>
              <a:rPr lang="en-US" dirty="0"/>
              <a:t> </a:t>
            </a:r>
            <a:r>
              <a:rPr lang="en-US" dirty="0" err="1"/>
              <a:t>Ulam</a:t>
            </a:r>
            <a:r>
              <a:rPr lang="en-US" dirty="0"/>
              <a:t>, also at Los Alamos, studying crystal growth, suggested a lattice model approach</a:t>
            </a:r>
          </a:p>
          <a:p>
            <a:pPr lvl="1"/>
            <a:r>
              <a:rPr lang="en-US" dirty="0"/>
              <a:t>Cells on a grid with simple rules gave rise to </a:t>
            </a:r>
            <a:r>
              <a:rPr lang="en-US" dirty="0" err="1"/>
              <a:t>CAs</a:t>
            </a:r>
            <a:endParaRPr lang="en-US" dirty="0"/>
          </a:p>
          <a:p>
            <a:pPr lvl="2"/>
            <a:r>
              <a:rPr lang="en-US" dirty="0"/>
              <a:t>Originally ‘by hand’ – like the game Go</a:t>
            </a:r>
          </a:p>
        </p:txBody>
      </p:sp>
      <p:sp>
        <p:nvSpPr>
          <p:cNvPr id="4" name="Slide Number Placeholder 3"/>
          <p:cNvSpPr>
            <a:spLocks noGrp="1"/>
          </p:cNvSpPr>
          <p:nvPr>
            <p:ph type="sldNum" sz="quarter" idx="10"/>
          </p:nvPr>
        </p:nvSpPr>
        <p:spPr/>
        <p:txBody>
          <a:bodyPr/>
          <a:lstStyle/>
          <a:p>
            <a:fld id="{8521DD02-63C5-0743-BA6B-5D26F5D42235}"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ABMs</a:t>
            </a:r>
          </a:p>
        </p:txBody>
      </p:sp>
      <p:sp>
        <p:nvSpPr>
          <p:cNvPr id="3" name="Content Placeholder 2"/>
          <p:cNvSpPr>
            <a:spLocks noGrp="1"/>
          </p:cNvSpPr>
          <p:nvPr>
            <p:ph idx="1"/>
          </p:nvPr>
        </p:nvSpPr>
        <p:spPr/>
        <p:txBody>
          <a:bodyPr>
            <a:normAutofit fontScale="77500" lnSpcReduction="20000"/>
          </a:bodyPr>
          <a:lstStyle/>
          <a:p>
            <a:r>
              <a:rPr lang="en-US" dirty="0"/>
              <a:t>1970 ‐ John Conway, British mathematician interested in von Neumann’s work</a:t>
            </a:r>
          </a:p>
          <a:p>
            <a:r>
              <a:rPr lang="en-US" dirty="0"/>
              <a:t>Game of Life</a:t>
            </a:r>
          </a:p>
          <a:p>
            <a:r>
              <a:rPr lang="en-US" dirty="0"/>
              <a:t>Cellular Automata ‐ 2‐dimensional, ‘game’ on a grid</a:t>
            </a:r>
          </a:p>
          <a:p>
            <a:r>
              <a:rPr lang="en-US" dirty="0"/>
              <a:t>Simple Rules:</a:t>
            </a:r>
          </a:p>
          <a:p>
            <a:pPr lvl="1"/>
            <a:r>
              <a:rPr lang="en-US" dirty="0"/>
              <a:t>If a black cell has 2 or 3 black neighbors, it stays black.</a:t>
            </a:r>
          </a:p>
          <a:p>
            <a:pPr lvl="1"/>
            <a:r>
              <a:rPr lang="en-US" dirty="0"/>
              <a:t>If a black cell has less than 2 or more than 3 black neighbors it becomes white.</a:t>
            </a:r>
          </a:p>
          <a:p>
            <a:pPr lvl="1"/>
            <a:r>
              <a:rPr lang="en-US" dirty="0"/>
              <a:t>If a white cell has 3 black neighbors, it becomes black.</a:t>
            </a:r>
          </a:p>
        </p:txBody>
      </p:sp>
      <p:sp>
        <p:nvSpPr>
          <p:cNvPr id="4" name="Slide Number Placeholder 3"/>
          <p:cNvSpPr>
            <a:spLocks noGrp="1"/>
          </p:cNvSpPr>
          <p:nvPr>
            <p:ph type="sldNum" sz="quarter" idx="10"/>
          </p:nvPr>
        </p:nvSpPr>
        <p:spPr/>
        <p:txBody>
          <a:bodyPr/>
          <a:lstStyle/>
          <a:p>
            <a:fld id="{8521DD02-63C5-0743-BA6B-5D26F5D42235}"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ABMs</a:t>
            </a:r>
          </a:p>
        </p:txBody>
      </p:sp>
      <p:sp>
        <p:nvSpPr>
          <p:cNvPr id="3" name="Content Placeholder 2"/>
          <p:cNvSpPr>
            <a:spLocks noGrp="1"/>
          </p:cNvSpPr>
          <p:nvPr>
            <p:ph idx="1"/>
          </p:nvPr>
        </p:nvSpPr>
        <p:spPr/>
        <p:txBody>
          <a:bodyPr>
            <a:normAutofit fontScale="92500" lnSpcReduction="20000"/>
          </a:bodyPr>
          <a:lstStyle/>
          <a:p>
            <a:r>
              <a:rPr lang="en-US" dirty="0"/>
              <a:t>Game of Life</a:t>
            </a:r>
          </a:p>
          <a:p>
            <a:r>
              <a:rPr lang="en-US" dirty="0"/>
              <a:t>This is expressed as “Life” as follows:</a:t>
            </a:r>
          </a:p>
          <a:p>
            <a:pPr lvl="1"/>
            <a:r>
              <a:rPr lang="en-US" dirty="0"/>
              <a:t>Any live cell with fewer than two live neighbors dies, as if caused by under‐population.</a:t>
            </a:r>
          </a:p>
          <a:p>
            <a:pPr lvl="1"/>
            <a:r>
              <a:rPr lang="en-US" dirty="0"/>
              <a:t>Any live cell with two or three live neighbors lives on to the next generation.</a:t>
            </a:r>
          </a:p>
          <a:p>
            <a:pPr lvl="1"/>
            <a:r>
              <a:rPr lang="en-US" dirty="0"/>
              <a:t>Any live cell with more than three live neighbors dies, as if by overcrowding.</a:t>
            </a:r>
          </a:p>
          <a:p>
            <a:pPr lvl="1"/>
            <a:r>
              <a:rPr lang="en-US" dirty="0"/>
              <a:t>Any dead cell with exactly three live neighbors becomes a live cell, as if by reproduction.</a:t>
            </a:r>
          </a:p>
        </p:txBody>
      </p:sp>
      <p:sp>
        <p:nvSpPr>
          <p:cNvPr id="4" name="Slide Number Placeholder 3"/>
          <p:cNvSpPr>
            <a:spLocks noGrp="1"/>
          </p:cNvSpPr>
          <p:nvPr>
            <p:ph type="sldNum" sz="quarter" idx="10"/>
          </p:nvPr>
        </p:nvSpPr>
        <p:spPr/>
        <p:txBody>
          <a:bodyPr/>
          <a:lstStyle/>
          <a:p>
            <a:fld id="{8521DD02-63C5-0743-BA6B-5D26F5D42235}"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ABMs</a:t>
            </a:r>
          </a:p>
        </p:txBody>
      </p:sp>
      <p:sp>
        <p:nvSpPr>
          <p:cNvPr id="3" name="Content Placeholder 2"/>
          <p:cNvSpPr>
            <a:spLocks noGrp="1"/>
          </p:cNvSpPr>
          <p:nvPr>
            <p:ph idx="1"/>
          </p:nvPr>
        </p:nvSpPr>
        <p:spPr/>
        <p:txBody>
          <a:bodyPr>
            <a:normAutofit fontScale="92500" lnSpcReduction="10000"/>
          </a:bodyPr>
          <a:lstStyle/>
          <a:p>
            <a:r>
              <a:rPr lang="en-US" dirty="0"/>
              <a:t>Social Sciences–1960/70s</a:t>
            </a:r>
          </a:p>
          <a:p>
            <a:pPr lvl="1"/>
            <a:r>
              <a:rPr lang="en-US" dirty="0"/>
              <a:t>Thomas Schelling, economist, studied segregation and racial preferences.</a:t>
            </a:r>
          </a:p>
          <a:p>
            <a:pPr lvl="1"/>
            <a:r>
              <a:rPr lang="en-US" dirty="0"/>
              <a:t>America’s cities tend to be segregated, but people don’t necessarily express outright racism</a:t>
            </a:r>
          </a:p>
          <a:p>
            <a:pPr lvl="1"/>
            <a:r>
              <a:rPr lang="en-US" dirty="0"/>
              <a:t>Housing discrimination has been outlawed since 1964</a:t>
            </a:r>
          </a:p>
          <a:p>
            <a:pPr lvl="1"/>
            <a:r>
              <a:rPr lang="en-US" dirty="0"/>
              <a:t>Racial prejudice has declined since 1950</a:t>
            </a:r>
          </a:p>
          <a:p>
            <a:pPr lvl="1"/>
            <a:r>
              <a:rPr lang="en-US" dirty="0"/>
              <a:t>What is going on?</a:t>
            </a:r>
          </a:p>
        </p:txBody>
      </p:sp>
      <p:sp>
        <p:nvSpPr>
          <p:cNvPr id="4" name="Slide Number Placeholder 3"/>
          <p:cNvSpPr>
            <a:spLocks noGrp="1"/>
          </p:cNvSpPr>
          <p:nvPr>
            <p:ph type="sldNum" sz="quarter" idx="10"/>
          </p:nvPr>
        </p:nvSpPr>
        <p:spPr/>
        <p:txBody>
          <a:bodyPr/>
          <a:lstStyle/>
          <a:p>
            <a:fld id="{8521DD02-63C5-0743-BA6B-5D26F5D42235}"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Schelling’s Tipping Model</a:t>
            </a:r>
          </a:p>
        </p:txBody>
      </p:sp>
      <p:sp>
        <p:nvSpPr>
          <p:cNvPr id="3" name="Content Placeholder 2"/>
          <p:cNvSpPr>
            <a:spLocks noGrp="1"/>
          </p:cNvSpPr>
          <p:nvPr>
            <p:ph idx="1"/>
          </p:nvPr>
        </p:nvSpPr>
        <p:spPr>
          <a:xfrm>
            <a:off x="685800" y="1981200"/>
            <a:ext cx="7772400" cy="4114800"/>
          </a:xfrm>
        </p:spPr>
        <p:txBody>
          <a:bodyPr>
            <a:normAutofit fontScale="77500" lnSpcReduction="20000"/>
          </a:bodyPr>
          <a:lstStyle/>
          <a:p>
            <a:r>
              <a:rPr lang="en-US" dirty="0"/>
              <a:t>Schelling’s Tipping Model (1978)</a:t>
            </a:r>
          </a:p>
          <a:p>
            <a:pPr lvl="1"/>
            <a:r>
              <a:rPr lang="en-US" dirty="0"/>
              <a:t>A small level of “preference” at a local scale gives rise to larger phenomena of segregation</a:t>
            </a:r>
          </a:p>
          <a:p>
            <a:pPr lvl="1"/>
            <a:r>
              <a:rPr lang="en-US" dirty="0"/>
              <a:t>Agents are ‘people’ on a grid, or houses in a neighborhood</a:t>
            </a:r>
          </a:p>
          <a:p>
            <a:pPr lvl="1"/>
            <a:r>
              <a:rPr lang="en-US" dirty="0"/>
              <a:t>Agents can have the properties of race, gender, religion, etc.</a:t>
            </a:r>
          </a:p>
          <a:p>
            <a:pPr lvl="1"/>
            <a:r>
              <a:rPr lang="en-US" dirty="0"/>
              <a:t>Agents evaluate “happiness”, based on neighboring squares, and ‘unhappy’ agents can switch places with each other until equilibrium occurs.</a:t>
            </a:r>
          </a:p>
          <a:p>
            <a:pPr lvl="1"/>
            <a:r>
              <a:rPr lang="en-US" dirty="0"/>
              <a:t>Simple rules for happiness – want 30% of neighbors in same race, gender or religion, e.g.</a:t>
            </a:r>
          </a:p>
        </p:txBody>
      </p:sp>
      <p:sp>
        <p:nvSpPr>
          <p:cNvPr id="4" name="Slide Number Placeholder 3"/>
          <p:cNvSpPr>
            <a:spLocks noGrp="1"/>
          </p:cNvSpPr>
          <p:nvPr>
            <p:ph type="sldNum" sz="quarter" idx="10"/>
          </p:nvPr>
        </p:nvSpPr>
        <p:spPr/>
        <p:txBody>
          <a:bodyPr/>
          <a:lstStyle/>
          <a:p>
            <a:fld id="{8521DD02-63C5-0743-BA6B-5D26F5D42235}"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Schelling’s Tipping Model</a:t>
            </a:r>
          </a:p>
        </p:txBody>
      </p:sp>
      <p:sp>
        <p:nvSpPr>
          <p:cNvPr id="3" name="Content Placeholder 2"/>
          <p:cNvSpPr>
            <a:spLocks noGrp="1"/>
          </p:cNvSpPr>
          <p:nvPr>
            <p:ph idx="1"/>
          </p:nvPr>
        </p:nvSpPr>
        <p:spPr>
          <a:xfrm>
            <a:off x="685800" y="1981200"/>
            <a:ext cx="7772400" cy="4114800"/>
          </a:xfrm>
        </p:spPr>
        <p:txBody>
          <a:bodyPr>
            <a:normAutofit/>
          </a:bodyPr>
          <a:lstStyle/>
          <a:p>
            <a:r>
              <a:rPr lang="en-US" dirty="0"/>
              <a:t>Schelling’s neighborhood model</a:t>
            </a:r>
          </a:p>
          <a:p>
            <a:pPr lvl="1"/>
            <a:r>
              <a:rPr lang="en-US" dirty="0" err="1"/>
              <a:t>Netlogo</a:t>
            </a:r>
            <a:r>
              <a:rPr lang="en-US" dirty="0"/>
              <a:t> – go to file: models library</a:t>
            </a:r>
          </a:p>
          <a:p>
            <a:pPr lvl="1"/>
            <a:r>
              <a:rPr lang="en-US" dirty="0"/>
              <a:t>Social Science and then “Segregation” model</a:t>
            </a:r>
          </a:p>
          <a:p>
            <a:pPr lvl="1"/>
            <a:r>
              <a:rPr lang="en-US" dirty="0"/>
              <a:t>Tweak the % similar wanted to demonstrate the neighborhood segregation emergent properties</a:t>
            </a:r>
          </a:p>
        </p:txBody>
      </p:sp>
      <p:sp>
        <p:nvSpPr>
          <p:cNvPr id="4" name="Slide Number Placeholder 3"/>
          <p:cNvSpPr>
            <a:spLocks noGrp="1"/>
          </p:cNvSpPr>
          <p:nvPr>
            <p:ph type="sldNum" sz="quarter" idx="10"/>
          </p:nvPr>
        </p:nvSpPr>
        <p:spPr/>
        <p:txBody>
          <a:bodyPr/>
          <a:lstStyle/>
          <a:p>
            <a:fld id="{8521DD02-63C5-0743-BA6B-5D26F5D42235}"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Schelling’s Tipping Model</a:t>
            </a:r>
          </a:p>
        </p:txBody>
      </p:sp>
      <p:sp>
        <p:nvSpPr>
          <p:cNvPr id="3" name="Content Placeholder 2"/>
          <p:cNvSpPr>
            <a:spLocks noGrp="1"/>
          </p:cNvSpPr>
          <p:nvPr>
            <p:ph idx="1"/>
          </p:nvPr>
        </p:nvSpPr>
        <p:spPr>
          <a:xfrm>
            <a:off x="685800" y="1981200"/>
            <a:ext cx="7772400" cy="4114800"/>
          </a:xfrm>
        </p:spPr>
        <p:txBody>
          <a:bodyPr>
            <a:normAutofit fontScale="92500" lnSpcReduction="10000"/>
          </a:bodyPr>
          <a:lstStyle/>
          <a:p>
            <a:r>
              <a:rPr lang="en-US" dirty="0"/>
              <a:t>Very low preferences lead to segregation</a:t>
            </a:r>
          </a:p>
          <a:p>
            <a:pPr lvl="1"/>
            <a:r>
              <a:rPr lang="en-US" dirty="0"/>
              <a:t>Has been used to inform planning and such practices as affirmative action</a:t>
            </a:r>
          </a:p>
          <a:p>
            <a:pPr lvl="1"/>
            <a:r>
              <a:rPr lang="en-US" dirty="0"/>
              <a:t>Tipping models are useful for predicting election outcomes, demonstrating political platform efficacy, etc.</a:t>
            </a:r>
          </a:p>
          <a:p>
            <a:r>
              <a:rPr lang="en-US" dirty="0"/>
              <a:t>Schelling was a co‐recipient of the 2005 Nobel Prize in Economics. Considered a “father” of ABM.</a:t>
            </a:r>
          </a:p>
        </p:txBody>
      </p:sp>
      <p:sp>
        <p:nvSpPr>
          <p:cNvPr id="4" name="Slide Number Placeholder 3"/>
          <p:cNvSpPr>
            <a:spLocks noGrp="1"/>
          </p:cNvSpPr>
          <p:nvPr>
            <p:ph type="sldNum" sz="quarter" idx="10"/>
          </p:nvPr>
        </p:nvSpPr>
        <p:spPr/>
        <p:txBody>
          <a:bodyPr/>
          <a:lstStyle/>
          <a:p>
            <a:fld id="{8521DD02-63C5-0743-BA6B-5D26F5D42235}"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ABMs ‐ </a:t>
            </a:r>
            <a:r>
              <a:rPr lang="en-US" dirty="0" err="1"/>
              <a:t>Boids</a:t>
            </a:r>
            <a:endParaRPr lang="en-US" dirty="0"/>
          </a:p>
        </p:txBody>
      </p:sp>
      <p:sp>
        <p:nvSpPr>
          <p:cNvPr id="3" name="Content Placeholder 2"/>
          <p:cNvSpPr>
            <a:spLocks noGrp="1"/>
          </p:cNvSpPr>
          <p:nvPr>
            <p:ph idx="1"/>
          </p:nvPr>
        </p:nvSpPr>
        <p:spPr/>
        <p:txBody>
          <a:bodyPr>
            <a:normAutofit fontScale="92500" lnSpcReduction="20000"/>
          </a:bodyPr>
          <a:lstStyle/>
          <a:p>
            <a:r>
              <a:rPr lang="en-US" dirty="0"/>
              <a:t>1987 Craig Reynolds published “Flocks, herds and schools: A distributed behavioral model,”</a:t>
            </a:r>
          </a:p>
          <a:p>
            <a:r>
              <a:rPr lang="en-US" dirty="0"/>
              <a:t>This is an agent‐based model of herd behavior. Agents in these kinds of models are called “</a:t>
            </a:r>
            <a:r>
              <a:rPr lang="en-US" dirty="0" err="1"/>
              <a:t>boids</a:t>
            </a:r>
            <a:r>
              <a:rPr lang="en-US" dirty="0"/>
              <a:t>,” which is both a contraction of “bird‐</a:t>
            </a:r>
            <a:r>
              <a:rPr lang="en-US" dirty="0" err="1"/>
              <a:t>oid</a:t>
            </a:r>
            <a:r>
              <a:rPr lang="en-US" dirty="0"/>
              <a:t>” and an accented pronunciation of “bird,” although </a:t>
            </a:r>
            <a:r>
              <a:rPr lang="en-US" dirty="0" err="1"/>
              <a:t>boids</a:t>
            </a:r>
            <a:r>
              <a:rPr lang="en-US" dirty="0"/>
              <a:t> are also used to model fish and herding land animals.</a:t>
            </a:r>
          </a:p>
        </p:txBody>
      </p:sp>
      <p:sp>
        <p:nvSpPr>
          <p:cNvPr id="4" name="Slide Number Placeholder 3"/>
          <p:cNvSpPr>
            <a:spLocks noGrp="1"/>
          </p:cNvSpPr>
          <p:nvPr>
            <p:ph type="sldNum" sz="quarter" idx="10"/>
          </p:nvPr>
        </p:nvSpPr>
        <p:spPr/>
        <p:txBody>
          <a:bodyPr/>
          <a:lstStyle/>
          <a:p>
            <a:fld id="{8521DD02-63C5-0743-BA6B-5D26F5D42235}"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ABMs ‐ </a:t>
            </a:r>
            <a:r>
              <a:rPr lang="en-US" dirty="0" err="1"/>
              <a:t>Boids</a:t>
            </a:r>
            <a:endParaRPr lang="en-US" dirty="0"/>
          </a:p>
        </p:txBody>
      </p:sp>
      <p:sp>
        <p:nvSpPr>
          <p:cNvPr id="3" name="Content Placeholder 2"/>
          <p:cNvSpPr>
            <a:spLocks noGrp="1"/>
          </p:cNvSpPr>
          <p:nvPr>
            <p:ph idx="1"/>
          </p:nvPr>
        </p:nvSpPr>
        <p:spPr/>
        <p:txBody>
          <a:bodyPr>
            <a:normAutofit fontScale="85000" lnSpcReduction="20000"/>
          </a:bodyPr>
          <a:lstStyle/>
          <a:p>
            <a:r>
              <a:rPr lang="en-US" dirty="0"/>
              <a:t>Each agent simulates three behaviors:</a:t>
            </a:r>
          </a:p>
          <a:p>
            <a:pPr lvl="1"/>
            <a:r>
              <a:rPr lang="en-US" dirty="0"/>
              <a:t>Collision avoidance:</a:t>
            </a:r>
          </a:p>
          <a:p>
            <a:pPr lvl="2"/>
            <a:r>
              <a:rPr lang="en-US" dirty="0"/>
              <a:t>avoid obstacles, including other birds.</a:t>
            </a:r>
          </a:p>
          <a:p>
            <a:pPr lvl="1"/>
            <a:r>
              <a:rPr lang="en-US" dirty="0"/>
              <a:t>Flock centering:</a:t>
            </a:r>
          </a:p>
          <a:p>
            <a:pPr lvl="2"/>
            <a:r>
              <a:rPr lang="en-US" dirty="0"/>
              <a:t>move toward the center of the flock.</a:t>
            </a:r>
          </a:p>
          <a:p>
            <a:pPr lvl="1"/>
            <a:r>
              <a:rPr lang="en-US" dirty="0"/>
              <a:t>Velocity matching:</a:t>
            </a:r>
          </a:p>
          <a:p>
            <a:pPr lvl="2"/>
            <a:r>
              <a:rPr lang="en-US" dirty="0"/>
              <a:t>align velocity with neighboring birds.</a:t>
            </a:r>
          </a:p>
          <a:p>
            <a:r>
              <a:rPr lang="en-US" dirty="0" err="1"/>
              <a:t>Boids</a:t>
            </a:r>
            <a:r>
              <a:rPr lang="en-US" dirty="0"/>
              <a:t> make decisions based on local information only; each </a:t>
            </a:r>
            <a:r>
              <a:rPr lang="en-US" dirty="0" err="1"/>
              <a:t>boid</a:t>
            </a:r>
            <a:r>
              <a:rPr lang="en-US" dirty="0"/>
              <a:t> only sees (or pays attention to) other </a:t>
            </a:r>
            <a:r>
              <a:rPr lang="en-US" dirty="0" err="1"/>
              <a:t>boids</a:t>
            </a:r>
            <a:r>
              <a:rPr lang="en-US" dirty="0"/>
              <a:t> in its field of vision and range.</a:t>
            </a:r>
          </a:p>
        </p:txBody>
      </p:sp>
      <p:sp>
        <p:nvSpPr>
          <p:cNvPr id="4" name="Slide Number Placeholder 3"/>
          <p:cNvSpPr>
            <a:spLocks noGrp="1"/>
          </p:cNvSpPr>
          <p:nvPr>
            <p:ph type="sldNum" sz="quarter" idx="10"/>
          </p:nvPr>
        </p:nvSpPr>
        <p:spPr/>
        <p:txBody>
          <a:bodyPr/>
          <a:lstStyle/>
          <a:p>
            <a:fld id="{8521DD02-63C5-0743-BA6B-5D26F5D42235}"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of ABMs ‐ </a:t>
            </a:r>
            <a:r>
              <a:rPr lang="en-US" dirty="0" err="1"/>
              <a:t>Boids</a:t>
            </a:r>
            <a:endParaRPr lang="en-US" dirty="0"/>
          </a:p>
        </p:txBody>
      </p:sp>
      <p:sp>
        <p:nvSpPr>
          <p:cNvPr id="3" name="Content Placeholder 2"/>
          <p:cNvSpPr>
            <a:spLocks noGrp="1"/>
          </p:cNvSpPr>
          <p:nvPr>
            <p:ph idx="1"/>
          </p:nvPr>
        </p:nvSpPr>
        <p:spPr/>
        <p:txBody>
          <a:bodyPr>
            <a:normAutofit/>
          </a:bodyPr>
          <a:lstStyle/>
          <a:p>
            <a:r>
              <a:rPr lang="en-US" dirty="0" err="1"/>
              <a:t>NetLogo</a:t>
            </a:r>
            <a:r>
              <a:rPr lang="en-US" dirty="0"/>
              <a:t> – “Flocking” model</a:t>
            </a:r>
          </a:p>
          <a:p>
            <a:r>
              <a:rPr lang="en-US" dirty="0"/>
              <a:t>Based on </a:t>
            </a:r>
            <a:r>
              <a:rPr lang="en-US" dirty="0" err="1"/>
              <a:t>Boids</a:t>
            </a:r>
            <a:endParaRPr lang="en-US" dirty="0"/>
          </a:p>
        </p:txBody>
      </p:sp>
      <p:sp>
        <p:nvSpPr>
          <p:cNvPr id="4" name="Slide Number Placeholder 3"/>
          <p:cNvSpPr>
            <a:spLocks noGrp="1"/>
          </p:cNvSpPr>
          <p:nvPr>
            <p:ph type="sldNum" sz="quarter" idx="10"/>
          </p:nvPr>
        </p:nvSpPr>
        <p:spPr/>
        <p:txBody>
          <a:bodyPr/>
          <a:lstStyle/>
          <a:p>
            <a:fld id="{8521DD02-63C5-0743-BA6B-5D26F5D42235}"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Nature of Individual Variation</a:t>
            </a:r>
          </a:p>
        </p:txBody>
      </p:sp>
      <p:sp>
        <p:nvSpPr>
          <p:cNvPr id="3" name="Content Placeholder 2"/>
          <p:cNvSpPr>
            <a:spLocks noGrp="1"/>
          </p:cNvSpPr>
          <p:nvPr>
            <p:ph idx="1"/>
          </p:nvPr>
        </p:nvSpPr>
        <p:spPr/>
        <p:txBody>
          <a:bodyPr/>
          <a:lstStyle/>
          <a:p>
            <a:r>
              <a:rPr lang="en-US" dirty="0"/>
              <a:t>Variability in space</a:t>
            </a:r>
          </a:p>
          <a:p>
            <a:r>
              <a:rPr lang="en-US" dirty="0"/>
              <a:t>Demographic variability or life cycle details</a:t>
            </a:r>
          </a:p>
          <a:p>
            <a:r>
              <a:rPr lang="en-US" dirty="0"/>
              <a:t>Phenotypic variation or behavior</a:t>
            </a:r>
          </a:p>
          <a:p>
            <a:r>
              <a:rPr lang="en-US" dirty="0"/>
              <a:t>Experience and learning</a:t>
            </a:r>
          </a:p>
          <a:p>
            <a:r>
              <a:rPr lang="en-US" dirty="0"/>
              <a:t>Genetics and evolution</a:t>
            </a:r>
          </a:p>
        </p:txBody>
      </p:sp>
      <p:sp>
        <p:nvSpPr>
          <p:cNvPr id="4" name="Slide Number Placeholder 3"/>
          <p:cNvSpPr>
            <a:spLocks noGrp="1"/>
          </p:cNvSpPr>
          <p:nvPr>
            <p:ph type="sldNum" sz="quarter" idx="10"/>
          </p:nvPr>
        </p:nvSpPr>
        <p:spPr/>
        <p:txBody>
          <a:bodyPr/>
          <a:lstStyle/>
          <a:p>
            <a:fld id="{8521DD02-63C5-0743-BA6B-5D26F5D42235}"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t>Classic Applications</a:t>
            </a:r>
          </a:p>
        </p:txBody>
      </p:sp>
      <p:sp>
        <p:nvSpPr>
          <p:cNvPr id="17411" name="Rectangle 3"/>
          <p:cNvSpPr>
            <a:spLocks noGrp="1" noChangeArrowheads="1"/>
          </p:cNvSpPr>
          <p:nvPr>
            <p:ph type="body" idx="1"/>
          </p:nvPr>
        </p:nvSpPr>
        <p:spPr/>
        <p:txBody>
          <a:bodyPr>
            <a:normAutofit fontScale="92500" lnSpcReduction="20000"/>
          </a:bodyPr>
          <a:lstStyle/>
          <a:p>
            <a:pPr>
              <a:lnSpc>
                <a:spcPct val="90000"/>
              </a:lnSpc>
            </a:pPr>
            <a:r>
              <a:rPr lang="en-US" dirty="0"/>
              <a:t>Ecology and Biology</a:t>
            </a:r>
          </a:p>
          <a:p>
            <a:pPr lvl="1">
              <a:lnSpc>
                <a:spcPct val="90000"/>
              </a:lnSpc>
            </a:pPr>
            <a:r>
              <a:rPr lang="en-US" dirty="0"/>
              <a:t>Panthers</a:t>
            </a:r>
          </a:p>
          <a:p>
            <a:pPr lvl="1">
              <a:lnSpc>
                <a:spcPct val="90000"/>
              </a:lnSpc>
            </a:pPr>
            <a:r>
              <a:rPr lang="en-US" dirty="0"/>
              <a:t>Fish</a:t>
            </a:r>
          </a:p>
          <a:p>
            <a:pPr lvl="1">
              <a:lnSpc>
                <a:spcPct val="90000"/>
              </a:lnSpc>
            </a:pPr>
            <a:r>
              <a:rPr lang="en-US" dirty="0"/>
              <a:t>Bees</a:t>
            </a:r>
          </a:p>
          <a:p>
            <a:pPr lvl="1">
              <a:lnSpc>
                <a:spcPct val="90000"/>
              </a:lnSpc>
            </a:pPr>
            <a:r>
              <a:rPr lang="en-US" dirty="0"/>
              <a:t>Trees</a:t>
            </a:r>
          </a:p>
          <a:p>
            <a:pPr>
              <a:lnSpc>
                <a:spcPct val="90000"/>
              </a:lnSpc>
            </a:pPr>
            <a:r>
              <a:rPr lang="en-US" dirty="0"/>
              <a:t>Humans</a:t>
            </a:r>
          </a:p>
          <a:p>
            <a:pPr>
              <a:lnSpc>
                <a:spcPct val="90000"/>
              </a:lnSpc>
            </a:pPr>
            <a:r>
              <a:rPr lang="en-US" dirty="0"/>
              <a:t>Traffic</a:t>
            </a:r>
          </a:p>
          <a:p>
            <a:pPr>
              <a:lnSpc>
                <a:spcPct val="90000"/>
              </a:lnSpc>
            </a:pPr>
            <a:r>
              <a:rPr lang="en-US" dirty="0"/>
              <a:t>Economics</a:t>
            </a:r>
          </a:p>
          <a:p>
            <a:pPr>
              <a:lnSpc>
                <a:spcPct val="90000"/>
              </a:lnSpc>
            </a:pPr>
            <a:r>
              <a:rPr lang="en-US" dirty="0"/>
              <a:t>Epidemiology</a:t>
            </a:r>
          </a:p>
          <a:p>
            <a:pPr>
              <a:lnSpc>
                <a:spcPct val="90000"/>
              </a:lnSpc>
            </a:pPr>
            <a:r>
              <a:rPr lang="en-US" dirty="0"/>
              <a:t>Commercial – </a:t>
            </a:r>
            <a:r>
              <a:rPr lang="en-US" dirty="0" err="1"/>
              <a:t>Roomba</a:t>
            </a:r>
            <a:r>
              <a:rPr lang="en-US"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Programming and Software</a:t>
            </a:r>
          </a:p>
        </p:txBody>
      </p:sp>
      <p:sp>
        <p:nvSpPr>
          <p:cNvPr id="18435" name="Rectangle 3"/>
          <p:cNvSpPr>
            <a:spLocks noGrp="1" noChangeArrowheads="1"/>
          </p:cNvSpPr>
          <p:nvPr>
            <p:ph type="body" idx="1"/>
          </p:nvPr>
        </p:nvSpPr>
        <p:spPr/>
        <p:txBody>
          <a:bodyPr/>
          <a:lstStyle/>
          <a:p>
            <a:r>
              <a:rPr lang="en-US" dirty="0"/>
              <a:t>Object-oriented languages – C++, java</a:t>
            </a:r>
          </a:p>
          <a:p>
            <a:r>
              <a:rPr lang="en-US" dirty="0"/>
              <a:t>SWARM</a:t>
            </a:r>
          </a:p>
          <a:p>
            <a:r>
              <a:rPr lang="en-US" dirty="0" err="1"/>
              <a:t>RePast</a:t>
            </a:r>
            <a:endParaRPr lang="en-US" dirty="0"/>
          </a:p>
          <a:p>
            <a:r>
              <a:rPr lang="en-US" dirty="0" err="1"/>
              <a:t>NetLogo</a:t>
            </a:r>
            <a:endParaRPr lang="en-US" dirty="0"/>
          </a:p>
          <a:p>
            <a:r>
              <a:rPr lang="en-US" dirty="0"/>
              <a:t>Lots of other specialized packages</a:t>
            </a:r>
          </a:p>
          <a:p>
            <a:r>
              <a:rPr lang="en-US" dirty="0"/>
              <a:t>Event-driven versus time-step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t>Processes addressed with IBMs</a:t>
            </a:r>
          </a:p>
        </p:txBody>
      </p:sp>
      <p:sp>
        <p:nvSpPr>
          <p:cNvPr id="28675" name="Rectangle 3"/>
          <p:cNvSpPr>
            <a:spLocks noGrp="1" noChangeArrowheads="1"/>
          </p:cNvSpPr>
          <p:nvPr>
            <p:ph type="body" idx="1"/>
          </p:nvPr>
        </p:nvSpPr>
        <p:spPr/>
        <p:txBody>
          <a:bodyPr/>
          <a:lstStyle/>
          <a:p>
            <a:r>
              <a:rPr lang="en-US"/>
              <a:t>Movement through space</a:t>
            </a:r>
          </a:p>
          <a:p>
            <a:r>
              <a:rPr lang="en-US"/>
              <a:t>Formation of patterns among individuals</a:t>
            </a:r>
          </a:p>
          <a:p>
            <a:r>
              <a:rPr lang="en-US"/>
              <a:t>Effects of diffusion and mixing</a:t>
            </a:r>
          </a:p>
          <a:p>
            <a:r>
              <a:rPr lang="en-US"/>
              <a:t>Management and control measures</a:t>
            </a:r>
          </a:p>
          <a:p>
            <a:r>
              <a:rPr lang="en-US"/>
              <a:t>Evolutionary processes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0"/>
          </p:nvPr>
        </p:nvSpPr>
        <p:spPr>
          <a:noFill/>
        </p:spPr>
        <p:txBody>
          <a:bodyPr/>
          <a:lstStyle/>
          <a:p>
            <a:fld id="{72E7A50E-889D-5A49-B67B-D943BBB7BF9D}" type="slidenum">
              <a:rPr lang="en-US" smtClean="0"/>
              <a:pPr/>
              <a:t>19</a:t>
            </a:fld>
            <a:endParaRPr lang="en-US"/>
          </a:p>
        </p:txBody>
      </p:sp>
      <p:sp>
        <p:nvSpPr>
          <p:cNvPr id="17411" name="Rectangle 2"/>
          <p:cNvSpPr>
            <a:spLocks noGrp="1" noChangeArrowheads="1"/>
          </p:cNvSpPr>
          <p:nvPr>
            <p:ph type="ctrTitle"/>
          </p:nvPr>
        </p:nvSpPr>
        <p:spPr>
          <a:xfrm>
            <a:off x="685800" y="1447800"/>
            <a:ext cx="7772400" cy="1905000"/>
          </a:xfrm>
        </p:spPr>
        <p:txBody>
          <a:bodyPr/>
          <a:lstStyle/>
          <a:p>
            <a:pPr eaLnBrk="1" hangingPunct="1"/>
            <a:r>
              <a:rPr lang="en-US" dirty="0"/>
              <a:t>Estimating tick-borne disease risk with an agent-based model</a:t>
            </a:r>
          </a:p>
        </p:txBody>
      </p:sp>
      <p:sp>
        <p:nvSpPr>
          <p:cNvPr id="17412" name="Rectangle 3"/>
          <p:cNvSpPr>
            <a:spLocks noGrp="1" noChangeArrowheads="1"/>
          </p:cNvSpPr>
          <p:nvPr>
            <p:ph type="subTitle" idx="1"/>
          </p:nvPr>
        </p:nvSpPr>
        <p:spPr/>
        <p:txBody>
          <a:bodyPr/>
          <a:lstStyle/>
          <a:p>
            <a:pPr eaLnBrk="1" hangingPunct="1"/>
            <a:r>
              <a:rPr lang="en-US"/>
              <a:t>Holly Gaff</a:t>
            </a:r>
          </a:p>
          <a:p>
            <a:pPr eaLnBrk="1" hangingPunct="1"/>
            <a:r>
              <a:rPr lang="en-US"/>
              <a:t>Old Dominion University</a:t>
            </a:r>
          </a:p>
          <a:p>
            <a:pPr eaLnBrk="1" hangingPunct="1"/>
            <a:r>
              <a:rPr lang="en-US"/>
              <a:t>Department of Biological Sciences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Tick-borne diseases</a:t>
            </a:r>
          </a:p>
        </p:txBody>
      </p:sp>
      <p:sp>
        <p:nvSpPr>
          <p:cNvPr id="19459" name="Content Placeholder 2"/>
          <p:cNvSpPr>
            <a:spLocks noGrp="1"/>
          </p:cNvSpPr>
          <p:nvPr>
            <p:ph idx="1"/>
          </p:nvPr>
        </p:nvSpPr>
        <p:spPr/>
        <p:txBody>
          <a:bodyPr/>
          <a:lstStyle/>
          <a:p>
            <a:r>
              <a:rPr lang="en-US"/>
              <a:t>Lyme disease</a:t>
            </a:r>
          </a:p>
          <a:p>
            <a:r>
              <a:rPr lang="en-US"/>
              <a:t>Spotted fever group</a:t>
            </a:r>
          </a:p>
          <a:p>
            <a:r>
              <a:rPr lang="en-US"/>
              <a:t>Ehrlichiosis</a:t>
            </a:r>
          </a:p>
          <a:p>
            <a:r>
              <a:rPr lang="en-US"/>
              <a:t>Anaplasmosis</a:t>
            </a:r>
          </a:p>
          <a:p>
            <a:r>
              <a:rPr lang="en-US"/>
              <a:t>Tick-borne encephalitis</a:t>
            </a:r>
          </a:p>
          <a:p>
            <a:pPr lvl="1"/>
            <a:endParaRPr lang="en-US"/>
          </a:p>
        </p:txBody>
      </p:sp>
      <p:sp>
        <p:nvSpPr>
          <p:cNvPr id="19460" name="Slide Number Placeholder 3"/>
          <p:cNvSpPr>
            <a:spLocks noGrp="1"/>
          </p:cNvSpPr>
          <p:nvPr>
            <p:ph type="sldNum" sz="quarter" idx="10"/>
          </p:nvPr>
        </p:nvSpPr>
        <p:spPr>
          <a:noFill/>
        </p:spPr>
        <p:txBody>
          <a:bodyPr/>
          <a:lstStyle/>
          <a:p>
            <a:fld id="{AA73EF4E-23BD-F747-AC92-7B82A01A79EE}"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Why study ticks?</a:t>
            </a:r>
          </a:p>
        </p:txBody>
      </p:sp>
      <p:sp>
        <p:nvSpPr>
          <p:cNvPr id="20483" name="Content Placeholder 2"/>
          <p:cNvSpPr>
            <a:spLocks noGrp="1"/>
          </p:cNvSpPr>
          <p:nvPr>
            <p:ph idx="1"/>
          </p:nvPr>
        </p:nvSpPr>
        <p:spPr/>
        <p:txBody>
          <a:bodyPr/>
          <a:lstStyle/>
          <a:p>
            <a:r>
              <a:rPr lang="en-US"/>
              <a:t>Increase in incidence of tick-borne diseases</a:t>
            </a:r>
          </a:p>
          <a:p>
            <a:r>
              <a:rPr lang="en-US"/>
              <a:t>Increase in areas reporting tick-borne diseases</a:t>
            </a:r>
          </a:p>
          <a:p>
            <a:r>
              <a:rPr lang="en-US"/>
              <a:t>Seemingly unpredictable outbreaks</a:t>
            </a:r>
          </a:p>
          <a:p>
            <a:r>
              <a:rPr lang="en-US"/>
              <a:t>Climate change will only amplify vector-borne disease prevalence</a:t>
            </a:r>
          </a:p>
        </p:txBody>
      </p:sp>
      <p:sp>
        <p:nvSpPr>
          <p:cNvPr id="20484" name="Slide Number Placeholder 3"/>
          <p:cNvSpPr>
            <a:spLocks noGrp="1"/>
          </p:cNvSpPr>
          <p:nvPr>
            <p:ph type="sldNum" sz="quarter" idx="10"/>
          </p:nvPr>
        </p:nvSpPr>
        <p:spPr>
          <a:noFill/>
        </p:spPr>
        <p:txBody>
          <a:bodyPr/>
          <a:lstStyle/>
          <a:p>
            <a:fld id="{D4E1E0C5-87CE-6845-BC50-CACE1277D45F}"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What makes ticks so unique?</a:t>
            </a:r>
          </a:p>
        </p:txBody>
      </p:sp>
      <p:sp>
        <p:nvSpPr>
          <p:cNvPr id="21507" name="Content Placeholder 2"/>
          <p:cNvSpPr>
            <a:spLocks noGrp="1"/>
          </p:cNvSpPr>
          <p:nvPr>
            <p:ph idx="1"/>
          </p:nvPr>
        </p:nvSpPr>
        <p:spPr/>
        <p:txBody>
          <a:bodyPr/>
          <a:lstStyle/>
          <a:p>
            <a:r>
              <a:rPr lang="en-US"/>
              <a:t>Punctuated life history</a:t>
            </a:r>
          </a:p>
          <a:p>
            <a:pPr lvl="1"/>
            <a:r>
              <a:rPr lang="en-US"/>
              <a:t>Egg, larvae, nymph, adult</a:t>
            </a:r>
          </a:p>
          <a:p>
            <a:pPr lvl="1"/>
            <a:r>
              <a:rPr lang="en-US"/>
              <a:t>Only one bloodmeal per life stage</a:t>
            </a:r>
          </a:p>
          <a:p>
            <a:r>
              <a:rPr lang="en-US"/>
              <a:t>Can survive off host for months to years of time between meals</a:t>
            </a:r>
          </a:p>
          <a:p>
            <a:r>
              <a:rPr lang="en-US"/>
              <a:t>Many species have different preferred hosts for each life stage</a:t>
            </a:r>
          </a:p>
        </p:txBody>
      </p:sp>
      <p:sp>
        <p:nvSpPr>
          <p:cNvPr id="21508" name="Slide Number Placeholder 3"/>
          <p:cNvSpPr>
            <a:spLocks noGrp="1"/>
          </p:cNvSpPr>
          <p:nvPr>
            <p:ph type="sldNum" sz="quarter" idx="10"/>
          </p:nvPr>
        </p:nvSpPr>
        <p:spPr>
          <a:noFill/>
        </p:spPr>
        <p:txBody>
          <a:bodyPr/>
          <a:lstStyle/>
          <a:p>
            <a:fld id="{5990FE97-7889-5F4A-A6FF-8A597BA37273}"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t>Lone Star Tick</a:t>
            </a:r>
          </a:p>
        </p:txBody>
      </p:sp>
      <p:sp>
        <p:nvSpPr>
          <p:cNvPr id="22531" name="Slide Number Placeholder 2"/>
          <p:cNvSpPr>
            <a:spLocks noGrp="1"/>
          </p:cNvSpPr>
          <p:nvPr>
            <p:ph type="sldNum" sz="quarter" idx="10"/>
          </p:nvPr>
        </p:nvSpPr>
        <p:spPr>
          <a:noFill/>
        </p:spPr>
        <p:txBody>
          <a:bodyPr/>
          <a:lstStyle/>
          <a:p>
            <a:fld id="{306CE20E-7C37-FE44-8DCB-BFCFE5BDA223}" type="slidenum">
              <a:rPr lang="en-US" smtClean="0"/>
              <a:pPr/>
              <a:t>23</a:t>
            </a:fld>
            <a:endParaRPr lang="en-US"/>
          </a:p>
        </p:txBody>
      </p:sp>
      <p:pic>
        <p:nvPicPr>
          <p:cNvPr id="22532" name="Picture 3" descr="C:\Documents and Settings\hgaff\My Documents\talks\lonestar.gif"/>
          <p:cNvPicPr>
            <a:picLocks noChangeAspect="1" noChangeArrowheads="1"/>
          </p:cNvPicPr>
          <p:nvPr/>
        </p:nvPicPr>
        <p:blipFill>
          <a:blip r:embed="rId2"/>
          <a:srcRect/>
          <a:stretch>
            <a:fillRect/>
          </a:stretch>
        </p:blipFill>
        <p:spPr bwMode="auto">
          <a:xfrm>
            <a:off x="838200" y="1600200"/>
            <a:ext cx="3535363" cy="3257550"/>
          </a:xfrm>
          <a:prstGeom prst="rect">
            <a:avLst/>
          </a:prstGeom>
          <a:noFill/>
          <a:ln w="9525">
            <a:noFill/>
            <a:miter lim="800000"/>
            <a:headEnd/>
            <a:tailEnd/>
          </a:ln>
        </p:spPr>
      </p:pic>
      <p:pic>
        <p:nvPicPr>
          <p:cNvPr id="22533" name="Picture 4" descr="C:\Documents and Settings\hgaff\My Documents\talks\A-amer-larva.gif"/>
          <p:cNvPicPr>
            <a:picLocks noChangeAspect="1" noChangeArrowheads="1"/>
          </p:cNvPicPr>
          <p:nvPr/>
        </p:nvPicPr>
        <p:blipFill>
          <a:blip r:embed="rId3"/>
          <a:srcRect/>
          <a:stretch>
            <a:fillRect/>
          </a:stretch>
        </p:blipFill>
        <p:spPr bwMode="auto">
          <a:xfrm>
            <a:off x="4495800" y="1676400"/>
            <a:ext cx="3246438" cy="4435475"/>
          </a:xfrm>
          <a:prstGeom prst="rect">
            <a:avLst/>
          </a:prstGeom>
          <a:noFill/>
          <a:ln w="9525">
            <a:noFill/>
            <a:miter lim="800000"/>
            <a:headEnd/>
            <a:tailEnd/>
          </a:ln>
        </p:spPr>
      </p:pic>
      <p:sp>
        <p:nvSpPr>
          <p:cNvPr id="22534" name="TextBox 5"/>
          <p:cNvSpPr txBox="1">
            <a:spLocks noChangeArrowheads="1"/>
          </p:cNvSpPr>
          <p:nvPr/>
        </p:nvSpPr>
        <p:spPr bwMode="auto">
          <a:xfrm>
            <a:off x="914400" y="5334000"/>
            <a:ext cx="3124200" cy="461963"/>
          </a:xfrm>
          <a:prstGeom prst="rect">
            <a:avLst/>
          </a:prstGeom>
          <a:noFill/>
          <a:ln w="9525">
            <a:noFill/>
            <a:miter lim="800000"/>
            <a:headEnd/>
            <a:tailEnd/>
          </a:ln>
        </p:spPr>
        <p:txBody>
          <a:bodyPr>
            <a:prstTxWarp prst="textNoShape">
              <a:avLst/>
            </a:prstTxWarp>
            <a:spAutoFit/>
          </a:bodyPr>
          <a:lstStyle/>
          <a:p>
            <a:r>
              <a:rPr lang="en-US"/>
              <a:t>©1999 John VanDyk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t>Lone Star Tick Range</a:t>
            </a:r>
          </a:p>
        </p:txBody>
      </p:sp>
      <p:pic>
        <p:nvPicPr>
          <p:cNvPr id="23555" name="Content Placeholder 5" descr="lg_Lone_star.jpg"/>
          <p:cNvPicPr>
            <a:picLocks noGrp="1" noChangeAspect="1"/>
          </p:cNvPicPr>
          <p:nvPr>
            <p:ph idx="1"/>
          </p:nvPr>
        </p:nvPicPr>
        <p:blipFill>
          <a:blip r:embed="rId2"/>
          <a:srcRect l="-12521" r="-12521"/>
          <a:stretch>
            <a:fillRect/>
          </a:stretch>
        </p:blipFill>
        <p:spPr/>
      </p:pic>
      <p:sp>
        <p:nvSpPr>
          <p:cNvPr id="23556" name="Slide Number Placeholder 2"/>
          <p:cNvSpPr>
            <a:spLocks noGrp="1"/>
          </p:cNvSpPr>
          <p:nvPr>
            <p:ph type="sldNum" sz="quarter" idx="10"/>
          </p:nvPr>
        </p:nvSpPr>
        <p:spPr>
          <a:noFill/>
        </p:spPr>
        <p:txBody>
          <a:bodyPr/>
          <a:lstStyle/>
          <a:p>
            <a:fld id="{C875B32E-C8DF-F84B-91DB-753A36BFB115}" type="slidenum">
              <a:rPr lang="en-US" smtClean="0"/>
              <a:pPr/>
              <a:t>24</a:t>
            </a:fld>
            <a:endParaRPr lang="en-US"/>
          </a:p>
        </p:txBody>
      </p:sp>
      <p:sp>
        <p:nvSpPr>
          <p:cNvPr id="23557" name="TextBox 4"/>
          <p:cNvSpPr txBox="1">
            <a:spLocks noChangeArrowheads="1"/>
          </p:cNvSpPr>
          <p:nvPr/>
        </p:nvSpPr>
        <p:spPr bwMode="auto">
          <a:xfrm>
            <a:off x="6096000" y="6172200"/>
            <a:ext cx="1676400" cy="338138"/>
          </a:xfrm>
          <a:prstGeom prst="rect">
            <a:avLst/>
          </a:prstGeom>
          <a:noFill/>
          <a:ln w="9525">
            <a:noFill/>
            <a:miter lim="800000"/>
            <a:headEnd/>
            <a:tailEnd/>
          </a:ln>
        </p:spPr>
        <p:txBody>
          <a:bodyPr>
            <a:prstTxWarp prst="textNoShape">
              <a:avLst/>
            </a:prstTxWarp>
            <a:spAutoFit/>
          </a:bodyPr>
          <a:lstStyle/>
          <a:p>
            <a:r>
              <a:rPr lang="en-US" sz="1600"/>
              <a:t>©2009 CDC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ticks on the move</a:t>
            </a:r>
          </a:p>
        </p:txBody>
      </p:sp>
      <p:pic>
        <p:nvPicPr>
          <p:cNvPr id="8" name="Content Placeholder 7" descr="ixodes_aff.png"/>
          <p:cNvPicPr>
            <a:picLocks noGrp="1" noChangeAspect="1"/>
          </p:cNvPicPr>
          <p:nvPr>
            <p:ph sz="half" idx="2"/>
          </p:nvPr>
        </p:nvPicPr>
        <p:blipFill>
          <a:blip r:embed="rId2"/>
          <a:srcRect t="-2005" b="-2005"/>
          <a:stretch>
            <a:fillRect/>
          </a:stretch>
        </p:blipFill>
        <p:spPr/>
      </p:pic>
      <p:sp>
        <p:nvSpPr>
          <p:cNvPr id="4" name="Slide Number Placeholder 3"/>
          <p:cNvSpPr>
            <a:spLocks noGrp="1"/>
          </p:cNvSpPr>
          <p:nvPr>
            <p:ph type="sldNum" sz="quarter" idx="10"/>
          </p:nvPr>
        </p:nvSpPr>
        <p:spPr/>
        <p:txBody>
          <a:bodyPr/>
          <a:lstStyle/>
          <a:p>
            <a:pPr>
              <a:defRPr/>
            </a:pPr>
            <a:fld id="{4CD9C8C6-16A2-AC41-A9D0-48B9AC4707E2}" type="slidenum">
              <a:rPr lang="en-US" smtClean="0"/>
              <a:pPr>
                <a:defRPr/>
              </a:pPr>
              <a:t>25</a:t>
            </a:fld>
            <a:endParaRPr lang="en-US"/>
          </a:p>
        </p:txBody>
      </p:sp>
      <p:sp>
        <p:nvSpPr>
          <p:cNvPr id="9" name="TextBox 8"/>
          <p:cNvSpPr txBox="1"/>
          <p:nvPr/>
        </p:nvSpPr>
        <p:spPr>
          <a:xfrm>
            <a:off x="4724400" y="6096000"/>
            <a:ext cx="3733800" cy="276999"/>
          </a:xfrm>
          <a:prstGeom prst="rect">
            <a:avLst/>
          </a:prstGeom>
          <a:noFill/>
        </p:spPr>
        <p:txBody>
          <a:bodyPr wrap="square" rtlCol="0">
            <a:spAutoFit/>
          </a:bodyPr>
          <a:lstStyle/>
          <a:p>
            <a:pPr algn="ctr"/>
            <a:r>
              <a:rPr lang="en-US" sz="1200" dirty="0"/>
              <a:t>J </a:t>
            </a:r>
            <a:r>
              <a:rPr lang="en-US" sz="1200" dirty="0" err="1"/>
              <a:t>Parasitol</a:t>
            </a:r>
            <a:r>
              <a:rPr lang="en-US" sz="1200" dirty="0"/>
              <a:t>. 1987 Jun;73(3):646-52.</a:t>
            </a:r>
          </a:p>
        </p:txBody>
      </p:sp>
      <p:sp>
        <p:nvSpPr>
          <p:cNvPr id="10" name="TextBox 9"/>
          <p:cNvSpPr txBox="1"/>
          <p:nvPr/>
        </p:nvSpPr>
        <p:spPr>
          <a:xfrm>
            <a:off x="762000" y="5638800"/>
            <a:ext cx="3657600" cy="461665"/>
          </a:xfrm>
          <a:prstGeom prst="rect">
            <a:avLst/>
          </a:prstGeom>
          <a:noFill/>
        </p:spPr>
        <p:txBody>
          <a:bodyPr wrap="square" rtlCol="0">
            <a:spAutoFit/>
          </a:bodyPr>
          <a:lstStyle/>
          <a:p>
            <a:pPr algn="ctr"/>
            <a:r>
              <a:rPr lang="en-US" sz="1200" dirty="0"/>
              <a:t>http://www.deh.enr.state.nc.us/phpm/images/AMFemale_Male2.jpg</a:t>
            </a:r>
          </a:p>
        </p:txBody>
      </p:sp>
      <p:pic>
        <p:nvPicPr>
          <p:cNvPr id="12" name="Content Placeholder 11" descr="AMFemale_Male2.jpg"/>
          <p:cNvPicPr>
            <a:picLocks noGrp="1" noChangeAspect="1"/>
          </p:cNvPicPr>
          <p:nvPr>
            <p:ph sz="half" idx="1"/>
          </p:nvPr>
        </p:nvPicPr>
        <p:blipFill>
          <a:blip r:embed="rId3"/>
          <a:srcRect t="-33372" b="-33372"/>
          <a:stretch>
            <a:fillRect/>
          </a:stretch>
        </p:blip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approaches</a:t>
            </a:r>
          </a:p>
        </p:txBody>
      </p:sp>
      <p:sp>
        <p:nvSpPr>
          <p:cNvPr id="3" name="Content Placeholder 2"/>
          <p:cNvSpPr>
            <a:spLocks noGrp="1"/>
          </p:cNvSpPr>
          <p:nvPr>
            <p:ph idx="1"/>
          </p:nvPr>
        </p:nvSpPr>
        <p:spPr/>
        <p:txBody>
          <a:bodyPr/>
          <a:lstStyle/>
          <a:p>
            <a:r>
              <a:rPr lang="en-US" dirty="0"/>
              <a:t>Population level differential equation based model</a:t>
            </a:r>
          </a:p>
          <a:p>
            <a:r>
              <a:rPr lang="en-US" dirty="0"/>
              <a:t>Individual-based model</a:t>
            </a:r>
          </a:p>
        </p:txBody>
      </p:sp>
      <p:sp>
        <p:nvSpPr>
          <p:cNvPr id="4" name="Slide Number Placeholder 3"/>
          <p:cNvSpPr>
            <a:spLocks noGrp="1"/>
          </p:cNvSpPr>
          <p:nvPr>
            <p:ph type="sldNum" sz="quarter" idx="10"/>
          </p:nvPr>
        </p:nvSpPr>
        <p:spPr/>
        <p:txBody>
          <a:bodyPr/>
          <a:lstStyle/>
          <a:p>
            <a:fld id="{8521DD02-63C5-0743-BA6B-5D26F5D42235}"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Differential Equation Model</a:t>
            </a:r>
          </a:p>
        </p:txBody>
      </p:sp>
      <p:pic>
        <p:nvPicPr>
          <p:cNvPr id="5" name="Content Placeholder 4" descr="vars_params.png"/>
          <p:cNvPicPr>
            <a:picLocks noGrp="1" noChangeAspect="1"/>
          </p:cNvPicPr>
          <p:nvPr>
            <p:ph idx="1"/>
          </p:nvPr>
        </p:nvPicPr>
        <p:blipFill>
          <a:blip r:embed="rId2"/>
          <a:srcRect l="-1589" r="-1589"/>
          <a:stretch>
            <a:fillRect/>
          </a:stretch>
        </p:blipFill>
        <p:spPr/>
      </p:pic>
      <p:sp>
        <p:nvSpPr>
          <p:cNvPr id="4" name="Slide Number Placeholder 3"/>
          <p:cNvSpPr>
            <a:spLocks noGrp="1"/>
          </p:cNvSpPr>
          <p:nvPr>
            <p:ph type="sldNum" sz="quarter" idx="10"/>
          </p:nvPr>
        </p:nvSpPr>
        <p:spPr/>
        <p:txBody>
          <a:bodyPr/>
          <a:lstStyle/>
          <a:p>
            <a:fld id="{8521DD02-63C5-0743-BA6B-5D26F5D42235}"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Differential Equations</a:t>
            </a:r>
          </a:p>
        </p:txBody>
      </p:sp>
      <p:pic>
        <p:nvPicPr>
          <p:cNvPr id="5" name="Content Placeholder 4" descr="eqns.png"/>
          <p:cNvPicPr>
            <a:picLocks noGrp="1" noChangeAspect="1"/>
          </p:cNvPicPr>
          <p:nvPr>
            <p:ph idx="1"/>
          </p:nvPr>
        </p:nvPicPr>
        <p:blipFill>
          <a:blip r:embed="rId2"/>
          <a:srcRect l="-8377" r="-8377"/>
          <a:stretch>
            <a:fillRect/>
          </a:stretch>
        </p:blipFill>
        <p:spPr/>
      </p:pic>
      <p:sp>
        <p:nvSpPr>
          <p:cNvPr id="4" name="Slide Number Placeholder 3"/>
          <p:cNvSpPr>
            <a:spLocks noGrp="1"/>
          </p:cNvSpPr>
          <p:nvPr>
            <p:ph type="sldNum" sz="quarter" idx="10"/>
          </p:nvPr>
        </p:nvSpPr>
        <p:spPr/>
        <p:txBody>
          <a:bodyPr/>
          <a:lstStyle/>
          <a:p>
            <a:fld id="{8521DD02-63C5-0743-BA6B-5D26F5D42235}"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without recovery</a:t>
            </a:r>
          </a:p>
        </p:txBody>
      </p:sp>
      <p:sp>
        <p:nvSpPr>
          <p:cNvPr id="4" name="Slide Number Placeholder 3"/>
          <p:cNvSpPr>
            <a:spLocks noGrp="1"/>
          </p:cNvSpPr>
          <p:nvPr>
            <p:ph type="sldNum" sz="quarter" idx="10"/>
          </p:nvPr>
        </p:nvSpPr>
        <p:spPr/>
        <p:txBody>
          <a:bodyPr/>
          <a:lstStyle/>
          <a:p>
            <a:fld id="{8521DD02-63C5-0743-BA6B-5D26F5D42235}" type="slidenum">
              <a:rPr lang="en-US" smtClean="0"/>
              <a:pPr/>
              <a:t>29</a:t>
            </a:fld>
            <a:endParaRPr lang="en-US"/>
          </a:p>
        </p:txBody>
      </p:sp>
      <p:pic>
        <p:nvPicPr>
          <p:cNvPr id="9" name="Content Placeholder 8" descr="figure1-scenariono_recovery.png"/>
          <p:cNvPicPr>
            <a:picLocks noGrp="1" noChangeAspect="1"/>
          </p:cNvPicPr>
          <p:nvPr>
            <p:ph idx="1"/>
          </p:nvPr>
        </p:nvPicPr>
        <p:blipFill>
          <a:blip r:embed="rId2"/>
          <a:srcRect l="-20833" r="-20833"/>
          <a:stretch>
            <a:fillRect/>
          </a:stretch>
        </p:blip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with recovery</a:t>
            </a:r>
          </a:p>
        </p:txBody>
      </p:sp>
      <p:sp>
        <p:nvSpPr>
          <p:cNvPr id="4" name="Slide Number Placeholder 3"/>
          <p:cNvSpPr>
            <a:spLocks noGrp="1"/>
          </p:cNvSpPr>
          <p:nvPr>
            <p:ph type="sldNum" sz="quarter" idx="10"/>
          </p:nvPr>
        </p:nvSpPr>
        <p:spPr/>
        <p:txBody>
          <a:bodyPr/>
          <a:lstStyle/>
          <a:p>
            <a:fld id="{8521DD02-63C5-0743-BA6B-5D26F5D42235}" type="slidenum">
              <a:rPr lang="en-US" smtClean="0"/>
              <a:pPr/>
              <a:t>30</a:t>
            </a:fld>
            <a:endParaRPr lang="en-US"/>
          </a:p>
        </p:txBody>
      </p:sp>
      <p:pic>
        <p:nvPicPr>
          <p:cNvPr id="9" name="Content Placeholder 8" descr="figure1-scenariorecovery.png"/>
          <p:cNvPicPr>
            <a:picLocks noGrp="1" noChangeAspect="1"/>
          </p:cNvPicPr>
          <p:nvPr>
            <p:ph idx="1"/>
          </p:nvPr>
        </p:nvPicPr>
        <p:blipFill>
          <a:blip r:embed="rId2"/>
          <a:srcRect l="-20833" r="-20833"/>
          <a:stretch>
            <a:fillRect/>
          </a:stretch>
        </p:blip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a:t>Why agent-based?</a:t>
            </a:r>
          </a:p>
        </p:txBody>
      </p:sp>
      <p:sp>
        <p:nvSpPr>
          <p:cNvPr id="60419" name="Content Placeholder 2"/>
          <p:cNvSpPr>
            <a:spLocks noGrp="1"/>
          </p:cNvSpPr>
          <p:nvPr>
            <p:ph idx="1"/>
          </p:nvPr>
        </p:nvSpPr>
        <p:spPr/>
        <p:txBody>
          <a:bodyPr/>
          <a:lstStyle/>
          <a:p>
            <a:r>
              <a:rPr lang="en-US"/>
              <a:t>Many models look at population based-approach</a:t>
            </a:r>
          </a:p>
          <a:p>
            <a:r>
              <a:rPr lang="en-US"/>
              <a:t>Some include age structure</a:t>
            </a:r>
          </a:p>
          <a:p>
            <a:r>
              <a:rPr lang="en-US"/>
              <a:t>Question remains if unique life history is accurately reflected in population models</a:t>
            </a:r>
          </a:p>
        </p:txBody>
      </p:sp>
      <p:sp>
        <p:nvSpPr>
          <p:cNvPr id="60420" name="Slide Number Placeholder 3"/>
          <p:cNvSpPr>
            <a:spLocks noGrp="1"/>
          </p:cNvSpPr>
          <p:nvPr>
            <p:ph type="sldNum" sz="quarter" idx="10"/>
          </p:nvPr>
        </p:nvSpPr>
        <p:spPr>
          <a:noFill/>
        </p:spPr>
        <p:txBody>
          <a:bodyPr/>
          <a:lstStyle/>
          <a:p>
            <a:fld id="{12B373CE-78C2-4447-BF64-F9251B30F244}"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a:t>Agent-based model</a:t>
            </a:r>
          </a:p>
        </p:txBody>
      </p:sp>
      <p:sp>
        <p:nvSpPr>
          <p:cNvPr id="61443" name="Content Placeholder 2"/>
          <p:cNvSpPr>
            <a:spLocks noGrp="1"/>
          </p:cNvSpPr>
          <p:nvPr>
            <p:ph idx="1"/>
          </p:nvPr>
        </p:nvSpPr>
        <p:spPr/>
        <p:txBody>
          <a:bodyPr/>
          <a:lstStyle/>
          <a:p>
            <a:r>
              <a:rPr lang="en-US"/>
              <a:t>Three types of agents: ticks, deer, other hosts</a:t>
            </a:r>
          </a:p>
          <a:p>
            <a:r>
              <a:rPr lang="en-US"/>
              <a:t>Uniform landscape of patches</a:t>
            </a:r>
          </a:p>
          <a:p>
            <a:r>
              <a:rPr lang="en-US"/>
              <a:t>Behave according to rules given</a:t>
            </a:r>
          </a:p>
          <a:p>
            <a:r>
              <a:rPr lang="en-US"/>
              <a:t>Prototype implemented in NetLogo</a:t>
            </a:r>
          </a:p>
        </p:txBody>
      </p:sp>
      <p:sp>
        <p:nvSpPr>
          <p:cNvPr id="61444" name="Slide Number Placeholder 3"/>
          <p:cNvSpPr>
            <a:spLocks noGrp="1"/>
          </p:cNvSpPr>
          <p:nvPr>
            <p:ph type="sldNum" sz="quarter" idx="10"/>
          </p:nvPr>
        </p:nvSpPr>
        <p:spPr>
          <a:noFill/>
        </p:spPr>
        <p:txBody>
          <a:bodyPr/>
          <a:lstStyle/>
          <a:p>
            <a:fld id="{B6FA81FC-86F1-1644-9C80-C228B8935896}"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t>Ticks</a:t>
            </a:r>
          </a:p>
        </p:txBody>
      </p:sp>
      <p:sp>
        <p:nvSpPr>
          <p:cNvPr id="3" name="Content Placeholder 2"/>
          <p:cNvSpPr>
            <a:spLocks noGrp="1"/>
          </p:cNvSpPr>
          <p:nvPr>
            <p:ph idx="1"/>
          </p:nvPr>
        </p:nvSpPr>
        <p:spPr/>
        <p:txBody>
          <a:bodyPr>
            <a:normAutofit fontScale="77500" lnSpcReduction="20000"/>
          </a:bodyPr>
          <a:lstStyle/>
          <a:p>
            <a:pPr>
              <a:defRPr/>
            </a:pPr>
            <a:r>
              <a:rPr lang="en-US" dirty="0"/>
              <a:t>ID #: unique identifier for each tick</a:t>
            </a:r>
          </a:p>
          <a:p>
            <a:pPr>
              <a:defRPr/>
            </a:pPr>
            <a:r>
              <a:rPr lang="en-US" dirty="0"/>
              <a:t>sex: male, female</a:t>
            </a:r>
          </a:p>
          <a:p>
            <a:pPr>
              <a:defRPr/>
            </a:pPr>
            <a:r>
              <a:rPr lang="en-US" dirty="0"/>
              <a:t>age: # of days</a:t>
            </a:r>
          </a:p>
          <a:p>
            <a:pPr>
              <a:defRPr/>
            </a:pPr>
            <a:r>
              <a:rPr lang="en-US" dirty="0"/>
              <a:t>location: coordinates of current patch</a:t>
            </a:r>
          </a:p>
          <a:p>
            <a:pPr>
              <a:defRPr/>
            </a:pPr>
            <a:r>
              <a:rPr lang="en-US" dirty="0"/>
              <a:t>stage: egg, larva, nymph, adult</a:t>
            </a:r>
          </a:p>
          <a:p>
            <a:pPr>
              <a:defRPr/>
            </a:pPr>
            <a:r>
              <a:rPr lang="en-US" dirty="0"/>
              <a:t>time in current stage: # of days</a:t>
            </a:r>
          </a:p>
          <a:p>
            <a:pPr>
              <a:defRPr/>
            </a:pPr>
            <a:r>
              <a:rPr lang="en-US" dirty="0"/>
              <a:t>infection status: susceptible, infectious</a:t>
            </a:r>
          </a:p>
          <a:p>
            <a:pPr>
              <a:defRPr/>
            </a:pPr>
            <a:r>
              <a:rPr lang="en-US" dirty="0"/>
              <a:t>hosts: list of all hosts used for </a:t>
            </a:r>
            <a:r>
              <a:rPr lang="en-US" dirty="0" err="1"/>
              <a:t>bloodmeal</a:t>
            </a:r>
            <a:r>
              <a:rPr lang="en-US" dirty="0"/>
              <a:t> by ID #</a:t>
            </a:r>
          </a:p>
          <a:p>
            <a:pPr>
              <a:defRPr/>
            </a:pPr>
            <a:r>
              <a:rPr lang="en-US" dirty="0"/>
              <a:t>current activity: resting, questing, feeding, laying eggs (female only)</a:t>
            </a:r>
          </a:p>
        </p:txBody>
      </p:sp>
      <p:sp>
        <p:nvSpPr>
          <p:cNvPr id="30724" name="Slide Number Placeholder 3"/>
          <p:cNvSpPr>
            <a:spLocks noGrp="1"/>
          </p:cNvSpPr>
          <p:nvPr>
            <p:ph type="sldNum" sz="quarter" idx="10"/>
          </p:nvPr>
        </p:nvSpPr>
        <p:spPr>
          <a:noFill/>
        </p:spPr>
        <p:txBody>
          <a:bodyPr/>
          <a:lstStyle/>
          <a:p>
            <a:fld id="{3E49D753-4F36-164F-BF25-0094FAD48022}"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t>Deer</a:t>
            </a:r>
          </a:p>
        </p:txBody>
      </p:sp>
      <p:sp>
        <p:nvSpPr>
          <p:cNvPr id="3" name="Content Placeholder 2"/>
          <p:cNvSpPr>
            <a:spLocks noGrp="1"/>
          </p:cNvSpPr>
          <p:nvPr>
            <p:ph idx="1"/>
          </p:nvPr>
        </p:nvSpPr>
        <p:spPr/>
        <p:txBody>
          <a:bodyPr>
            <a:normAutofit/>
          </a:bodyPr>
          <a:lstStyle/>
          <a:p>
            <a:pPr>
              <a:defRPr/>
            </a:pPr>
            <a:r>
              <a:rPr lang="en-US" dirty="0"/>
              <a:t>ID #: unique identifier for each deer</a:t>
            </a:r>
          </a:p>
          <a:p>
            <a:pPr>
              <a:defRPr/>
            </a:pPr>
            <a:r>
              <a:rPr lang="en-US" dirty="0"/>
              <a:t>age: # of days</a:t>
            </a:r>
          </a:p>
          <a:p>
            <a:pPr>
              <a:defRPr/>
            </a:pPr>
            <a:r>
              <a:rPr lang="en-US" dirty="0"/>
              <a:t>ticks: list of all ticks on deer at current time by ID #</a:t>
            </a:r>
          </a:p>
          <a:p>
            <a:pPr>
              <a:defRPr/>
            </a:pPr>
            <a:r>
              <a:rPr lang="en-US" dirty="0"/>
              <a:t>ticks ever: sum of all ticks ever on deer</a:t>
            </a:r>
          </a:p>
          <a:p>
            <a:pPr>
              <a:defRPr/>
            </a:pPr>
            <a:r>
              <a:rPr lang="en-US" dirty="0"/>
              <a:t>infection status: susceptible, infectious, immune</a:t>
            </a:r>
          </a:p>
        </p:txBody>
      </p:sp>
      <p:sp>
        <p:nvSpPr>
          <p:cNvPr id="31748" name="Slide Number Placeholder 3"/>
          <p:cNvSpPr>
            <a:spLocks noGrp="1"/>
          </p:cNvSpPr>
          <p:nvPr>
            <p:ph type="sldNum" sz="quarter" idx="10"/>
          </p:nvPr>
        </p:nvSpPr>
        <p:spPr>
          <a:noFill/>
        </p:spPr>
        <p:txBody>
          <a:bodyPr/>
          <a:lstStyle/>
          <a:p>
            <a:fld id="{815CFCFC-2023-AB4E-91C1-04C3402560E6}"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t>Rules for each day</a:t>
            </a:r>
          </a:p>
        </p:txBody>
      </p:sp>
      <p:sp>
        <p:nvSpPr>
          <p:cNvPr id="3" name="Content Placeholder 2"/>
          <p:cNvSpPr>
            <a:spLocks noGrp="1"/>
          </p:cNvSpPr>
          <p:nvPr>
            <p:ph idx="1"/>
          </p:nvPr>
        </p:nvSpPr>
        <p:spPr/>
        <p:txBody>
          <a:bodyPr>
            <a:normAutofit fontScale="77500" lnSpcReduction="20000"/>
          </a:bodyPr>
          <a:lstStyle/>
          <a:p>
            <a:pPr>
              <a:defRPr/>
            </a:pPr>
            <a:r>
              <a:rPr lang="en-US" dirty="0"/>
              <a:t>Calculate mortality of ticks</a:t>
            </a:r>
          </a:p>
          <a:p>
            <a:pPr lvl="1">
              <a:defRPr/>
            </a:pPr>
            <a:r>
              <a:rPr lang="en-US" dirty="0"/>
              <a:t>Climate related death rate is calculated based on time of year</a:t>
            </a:r>
          </a:p>
          <a:p>
            <a:pPr lvl="1">
              <a:defRPr/>
            </a:pPr>
            <a:r>
              <a:rPr lang="en-US" dirty="0"/>
              <a:t>Each tick is assessed for probability of climate-related death</a:t>
            </a:r>
          </a:p>
          <a:p>
            <a:pPr>
              <a:defRPr/>
            </a:pPr>
            <a:r>
              <a:rPr lang="en-US" dirty="0"/>
              <a:t>Calculate mortality of deer</a:t>
            </a:r>
          </a:p>
          <a:p>
            <a:pPr lvl="1">
              <a:defRPr/>
            </a:pPr>
            <a:r>
              <a:rPr lang="en-US" dirty="0"/>
              <a:t>Each deer is assessed for probability of death based on age</a:t>
            </a:r>
          </a:p>
          <a:p>
            <a:pPr lvl="1">
              <a:defRPr/>
            </a:pPr>
            <a:r>
              <a:rPr lang="en-US" dirty="0"/>
              <a:t>All ticks feeding on the deer at the time of death are assumed to also die</a:t>
            </a:r>
          </a:p>
          <a:p>
            <a:pPr lvl="1">
              <a:defRPr/>
            </a:pPr>
            <a:r>
              <a:rPr lang="en-US" dirty="0"/>
              <a:t>Any deer that dies is immediately replaced to maintain a constant population</a:t>
            </a:r>
          </a:p>
        </p:txBody>
      </p:sp>
      <p:sp>
        <p:nvSpPr>
          <p:cNvPr id="33796" name="Slide Number Placeholder 3"/>
          <p:cNvSpPr>
            <a:spLocks noGrp="1"/>
          </p:cNvSpPr>
          <p:nvPr>
            <p:ph type="sldNum" sz="quarter" idx="10"/>
          </p:nvPr>
        </p:nvSpPr>
        <p:spPr>
          <a:noFill/>
        </p:spPr>
        <p:txBody>
          <a:bodyPr/>
          <a:lstStyle/>
          <a:p>
            <a:fld id="{A987D33D-F81C-4940-BDD2-AAD02EB88172}"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t>Rules (continued)</a:t>
            </a:r>
          </a:p>
        </p:txBody>
      </p:sp>
      <p:sp>
        <p:nvSpPr>
          <p:cNvPr id="3" name="Content Placeholder 2"/>
          <p:cNvSpPr>
            <a:spLocks noGrp="1"/>
          </p:cNvSpPr>
          <p:nvPr>
            <p:ph idx="1"/>
          </p:nvPr>
        </p:nvSpPr>
        <p:spPr/>
        <p:txBody>
          <a:bodyPr>
            <a:normAutofit fontScale="85000" lnSpcReduction="20000"/>
          </a:bodyPr>
          <a:lstStyle/>
          <a:p>
            <a:pPr>
              <a:defRPr/>
            </a:pPr>
            <a:r>
              <a:rPr lang="en-US" dirty="0"/>
              <a:t>Calculate mortality of hosts</a:t>
            </a:r>
          </a:p>
          <a:p>
            <a:pPr lvl="1">
              <a:defRPr/>
            </a:pPr>
            <a:r>
              <a:rPr lang="en-US" dirty="0"/>
              <a:t>Each host is assess for probability of death based on age</a:t>
            </a:r>
          </a:p>
          <a:p>
            <a:pPr lvl="1">
              <a:defRPr/>
            </a:pPr>
            <a:r>
              <a:rPr lang="en-US" dirty="0"/>
              <a:t>All ticks feeding on the host at the time of death are assumed to also die</a:t>
            </a:r>
          </a:p>
          <a:p>
            <a:pPr lvl="1">
              <a:defRPr/>
            </a:pPr>
            <a:r>
              <a:rPr lang="en-US" dirty="0"/>
              <a:t>Any host that dies is immediately replaced to maintain a constant population</a:t>
            </a:r>
          </a:p>
          <a:p>
            <a:pPr>
              <a:defRPr/>
            </a:pPr>
            <a:r>
              <a:rPr lang="en-US" dirty="0"/>
              <a:t>Movement of deer</a:t>
            </a:r>
          </a:p>
          <a:p>
            <a:pPr lvl="1">
              <a:defRPr/>
            </a:pPr>
            <a:r>
              <a:rPr lang="en-US" dirty="0"/>
              <a:t>Deer move randomly to a neighboring patch</a:t>
            </a:r>
          </a:p>
          <a:p>
            <a:pPr>
              <a:defRPr/>
            </a:pPr>
            <a:r>
              <a:rPr lang="en-US" dirty="0"/>
              <a:t>Movement of hosts</a:t>
            </a:r>
          </a:p>
          <a:p>
            <a:pPr lvl="1">
              <a:defRPr/>
            </a:pPr>
            <a:r>
              <a:rPr lang="en-US" dirty="0"/>
              <a:t>Hosts move randomly to a neighboring patch</a:t>
            </a:r>
          </a:p>
        </p:txBody>
      </p:sp>
      <p:sp>
        <p:nvSpPr>
          <p:cNvPr id="34820" name="Slide Number Placeholder 3"/>
          <p:cNvSpPr>
            <a:spLocks noGrp="1"/>
          </p:cNvSpPr>
          <p:nvPr>
            <p:ph type="sldNum" sz="quarter" idx="10"/>
          </p:nvPr>
        </p:nvSpPr>
        <p:spPr>
          <a:noFill/>
        </p:spPr>
        <p:txBody>
          <a:bodyPr/>
          <a:lstStyle/>
          <a:p>
            <a:fld id="{D84A0C55-0DC0-884E-A72B-5D1DB59B6225}"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t>Rules (continued)</a:t>
            </a:r>
          </a:p>
        </p:txBody>
      </p:sp>
      <p:sp>
        <p:nvSpPr>
          <p:cNvPr id="3" name="Content Placeholder 2"/>
          <p:cNvSpPr>
            <a:spLocks noGrp="1"/>
          </p:cNvSpPr>
          <p:nvPr>
            <p:ph idx="1"/>
          </p:nvPr>
        </p:nvSpPr>
        <p:spPr/>
        <p:txBody>
          <a:bodyPr>
            <a:normAutofit fontScale="77500" lnSpcReduction="20000"/>
          </a:bodyPr>
          <a:lstStyle/>
          <a:p>
            <a:pPr>
              <a:defRPr/>
            </a:pPr>
            <a:r>
              <a:rPr lang="en-US" dirty="0"/>
              <a:t>Update ticks activity status</a:t>
            </a:r>
          </a:p>
          <a:p>
            <a:pPr lvl="1">
              <a:defRPr/>
            </a:pPr>
            <a:r>
              <a:rPr lang="en-US" dirty="0"/>
              <a:t>If resting over, change to questing</a:t>
            </a:r>
          </a:p>
          <a:p>
            <a:pPr lvl="1">
              <a:defRPr/>
            </a:pPr>
            <a:r>
              <a:rPr lang="en-US" dirty="0"/>
              <a:t>If questing, search for deer or host</a:t>
            </a:r>
          </a:p>
          <a:p>
            <a:pPr lvl="1">
              <a:defRPr/>
            </a:pPr>
            <a:r>
              <a:rPr lang="en-US" dirty="0"/>
              <a:t>If done feeding, move to resting (if larva or nymph), die (if adult male) or lay eggs (if adult female)</a:t>
            </a:r>
          </a:p>
          <a:p>
            <a:pPr>
              <a:defRPr/>
            </a:pPr>
            <a:r>
              <a:rPr lang="en-US" dirty="0"/>
              <a:t>Check for new infections in deer</a:t>
            </a:r>
          </a:p>
          <a:p>
            <a:pPr>
              <a:defRPr/>
            </a:pPr>
            <a:r>
              <a:rPr lang="en-US" dirty="0"/>
              <a:t>Check for new infections in hosts</a:t>
            </a:r>
          </a:p>
          <a:p>
            <a:pPr>
              <a:defRPr/>
            </a:pPr>
            <a:r>
              <a:rPr lang="en-US" dirty="0"/>
              <a:t>Check for new infections in ticks</a:t>
            </a:r>
          </a:p>
          <a:p>
            <a:pPr>
              <a:defRPr/>
            </a:pPr>
            <a:r>
              <a:rPr lang="en-US" dirty="0"/>
              <a:t>Check for recovery in deer</a:t>
            </a:r>
          </a:p>
          <a:p>
            <a:pPr>
              <a:defRPr/>
            </a:pPr>
            <a:r>
              <a:rPr lang="en-US" dirty="0"/>
              <a:t>Check for recovery in hosts</a:t>
            </a:r>
          </a:p>
        </p:txBody>
      </p:sp>
      <p:sp>
        <p:nvSpPr>
          <p:cNvPr id="35844" name="Slide Number Placeholder 3"/>
          <p:cNvSpPr>
            <a:spLocks noGrp="1"/>
          </p:cNvSpPr>
          <p:nvPr>
            <p:ph type="sldNum" sz="quarter" idx="10"/>
          </p:nvPr>
        </p:nvSpPr>
        <p:spPr>
          <a:noFill/>
        </p:spPr>
        <p:txBody>
          <a:bodyPr/>
          <a:lstStyle/>
          <a:p>
            <a:fld id="{9DF4D6AD-842A-EA45-A655-3AACFAFE2D58}"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t>Agent-based model</a:t>
            </a:r>
          </a:p>
        </p:txBody>
      </p:sp>
      <p:pic>
        <p:nvPicPr>
          <p:cNvPr id="59395" name="Content Placeholder 4" descr="net_logo_screen_shot.tiff"/>
          <p:cNvPicPr>
            <a:picLocks noGrp="1" noChangeAspect="1"/>
          </p:cNvPicPr>
          <p:nvPr>
            <p:ph idx="1"/>
          </p:nvPr>
        </p:nvPicPr>
        <p:blipFill>
          <a:blip r:embed="rId2"/>
          <a:srcRect l="-11668" r="-14093"/>
          <a:stretch>
            <a:fillRect/>
          </a:stretch>
        </p:blipFill>
        <p:spPr>
          <a:xfrm>
            <a:off x="838200" y="1524000"/>
            <a:ext cx="7467600" cy="4953000"/>
          </a:xfrm>
        </p:spPr>
      </p:pic>
      <p:sp>
        <p:nvSpPr>
          <p:cNvPr id="59396" name="Slide Number Placeholder 3"/>
          <p:cNvSpPr>
            <a:spLocks noGrp="1"/>
          </p:cNvSpPr>
          <p:nvPr>
            <p:ph type="sldNum" sz="quarter" idx="10"/>
          </p:nvPr>
        </p:nvSpPr>
        <p:spPr>
          <a:noFill/>
        </p:spPr>
        <p:txBody>
          <a:bodyPr/>
          <a:lstStyle/>
          <a:p>
            <a:fld id="{893766EA-0C6E-2A49-A9A1-6EE7E6077417}"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t>Host questions</a:t>
            </a:r>
          </a:p>
        </p:txBody>
      </p:sp>
      <p:sp>
        <p:nvSpPr>
          <p:cNvPr id="56323" name="Content Placeholder 2"/>
          <p:cNvSpPr>
            <a:spLocks noGrp="1"/>
          </p:cNvSpPr>
          <p:nvPr>
            <p:ph idx="1"/>
          </p:nvPr>
        </p:nvSpPr>
        <p:spPr/>
        <p:txBody>
          <a:bodyPr/>
          <a:lstStyle/>
          <a:p>
            <a:r>
              <a:rPr lang="en-US"/>
              <a:t>Many researchers feel that host diversity can significantly influence disease incidence</a:t>
            </a:r>
          </a:p>
          <a:p>
            <a:r>
              <a:rPr lang="en-US"/>
              <a:t>For most hosts, the length of illness and whether recovery confers immunity are unknown</a:t>
            </a:r>
          </a:p>
        </p:txBody>
      </p:sp>
      <p:sp>
        <p:nvSpPr>
          <p:cNvPr id="56324" name="Slide Number Placeholder 3"/>
          <p:cNvSpPr>
            <a:spLocks noGrp="1"/>
          </p:cNvSpPr>
          <p:nvPr>
            <p:ph type="sldNum" sz="quarter" idx="10"/>
          </p:nvPr>
        </p:nvSpPr>
        <p:spPr>
          <a:noFill/>
        </p:spPr>
        <p:txBody>
          <a:bodyPr/>
          <a:lstStyle/>
          <a:p>
            <a:fld id="{4D54A2C9-9D9B-0140-837F-0D3E8EB1ED67}"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143000" y="1887538"/>
            <a:ext cx="6537325" cy="3370262"/>
            <a:chOff x="105" y="1180"/>
            <a:chExt cx="4118" cy="2123"/>
          </a:xfrm>
        </p:grpSpPr>
        <p:sp>
          <p:nvSpPr>
            <p:cNvPr id="26628" name="AutoShape 3"/>
            <p:cNvSpPr>
              <a:spLocks noChangeArrowheads="1"/>
            </p:cNvSpPr>
            <p:nvPr/>
          </p:nvSpPr>
          <p:spPr bwMode="auto">
            <a:xfrm>
              <a:off x="876" y="1607"/>
              <a:ext cx="949" cy="619"/>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26629" name="Line 4"/>
            <p:cNvSpPr>
              <a:spLocks noChangeShapeType="1"/>
            </p:cNvSpPr>
            <p:nvPr/>
          </p:nvSpPr>
          <p:spPr bwMode="auto">
            <a:xfrm>
              <a:off x="1825" y="1882"/>
              <a:ext cx="1416" cy="0"/>
            </a:xfrm>
            <a:prstGeom prst="line">
              <a:avLst/>
            </a:prstGeom>
            <a:noFill/>
            <a:ln w="28575">
              <a:solidFill>
                <a:schemeClr val="tx1"/>
              </a:solidFill>
              <a:round/>
              <a:headEnd/>
              <a:tailEnd type="triangle" w="med" len="med"/>
            </a:ln>
          </p:spPr>
          <p:txBody>
            <a:bodyPr>
              <a:prstTxWarp prst="textNoShape">
                <a:avLst/>
              </a:prstTxWarp>
            </a:bodyPr>
            <a:lstStyle/>
            <a:p>
              <a:endParaRPr lang="en-US"/>
            </a:p>
          </p:txBody>
        </p:sp>
        <p:sp>
          <p:nvSpPr>
            <p:cNvPr id="26630" name="Line 5"/>
            <p:cNvSpPr>
              <a:spLocks noChangeShapeType="1"/>
            </p:cNvSpPr>
            <p:nvPr/>
          </p:nvSpPr>
          <p:spPr bwMode="auto">
            <a:xfrm>
              <a:off x="1842" y="2994"/>
              <a:ext cx="1416" cy="0"/>
            </a:xfrm>
            <a:prstGeom prst="line">
              <a:avLst/>
            </a:prstGeom>
            <a:noFill/>
            <a:ln w="28575">
              <a:solidFill>
                <a:schemeClr val="tx1"/>
              </a:solidFill>
              <a:round/>
              <a:headEnd/>
              <a:tailEnd type="triangle" w="med" len="med"/>
            </a:ln>
          </p:spPr>
          <p:txBody>
            <a:bodyPr>
              <a:prstTxWarp prst="textNoShape">
                <a:avLst/>
              </a:prstTxWarp>
            </a:bodyPr>
            <a:lstStyle/>
            <a:p>
              <a:endParaRPr lang="en-US"/>
            </a:p>
          </p:txBody>
        </p:sp>
        <p:sp>
          <p:nvSpPr>
            <p:cNvPr id="26631" name="Line 6"/>
            <p:cNvSpPr>
              <a:spLocks noChangeShapeType="1"/>
            </p:cNvSpPr>
            <p:nvPr/>
          </p:nvSpPr>
          <p:spPr bwMode="auto">
            <a:xfrm flipH="1" flipV="1">
              <a:off x="1980" y="1890"/>
              <a:ext cx="1261" cy="785"/>
            </a:xfrm>
            <a:prstGeom prst="line">
              <a:avLst/>
            </a:prstGeom>
            <a:noFill/>
            <a:ln w="28575">
              <a:solidFill>
                <a:schemeClr val="tx1"/>
              </a:solidFill>
              <a:prstDash val="sysDot"/>
              <a:round/>
              <a:headEnd/>
              <a:tailEnd type="triangle" w="med" len="med"/>
            </a:ln>
          </p:spPr>
          <p:txBody>
            <a:bodyPr>
              <a:prstTxWarp prst="textNoShape">
                <a:avLst/>
              </a:prstTxWarp>
            </a:bodyPr>
            <a:lstStyle/>
            <a:p>
              <a:endParaRPr lang="en-US"/>
            </a:p>
          </p:txBody>
        </p:sp>
        <p:sp>
          <p:nvSpPr>
            <p:cNvPr id="26632" name="Line 7"/>
            <p:cNvSpPr>
              <a:spLocks noChangeShapeType="1"/>
            </p:cNvSpPr>
            <p:nvPr/>
          </p:nvSpPr>
          <p:spPr bwMode="auto">
            <a:xfrm flipH="1">
              <a:off x="1947" y="2226"/>
              <a:ext cx="1294" cy="759"/>
            </a:xfrm>
            <a:prstGeom prst="line">
              <a:avLst/>
            </a:prstGeom>
            <a:noFill/>
            <a:ln w="28575">
              <a:solidFill>
                <a:schemeClr val="tx1"/>
              </a:solidFill>
              <a:prstDash val="sysDot"/>
              <a:round/>
              <a:headEnd/>
              <a:tailEnd type="triangle" w="med" len="med"/>
            </a:ln>
          </p:spPr>
          <p:txBody>
            <a:bodyPr>
              <a:prstTxWarp prst="textNoShape">
                <a:avLst/>
              </a:prstTxWarp>
            </a:bodyPr>
            <a:lstStyle/>
            <a:p>
              <a:endParaRPr lang="en-US"/>
            </a:p>
          </p:txBody>
        </p:sp>
        <p:sp>
          <p:nvSpPr>
            <p:cNvPr id="26633" name="Freeform 8"/>
            <p:cNvSpPr>
              <a:spLocks/>
            </p:cNvSpPr>
            <p:nvPr/>
          </p:nvSpPr>
          <p:spPr bwMode="auto">
            <a:xfrm>
              <a:off x="1842" y="1411"/>
              <a:ext cx="1403" cy="390"/>
            </a:xfrm>
            <a:custGeom>
              <a:avLst/>
              <a:gdLst>
                <a:gd name="T0" fmla="*/ 0 w 1460"/>
                <a:gd name="T1" fmla="*/ 369 h 397"/>
                <a:gd name="T2" fmla="*/ 575 w 1460"/>
                <a:gd name="T3" fmla="*/ 0 h 397"/>
                <a:gd name="T4" fmla="*/ 1244 w 1460"/>
                <a:gd name="T5" fmla="*/ 369 h 397"/>
                <a:gd name="T6" fmla="*/ 0 60000 65536"/>
                <a:gd name="T7" fmla="*/ 0 60000 65536"/>
                <a:gd name="T8" fmla="*/ 0 60000 65536"/>
                <a:gd name="T9" fmla="*/ 0 w 1460"/>
                <a:gd name="T10" fmla="*/ 0 h 397"/>
                <a:gd name="T11" fmla="*/ 1460 w 1460"/>
                <a:gd name="T12" fmla="*/ 397 h 397"/>
              </a:gdLst>
              <a:ahLst/>
              <a:cxnLst>
                <a:cxn ang="T6">
                  <a:pos x="T0" y="T1"/>
                </a:cxn>
                <a:cxn ang="T7">
                  <a:pos x="T2" y="T3"/>
                </a:cxn>
                <a:cxn ang="T8">
                  <a:pos x="T4" y="T5"/>
                </a:cxn>
              </a:cxnLst>
              <a:rect l="T9" t="T10" r="T11" b="T12"/>
              <a:pathLst>
                <a:path w="1460" h="397">
                  <a:moveTo>
                    <a:pt x="0" y="397"/>
                  </a:moveTo>
                  <a:cubicBezTo>
                    <a:pt x="215" y="198"/>
                    <a:pt x="430" y="0"/>
                    <a:pt x="673" y="0"/>
                  </a:cubicBezTo>
                  <a:cubicBezTo>
                    <a:pt x="916" y="0"/>
                    <a:pt x="1188" y="198"/>
                    <a:pt x="1460" y="397"/>
                  </a:cubicBezTo>
                </a:path>
              </a:pathLst>
            </a:custGeom>
            <a:noFill/>
            <a:ln w="28575">
              <a:solidFill>
                <a:schemeClr val="tx1"/>
              </a:solidFill>
              <a:round/>
              <a:headEnd type="triangle" w="med" len="med"/>
              <a:tailEnd/>
            </a:ln>
          </p:spPr>
          <p:txBody>
            <a:bodyPr>
              <a:prstTxWarp prst="textNoShape">
                <a:avLst/>
              </a:prstTxWarp>
            </a:bodyPr>
            <a:lstStyle/>
            <a:p>
              <a:endParaRPr lang="en-US"/>
            </a:p>
          </p:txBody>
        </p:sp>
        <p:sp>
          <p:nvSpPr>
            <p:cNvPr id="26634" name="Text Box 9"/>
            <p:cNvSpPr txBox="1">
              <a:spLocks noChangeArrowheads="1"/>
            </p:cNvSpPr>
            <p:nvPr/>
          </p:nvSpPr>
          <p:spPr bwMode="auto">
            <a:xfrm>
              <a:off x="966" y="1833"/>
              <a:ext cx="746" cy="231"/>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Deer</a:t>
              </a:r>
            </a:p>
          </p:txBody>
        </p:sp>
        <p:sp>
          <p:nvSpPr>
            <p:cNvPr id="26635" name="AutoShape 10"/>
            <p:cNvSpPr>
              <a:spLocks noChangeArrowheads="1"/>
            </p:cNvSpPr>
            <p:nvPr/>
          </p:nvSpPr>
          <p:spPr bwMode="auto">
            <a:xfrm>
              <a:off x="883" y="2684"/>
              <a:ext cx="949" cy="619"/>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26636" name="AutoShape 11"/>
            <p:cNvSpPr>
              <a:spLocks noChangeArrowheads="1"/>
            </p:cNvSpPr>
            <p:nvPr/>
          </p:nvSpPr>
          <p:spPr bwMode="auto">
            <a:xfrm>
              <a:off x="3234" y="1637"/>
              <a:ext cx="949" cy="619"/>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26637" name="AutoShape 12"/>
            <p:cNvSpPr>
              <a:spLocks noChangeArrowheads="1"/>
            </p:cNvSpPr>
            <p:nvPr/>
          </p:nvSpPr>
          <p:spPr bwMode="auto">
            <a:xfrm>
              <a:off x="3274" y="2673"/>
              <a:ext cx="949" cy="619"/>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26638" name="Text Box 13"/>
            <p:cNvSpPr txBox="1">
              <a:spLocks noChangeArrowheads="1"/>
            </p:cNvSpPr>
            <p:nvPr/>
          </p:nvSpPr>
          <p:spPr bwMode="auto">
            <a:xfrm>
              <a:off x="965" y="2895"/>
              <a:ext cx="746" cy="231"/>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Ticks</a:t>
              </a:r>
            </a:p>
          </p:txBody>
        </p:sp>
        <p:sp>
          <p:nvSpPr>
            <p:cNvPr id="26639" name="Text Box 14"/>
            <p:cNvSpPr txBox="1">
              <a:spLocks noChangeArrowheads="1"/>
            </p:cNvSpPr>
            <p:nvPr/>
          </p:nvSpPr>
          <p:spPr bwMode="auto">
            <a:xfrm>
              <a:off x="3326" y="1693"/>
              <a:ext cx="746" cy="404"/>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Infected Deer</a:t>
              </a:r>
            </a:p>
          </p:txBody>
        </p:sp>
        <p:sp>
          <p:nvSpPr>
            <p:cNvPr id="26640" name="Text Box 15"/>
            <p:cNvSpPr txBox="1">
              <a:spLocks noChangeArrowheads="1"/>
            </p:cNvSpPr>
            <p:nvPr/>
          </p:nvSpPr>
          <p:spPr bwMode="auto">
            <a:xfrm>
              <a:off x="3301" y="2765"/>
              <a:ext cx="746" cy="404"/>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Infected Ticks</a:t>
              </a:r>
            </a:p>
          </p:txBody>
        </p:sp>
        <p:sp>
          <p:nvSpPr>
            <p:cNvPr id="26641" name="Arc 16"/>
            <p:cNvSpPr>
              <a:spLocks/>
            </p:cNvSpPr>
            <p:nvPr/>
          </p:nvSpPr>
          <p:spPr bwMode="auto">
            <a:xfrm flipH="1" flipV="1">
              <a:off x="432" y="2895"/>
              <a:ext cx="429" cy="329"/>
            </a:xfrm>
            <a:custGeom>
              <a:avLst/>
              <a:gdLst>
                <a:gd name="T0" fmla="*/ 0 w 26655"/>
                <a:gd name="T1" fmla="*/ 0 h 43200"/>
                <a:gd name="T2" fmla="*/ 0 w 26655"/>
                <a:gd name="T3" fmla="*/ 0 h 43200"/>
                <a:gd name="T4" fmla="*/ 0 w 26655"/>
                <a:gd name="T5" fmla="*/ 0 h 43200"/>
                <a:gd name="T6" fmla="*/ 0 60000 65536"/>
                <a:gd name="T7" fmla="*/ 0 60000 65536"/>
                <a:gd name="T8" fmla="*/ 0 60000 65536"/>
                <a:gd name="T9" fmla="*/ 0 w 26655"/>
                <a:gd name="T10" fmla="*/ 0 h 43200"/>
                <a:gd name="T11" fmla="*/ 26655 w 26655"/>
                <a:gd name="T12" fmla="*/ 43200 h 43200"/>
              </a:gdLst>
              <a:ahLst/>
              <a:cxnLst>
                <a:cxn ang="T6">
                  <a:pos x="T0" y="T1"/>
                </a:cxn>
                <a:cxn ang="T7">
                  <a:pos x="T2" y="T3"/>
                </a:cxn>
                <a:cxn ang="T8">
                  <a:pos x="T4" y="T5"/>
                </a:cxn>
              </a:cxnLst>
              <a:rect l="T9" t="T10" r="T11" b="T12"/>
              <a:pathLst>
                <a:path w="26655" h="43200" fill="none"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path>
                <a:path w="26655" h="43200" stroke="0"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lnTo>
                    <a:pt x="5055" y="21600"/>
                  </a:lnTo>
                  <a:close/>
                </a:path>
              </a:pathLst>
            </a:cu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642" name="Arc 17"/>
            <p:cNvSpPr>
              <a:spLocks/>
            </p:cNvSpPr>
            <p:nvPr/>
          </p:nvSpPr>
          <p:spPr bwMode="auto">
            <a:xfrm flipH="1" flipV="1">
              <a:off x="432" y="1735"/>
              <a:ext cx="429" cy="329"/>
            </a:xfrm>
            <a:custGeom>
              <a:avLst/>
              <a:gdLst>
                <a:gd name="T0" fmla="*/ 0 w 26655"/>
                <a:gd name="T1" fmla="*/ 0 h 43200"/>
                <a:gd name="T2" fmla="*/ 0 w 26655"/>
                <a:gd name="T3" fmla="*/ 0 h 43200"/>
                <a:gd name="T4" fmla="*/ 0 w 26655"/>
                <a:gd name="T5" fmla="*/ 0 h 43200"/>
                <a:gd name="T6" fmla="*/ 0 60000 65536"/>
                <a:gd name="T7" fmla="*/ 0 60000 65536"/>
                <a:gd name="T8" fmla="*/ 0 60000 65536"/>
                <a:gd name="T9" fmla="*/ 0 w 26655"/>
                <a:gd name="T10" fmla="*/ 0 h 43200"/>
                <a:gd name="T11" fmla="*/ 26655 w 26655"/>
                <a:gd name="T12" fmla="*/ 43200 h 43200"/>
              </a:gdLst>
              <a:ahLst/>
              <a:cxnLst>
                <a:cxn ang="T6">
                  <a:pos x="T0" y="T1"/>
                </a:cxn>
                <a:cxn ang="T7">
                  <a:pos x="T2" y="T3"/>
                </a:cxn>
                <a:cxn ang="T8">
                  <a:pos x="T4" y="T5"/>
                </a:cxn>
              </a:cxnLst>
              <a:rect l="T9" t="T10" r="T11" b="T12"/>
              <a:pathLst>
                <a:path w="26655" h="43200" fill="none"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path>
                <a:path w="26655" h="43200" stroke="0"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lnTo>
                    <a:pt x="5055" y="21600"/>
                  </a:lnTo>
                  <a:close/>
                </a:path>
              </a:pathLst>
            </a:cu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26643" name="Text Box 18"/>
            <p:cNvSpPr txBox="1">
              <a:spLocks noChangeArrowheads="1"/>
            </p:cNvSpPr>
            <p:nvPr/>
          </p:nvSpPr>
          <p:spPr bwMode="auto">
            <a:xfrm>
              <a:off x="105" y="1376"/>
              <a:ext cx="1006" cy="231"/>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Reproduction</a:t>
              </a:r>
            </a:p>
          </p:txBody>
        </p:sp>
        <p:sp>
          <p:nvSpPr>
            <p:cNvPr id="26644" name="Text Box 19"/>
            <p:cNvSpPr txBox="1">
              <a:spLocks noChangeArrowheads="1"/>
            </p:cNvSpPr>
            <p:nvPr/>
          </p:nvSpPr>
          <p:spPr bwMode="auto">
            <a:xfrm>
              <a:off x="105" y="2453"/>
              <a:ext cx="1006" cy="231"/>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Reproduction</a:t>
              </a:r>
            </a:p>
          </p:txBody>
        </p:sp>
        <p:sp>
          <p:nvSpPr>
            <p:cNvPr id="26645" name="Text Box 20"/>
            <p:cNvSpPr txBox="1">
              <a:spLocks noChangeArrowheads="1"/>
            </p:cNvSpPr>
            <p:nvPr/>
          </p:nvSpPr>
          <p:spPr bwMode="auto">
            <a:xfrm>
              <a:off x="2118" y="3072"/>
              <a:ext cx="1006" cy="231"/>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Infection</a:t>
              </a:r>
            </a:p>
          </p:txBody>
        </p:sp>
        <p:sp>
          <p:nvSpPr>
            <p:cNvPr id="26646" name="Text Box 21"/>
            <p:cNvSpPr txBox="1">
              <a:spLocks noChangeArrowheads="1"/>
            </p:cNvSpPr>
            <p:nvPr/>
          </p:nvSpPr>
          <p:spPr bwMode="auto">
            <a:xfrm>
              <a:off x="2118" y="1637"/>
              <a:ext cx="1006" cy="231"/>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Infection</a:t>
              </a:r>
            </a:p>
          </p:txBody>
        </p:sp>
        <p:sp>
          <p:nvSpPr>
            <p:cNvPr id="26647" name="Text Box 22"/>
            <p:cNvSpPr txBox="1">
              <a:spLocks noChangeArrowheads="1"/>
            </p:cNvSpPr>
            <p:nvPr/>
          </p:nvSpPr>
          <p:spPr bwMode="auto">
            <a:xfrm>
              <a:off x="2118" y="1180"/>
              <a:ext cx="1006" cy="231"/>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Recovery</a:t>
              </a:r>
            </a:p>
          </p:txBody>
        </p:sp>
      </p:grpSp>
      <p:sp>
        <p:nvSpPr>
          <p:cNvPr id="26627" name="Rectangle 23"/>
          <p:cNvSpPr>
            <a:spLocks noGrp="1" noChangeArrowheads="1"/>
          </p:cNvSpPr>
          <p:nvPr>
            <p:ph type="title"/>
          </p:nvPr>
        </p:nvSpPr>
        <p:spPr/>
        <p:txBody>
          <a:bodyPr/>
          <a:lstStyle/>
          <a:p>
            <a:r>
              <a:rPr lang="en-US"/>
              <a:t>Model Structure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Deer only</a:t>
            </a:r>
          </a:p>
        </p:txBody>
      </p:sp>
      <p:pic>
        <p:nvPicPr>
          <p:cNvPr id="5" name="Content Placeholder 4" descr="deer_only_low.png"/>
          <p:cNvPicPr>
            <a:picLocks noGrp="1" noChangeAspect="1"/>
          </p:cNvPicPr>
          <p:nvPr>
            <p:ph idx="1"/>
          </p:nvPr>
        </p:nvPicPr>
        <p:blipFill>
          <a:blip r:embed="rId2"/>
          <a:srcRect l="570" t="37037" r="69639" b="24074"/>
          <a:stretch>
            <a:fillRect/>
          </a:stretch>
        </p:blipFill>
        <p:spPr>
          <a:xfrm>
            <a:off x="2438400" y="1844040"/>
            <a:ext cx="4114800" cy="4480560"/>
          </a:xfrm>
        </p:spPr>
      </p:pic>
      <p:sp>
        <p:nvSpPr>
          <p:cNvPr id="4" name="Slide Number Placeholder 3"/>
          <p:cNvSpPr>
            <a:spLocks noGrp="1"/>
          </p:cNvSpPr>
          <p:nvPr>
            <p:ph type="sldNum" sz="quarter" idx="10"/>
          </p:nvPr>
        </p:nvSpPr>
        <p:spPr/>
        <p:txBody>
          <a:bodyPr/>
          <a:lstStyle/>
          <a:p>
            <a:pPr>
              <a:defRPr/>
            </a:pPr>
            <a:fld id="{4CD9C8C6-16A2-AC41-A9D0-48B9AC4707E2}" type="slidenum">
              <a:rPr lang="en-US" smtClean="0"/>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Deer only – High transmission</a:t>
            </a:r>
          </a:p>
        </p:txBody>
      </p:sp>
      <p:pic>
        <p:nvPicPr>
          <p:cNvPr id="5" name="Content Placeholder 4" descr="deer_only_high.png"/>
          <p:cNvPicPr>
            <a:picLocks noGrp="1" noChangeAspect="1"/>
          </p:cNvPicPr>
          <p:nvPr>
            <p:ph idx="1"/>
          </p:nvPr>
        </p:nvPicPr>
        <p:blipFill>
          <a:blip r:embed="rId2"/>
          <a:srcRect l="570" t="35185" r="69680" b="24074"/>
          <a:stretch>
            <a:fillRect/>
          </a:stretch>
        </p:blipFill>
        <p:spPr>
          <a:xfrm>
            <a:off x="2514600" y="1645920"/>
            <a:ext cx="3962400" cy="4526280"/>
          </a:xfrm>
        </p:spPr>
      </p:pic>
      <p:sp>
        <p:nvSpPr>
          <p:cNvPr id="4" name="Slide Number Placeholder 3"/>
          <p:cNvSpPr>
            <a:spLocks noGrp="1"/>
          </p:cNvSpPr>
          <p:nvPr>
            <p:ph type="sldNum" sz="quarter" idx="10"/>
          </p:nvPr>
        </p:nvSpPr>
        <p:spPr/>
        <p:txBody>
          <a:bodyPr/>
          <a:lstStyle/>
          <a:p>
            <a:pPr>
              <a:defRPr/>
            </a:pPr>
            <a:fld id="{4CD9C8C6-16A2-AC41-A9D0-48B9AC4707E2}"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3"/>
          <p:cNvSpPr>
            <a:spLocks noGrp="1" noChangeArrowheads="1"/>
          </p:cNvSpPr>
          <p:nvPr>
            <p:ph type="title"/>
          </p:nvPr>
        </p:nvSpPr>
        <p:spPr>
          <a:xfrm>
            <a:off x="685800" y="152400"/>
            <a:ext cx="7772400" cy="1143000"/>
          </a:xfrm>
        </p:spPr>
        <p:txBody>
          <a:bodyPr/>
          <a:lstStyle/>
          <a:p>
            <a:r>
              <a:rPr lang="en-US"/>
              <a:t>Model Structure</a:t>
            </a:r>
          </a:p>
        </p:txBody>
      </p:sp>
      <p:sp>
        <p:nvSpPr>
          <p:cNvPr id="57347" name="Line 6"/>
          <p:cNvSpPr>
            <a:spLocks noChangeShapeType="1"/>
          </p:cNvSpPr>
          <p:nvPr/>
        </p:nvSpPr>
        <p:spPr bwMode="auto">
          <a:xfrm flipH="1" flipV="1">
            <a:off x="3733800" y="4114800"/>
            <a:ext cx="1905000" cy="1066800"/>
          </a:xfrm>
          <a:prstGeom prst="line">
            <a:avLst/>
          </a:prstGeom>
          <a:noFill/>
          <a:ln w="28575">
            <a:solidFill>
              <a:schemeClr val="tx1"/>
            </a:solidFill>
            <a:prstDash val="sysDot"/>
            <a:round/>
            <a:headEnd/>
            <a:tailEnd type="triangle" w="med" len="med"/>
          </a:ln>
        </p:spPr>
        <p:txBody>
          <a:bodyPr>
            <a:prstTxWarp prst="textNoShape">
              <a:avLst/>
            </a:prstTxWarp>
          </a:bodyPr>
          <a:lstStyle/>
          <a:p>
            <a:endParaRPr lang="en-US"/>
          </a:p>
        </p:txBody>
      </p:sp>
      <p:sp>
        <p:nvSpPr>
          <p:cNvPr id="57348" name="Line 7"/>
          <p:cNvSpPr>
            <a:spLocks noChangeShapeType="1"/>
          </p:cNvSpPr>
          <p:nvPr/>
        </p:nvSpPr>
        <p:spPr bwMode="auto">
          <a:xfrm flipH="1">
            <a:off x="3657600" y="4419600"/>
            <a:ext cx="2057400" cy="1143000"/>
          </a:xfrm>
          <a:prstGeom prst="line">
            <a:avLst/>
          </a:prstGeom>
          <a:noFill/>
          <a:ln w="28575">
            <a:solidFill>
              <a:schemeClr val="tx1"/>
            </a:solidFill>
            <a:prstDash val="sysDot"/>
            <a:round/>
            <a:headEnd/>
            <a:tailEnd type="triangle" w="med" len="med"/>
          </a:ln>
        </p:spPr>
        <p:txBody>
          <a:bodyPr>
            <a:prstTxWarp prst="textNoShape">
              <a:avLst/>
            </a:prstTxWarp>
          </a:bodyPr>
          <a:lstStyle/>
          <a:p>
            <a:endParaRPr lang="en-US"/>
          </a:p>
        </p:txBody>
      </p:sp>
      <p:sp>
        <p:nvSpPr>
          <p:cNvPr id="57349" name="AutoShape 3"/>
          <p:cNvSpPr>
            <a:spLocks noChangeArrowheads="1"/>
          </p:cNvSpPr>
          <p:nvPr/>
        </p:nvSpPr>
        <p:spPr bwMode="auto">
          <a:xfrm>
            <a:off x="1985963" y="1897063"/>
            <a:ext cx="1506537" cy="982662"/>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57350" name="Line 4"/>
          <p:cNvSpPr>
            <a:spLocks noChangeShapeType="1"/>
          </p:cNvSpPr>
          <p:nvPr/>
        </p:nvSpPr>
        <p:spPr bwMode="auto">
          <a:xfrm>
            <a:off x="3492500" y="2333625"/>
            <a:ext cx="2247900" cy="0"/>
          </a:xfrm>
          <a:prstGeom prst="line">
            <a:avLst/>
          </a:prstGeom>
          <a:noFill/>
          <a:ln w="28575">
            <a:solidFill>
              <a:schemeClr val="tx1"/>
            </a:solidFill>
            <a:round/>
            <a:headEnd/>
            <a:tailEnd type="triangle" w="med" len="med"/>
          </a:ln>
        </p:spPr>
        <p:txBody>
          <a:bodyPr>
            <a:prstTxWarp prst="textNoShape">
              <a:avLst/>
            </a:prstTxWarp>
          </a:bodyPr>
          <a:lstStyle/>
          <a:p>
            <a:endParaRPr lang="en-US"/>
          </a:p>
        </p:txBody>
      </p:sp>
      <p:sp>
        <p:nvSpPr>
          <p:cNvPr id="57351" name="Line 5"/>
          <p:cNvSpPr>
            <a:spLocks noChangeShapeType="1"/>
          </p:cNvSpPr>
          <p:nvPr/>
        </p:nvSpPr>
        <p:spPr bwMode="auto">
          <a:xfrm>
            <a:off x="3519488" y="4098925"/>
            <a:ext cx="2247900" cy="0"/>
          </a:xfrm>
          <a:prstGeom prst="line">
            <a:avLst/>
          </a:prstGeom>
          <a:noFill/>
          <a:ln w="28575">
            <a:solidFill>
              <a:schemeClr val="tx1"/>
            </a:solidFill>
            <a:round/>
            <a:headEnd/>
            <a:tailEnd type="triangle" w="med" len="med"/>
          </a:ln>
        </p:spPr>
        <p:txBody>
          <a:bodyPr>
            <a:prstTxWarp prst="textNoShape">
              <a:avLst/>
            </a:prstTxWarp>
          </a:bodyPr>
          <a:lstStyle/>
          <a:p>
            <a:endParaRPr lang="en-US"/>
          </a:p>
        </p:txBody>
      </p:sp>
      <p:sp>
        <p:nvSpPr>
          <p:cNvPr id="57352" name="Line 6"/>
          <p:cNvSpPr>
            <a:spLocks noChangeShapeType="1"/>
          </p:cNvSpPr>
          <p:nvPr/>
        </p:nvSpPr>
        <p:spPr bwMode="auto">
          <a:xfrm flipH="1" flipV="1">
            <a:off x="3738563" y="2346325"/>
            <a:ext cx="2001837" cy="1246188"/>
          </a:xfrm>
          <a:prstGeom prst="line">
            <a:avLst/>
          </a:prstGeom>
          <a:noFill/>
          <a:ln w="28575">
            <a:solidFill>
              <a:schemeClr val="tx1"/>
            </a:solidFill>
            <a:prstDash val="sysDot"/>
            <a:round/>
            <a:headEnd/>
            <a:tailEnd type="triangle" w="med" len="med"/>
          </a:ln>
        </p:spPr>
        <p:txBody>
          <a:bodyPr>
            <a:prstTxWarp prst="textNoShape">
              <a:avLst/>
            </a:prstTxWarp>
          </a:bodyPr>
          <a:lstStyle/>
          <a:p>
            <a:endParaRPr lang="en-US"/>
          </a:p>
        </p:txBody>
      </p:sp>
      <p:sp>
        <p:nvSpPr>
          <p:cNvPr id="57353" name="Line 7"/>
          <p:cNvSpPr>
            <a:spLocks noChangeShapeType="1"/>
          </p:cNvSpPr>
          <p:nvPr/>
        </p:nvSpPr>
        <p:spPr bwMode="auto">
          <a:xfrm flipH="1">
            <a:off x="3686175" y="2879725"/>
            <a:ext cx="2054225" cy="1204913"/>
          </a:xfrm>
          <a:prstGeom prst="line">
            <a:avLst/>
          </a:prstGeom>
          <a:noFill/>
          <a:ln w="28575">
            <a:solidFill>
              <a:schemeClr val="tx1"/>
            </a:solidFill>
            <a:prstDash val="sysDot"/>
            <a:round/>
            <a:headEnd/>
            <a:tailEnd type="triangle" w="med" len="med"/>
          </a:ln>
        </p:spPr>
        <p:txBody>
          <a:bodyPr>
            <a:prstTxWarp prst="textNoShape">
              <a:avLst/>
            </a:prstTxWarp>
          </a:bodyPr>
          <a:lstStyle/>
          <a:p>
            <a:endParaRPr lang="en-US"/>
          </a:p>
        </p:txBody>
      </p:sp>
      <p:sp>
        <p:nvSpPr>
          <p:cNvPr id="57354" name="Freeform 8"/>
          <p:cNvSpPr>
            <a:spLocks/>
          </p:cNvSpPr>
          <p:nvPr/>
        </p:nvSpPr>
        <p:spPr bwMode="auto">
          <a:xfrm>
            <a:off x="3519488" y="1585913"/>
            <a:ext cx="2227262" cy="619125"/>
          </a:xfrm>
          <a:custGeom>
            <a:avLst/>
            <a:gdLst>
              <a:gd name="T0" fmla="*/ 0 w 1460"/>
              <a:gd name="T1" fmla="*/ 931482140 h 397"/>
              <a:gd name="T2" fmla="*/ 1447529610 w 1460"/>
              <a:gd name="T3" fmla="*/ 0 h 397"/>
              <a:gd name="T4" fmla="*/ 2147483647 w 1460"/>
              <a:gd name="T5" fmla="*/ 931482140 h 397"/>
              <a:gd name="T6" fmla="*/ 0 60000 65536"/>
              <a:gd name="T7" fmla="*/ 0 60000 65536"/>
              <a:gd name="T8" fmla="*/ 0 60000 65536"/>
              <a:gd name="T9" fmla="*/ 0 w 1460"/>
              <a:gd name="T10" fmla="*/ 0 h 397"/>
              <a:gd name="T11" fmla="*/ 1460 w 1460"/>
              <a:gd name="T12" fmla="*/ 397 h 397"/>
            </a:gdLst>
            <a:ahLst/>
            <a:cxnLst>
              <a:cxn ang="T6">
                <a:pos x="T0" y="T1"/>
              </a:cxn>
              <a:cxn ang="T7">
                <a:pos x="T2" y="T3"/>
              </a:cxn>
              <a:cxn ang="T8">
                <a:pos x="T4" y="T5"/>
              </a:cxn>
            </a:cxnLst>
            <a:rect l="T9" t="T10" r="T11" b="T12"/>
            <a:pathLst>
              <a:path w="1460" h="397">
                <a:moveTo>
                  <a:pt x="0" y="397"/>
                </a:moveTo>
                <a:cubicBezTo>
                  <a:pt x="215" y="198"/>
                  <a:pt x="430" y="0"/>
                  <a:pt x="673" y="0"/>
                </a:cubicBezTo>
                <a:cubicBezTo>
                  <a:pt x="916" y="0"/>
                  <a:pt x="1188" y="198"/>
                  <a:pt x="1460" y="397"/>
                </a:cubicBezTo>
              </a:path>
            </a:pathLst>
          </a:custGeom>
          <a:noFill/>
          <a:ln w="28575">
            <a:solidFill>
              <a:schemeClr val="tx1"/>
            </a:solidFill>
            <a:round/>
            <a:headEnd type="triangle" w="med" len="med"/>
            <a:tailEnd/>
          </a:ln>
        </p:spPr>
        <p:txBody>
          <a:bodyPr>
            <a:prstTxWarp prst="textNoShape">
              <a:avLst/>
            </a:prstTxWarp>
          </a:bodyPr>
          <a:lstStyle/>
          <a:p>
            <a:endParaRPr lang="en-US"/>
          </a:p>
        </p:txBody>
      </p:sp>
      <p:sp>
        <p:nvSpPr>
          <p:cNvPr id="57355" name="Text Box 9"/>
          <p:cNvSpPr txBox="1">
            <a:spLocks noChangeArrowheads="1"/>
          </p:cNvSpPr>
          <p:nvPr/>
        </p:nvSpPr>
        <p:spPr bwMode="auto">
          <a:xfrm>
            <a:off x="2128838" y="2255838"/>
            <a:ext cx="1184275" cy="366712"/>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Deer</a:t>
            </a:r>
          </a:p>
        </p:txBody>
      </p:sp>
      <p:sp>
        <p:nvSpPr>
          <p:cNvPr id="57356" name="AutoShape 10"/>
          <p:cNvSpPr>
            <a:spLocks noChangeArrowheads="1"/>
          </p:cNvSpPr>
          <p:nvPr/>
        </p:nvSpPr>
        <p:spPr bwMode="auto">
          <a:xfrm>
            <a:off x="1997075" y="3606800"/>
            <a:ext cx="1506538" cy="982663"/>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57357" name="AutoShape 11"/>
          <p:cNvSpPr>
            <a:spLocks noChangeArrowheads="1"/>
          </p:cNvSpPr>
          <p:nvPr/>
        </p:nvSpPr>
        <p:spPr bwMode="auto">
          <a:xfrm>
            <a:off x="5729288" y="1944688"/>
            <a:ext cx="1506537" cy="982662"/>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57358" name="AutoShape 12"/>
          <p:cNvSpPr>
            <a:spLocks noChangeArrowheads="1"/>
          </p:cNvSpPr>
          <p:nvPr/>
        </p:nvSpPr>
        <p:spPr bwMode="auto">
          <a:xfrm>
            <a:off x="5792788" y="3589338"/>
            <a:ext cx="1506537" cy="982662"/>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57359" name="Text Box 13"/>
          <p:cNvSpPr txBox="1">
            <a:spLocks noChangeArrowheads="1"/>
          </p:cNvSpPr>
          <p:nvPr/>
        </p:nvSpPr>
        <p:spPr bwMode="auto">
          <a:xfrm>
            <a:off x="2127250" y="3941763"/>
            <a:ext cx="1184275" cy="366712"/>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Ticks</a:t>
            </a:r>
          </a:p>
        </p:txBody>
      </p:sp>
      <p:sp>
        <p:nvSpPr>
          <p:cNvPr id="57360" name="Text Box 14"/>
          <p:cNvSpPr txBox="1">
            <a:spLocks noChangeArrowheads="1"/>
          </p:cNvSpPr>
          <p:nvPr/>
        </p:nvSpPr>
        <p:spPr bwMode="auto">
          <a:xfrm>
            <a:off x="5875338" y="2033588"/>
            <a:ext cx="1184275" cy="641350"/>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Infected Deer</a:t>
            </a:r>
          </a:p>
        </p:txBody>
      </p:sp>
      <p:sp>
        <p:nvSpPr>
          <p:cNvPr id="57361" name="Text Box 15"/>
          <p:cNvSpPr txBox="1">
            <a:spLocks noChangeArrowheads="1"/>
          </p:cNvSpPr>
          <p:nvPr/>
        </p:nvSpPr>
        <p:spPr bwMode="auto">
          <a:xfrm>
            <a:off x="5835650" y="3735388"/>
            <a:ext cx="1184275" cy="641350"/>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Infected Ticks</a:t>
            </a:r>
          </a:p>
        </p:txBody>
      </p:sp>
      <p:sp>
        <p:nvSpPr>
          <p:cNvPr id="57362" name="Arc 16"/>
          <p:cNvSpPr>
            <a:spLocks/>
          </p:cNvSpPr>
          <p:nvPr/>
        </p:nvSpPr>
        <p:spPr bwMode="auto">
          <a:xfrm flipH="1" flipV="1">
            <a:off x="1281113" y="3941763"/>
            <a:ext cx="681037" cy="522287"/>
          </a:xfrm>
          <a:custGeom>
            <a:avLst/>
            <a:gdLst>
              <a:gd name="T0" fmla="*/ 0 w 26655"/>
              <a:gd name="T1" fmla="*/ 0 h 43200"/>
              <a:gd name="T2" fmla="*/ 0 w 26655"/>
              <a:gd name="T3" fmla="*/ 0 h 43200"/>
              <a:gd name="T4" fmla="*/ 0 w 26655"/>
              <a:gd name="T5" fmla="*/ 0 h 43200"/>
              <a:gd name="T6" fmla="*/ 0 60000 65536"/>
              <a:gd name="T7" fmla="*/ 0 60000 65536"/>
              <a:gd name="T8" fmla="*/ 0 60000 65536"/>
              <a:gd name="T9" fmla="*/ 0 w 26655"/>
              <a:gd name="T10" fmla="*/ 0 h 43200"/>
              <a:gd name="T11" fmla="*/ 26655 w 26655"/>
              <a:gd name="T12" fmla="*/ 43200 h 43200"/>
            </a:gdLst>
            <a:ahLst/>
            <a:cxnLst>
              <a:cxn ang="T6">
                <a:pos x="T0" y="T1"/>
              </a:cxn>
              <a:cxn ang="T7">
                <a:pos x="T2" y="T3"/>
              </a:cxn>
              <a:cxn ang="T8">
                <a:pos x="T4" y="T5"/>
              </a:cxn>
            </a:cxnLst>
            <a:rect l="T9" t="T10" r="T11" b="T12"/>
            <a:pathLst>
              <a:path w="26655" h="43200" fill="none"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path>
              <a:path w="26655" h="43200" stroke="0"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lnTo>
                  <a:pt x="5055" y="21600"/>
                </a:lnTo>
                <a:close/>
              </a:path>
            </a:pathLst>
          </a:cu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7363" name="Arc 17"/>
          <p:cNvSpPr>
            <a:spLocks/>
          </p:cNvSpPr>
          <p:nvPr/>
        </p:nvSpPr>
        <p:spPr bwMode="auto">
          <a:xfrm flipH="1" flipV="1">
            <a:off x="1281113" y="2100263"/>
            <a:ext cx="681037" cy="522287"/>
          </a:xfrm>
          <a:custGeom>
            <a:avLst/>
            <a:gdLst>
              <a:gd name="T0" fmla="*/ 0 w 26655"/>
              <a:gd name="T1" fmla="*/ 0 h 43200"/>
              <a:gd name="T2" fmla="*/ 0 w 26655"/>
              <a:gd name="T3" fmla="*/ 0 h 43200"/>
              <a:gd name="T4" fmla="*/ 0 w 26655"/>
              <a:gd name="T5" fmla="*/ 0 h 43200"/>
              <a:gd name="T6" fmla="*/ 0 60000 65536"/>
              <a:gd name="T7" fmla="*/ 0 60000 65536"/>
              <a:gd name="T8" fmla="*/ 0 60000 65536"/>
              <a:gd name="T9" fmla="*/ 0 w 26655"/>
              <a:gd name="T10" fmla="*/ 0 h 43200"/>
              <a:gd name="T11" fmla="*/ 26655 w 26655"/>
              <a:gd name="T12" fmla="*/ 43200 h 43200"/>
            </a:gdLst>
            <a:ahLst/>
            <a:cxnLst>
              <a:cxn ang="T6">
                <a:pos x="T0" y="T1"/>
              </a:cxn>
              <a:cxn ang="T7">
                <a:pos x="T2" y="T3"/>
              </a:cxn>
              <a:cxn ang="T8">
                <a:pos x="T4" y="T5"/>
              </a:cxn>
            </a:cxnLst>
            <a:rect l="T9" t="T10" r="T11" b="T12"/>
            <a:pathLst>
              <a:path w="26655" h="43200" fill="none"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path>
              <a:path w="26655" h="43200" stroke="0"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lnTo>
                  <a:pt x="5055" y="21600"/>
                </a:lnTo>
                <a:close/>
              </a:path>
            </a:pathLst>
          </a:cu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7364" name="Text Box 18"/>
          <p:cNvSpPr txBox="1">
            <a:spLocks noChangeArrowheads="1"/>
          </p:cNvSpPr>
          <p:nvPr/>
        </p:nvSpPr>
        <p:spPr bwMode="auto">
          <a:xfrm>
            <a:off x="762000" y="1530350"/>
            <a:ext cx="1597025" cy="366713"/>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Reproduction</a:t>
            </a:r>
          </a:p>
        </p:txBody>
      </p:sp>
      <p:sp>
        <p:nvSpPr>
          <p:cNvPr id="57365" name="Text Box 19"/>
          <p:cNvSpPr txBox="1">
            <a:spLocks noChangeArrowheads="1"/>
          </p:cNvSpPr>
          <p:nvPr/>
        </p:nvSpPr>
        <p:spPr bwMode="auto">
          <a:xfrm>
            <a:off x="762000" y="3240088"/>
            <a:ext cx="1597025" cy="366712"/>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Reproduction</a:t>
            </a:r>
          </a:p>
        </p:txBody>
      </p:sp>
      <p:sp>
        <p:nvSpPr>
          <p:cNvPr id="57366" name="Text Box 20"/>
          <p:cNvSpPr txBox="1">
            <a:spLocks noChangeArrowheads="1"/>
          </p:cNvSpPr>
          <p:nvPr/>
        </p:nvSpPr>
        <p:spPr bwMode="auto">
          <a:xfrm>
            <a:off x="4270375" y="3671888"/>
            <a:ext cx="1597025" cy="366712"/>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Infection</a:t>
            </a:r>
          </a:p>
        </p:txBody>
      </p:sp>
      <p:sp>
        <p:nvSpPr>
          <p:cNvPr id="57367" name="Text Box 21"/>
          <p:cNvSpPr txBox="1">
            <a:spLocks noChangeArrowheads="1"/>
          </p:cNvSpPr>
          <p:nvPr/>
        </p:nvSpPr>
        <p:spPr bwMode="auto">
          <a:xfrm>
            <a:off x="3957638" y="1944688"/>
            <a:ext cx="1597025" cy="366712"/>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Infection</a:t>
            </a:r>
          </a:p>
        </p:txBody>
      </p:sp>
      <p:sp>
        <p:nvSpPr>
          <p:cNvPr id="57368" name="Text Box 22"/>
          <p:cNvSpPr txBox="1">
            <a:spLocks noChangeArrowheads="1"/>
          </p:cNvSpPr>
          <p:nvPr/>
        </p:nvSpPr>
        <p:spPr bwMode="auto">
          <a:xfrm>
            <a:off x="3957638" y="1219200"/>
            <a:ext cx="1597025" cy="366713"/>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Recovery</a:t>
            </a:r>
          </a:p>
        </p:txBody>
      </p:sp>
      <p:sp>
        <p:nvSpPr>
          <p:cNvPr id="57369" name="AutoShape 3"/>
          <p:cNvSpPr>
            <a:spLocks noChangeArrowheads="1"/>
          </p:cNvSpPr>
          <p:nvPr/>
        </p:nvSpPr>
        <p:spPr bwMode="auto">
          <a:xfrm>
            <a:off x="1985963" y="4992688"/>
            <a:ext cx="1506537" cy="982662"/>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57370" name="AutoShape 11"/>
          <p:cNvSpPr>
            <a:spLocks noChangeArrowheads="1"/>
          </p:cNvSpPr>
          <p:nvPr/>
        </p:nvSpPr>
        <p:spPr bwMode="auto">
          <a:xfrm>
            <a:off x="5729288" y="5040313"/>
            <a:ext cx="1506537" cy="982662"/>
          </a:xfrm>
          <a:prstGeom prst="flowChartProcess">
            <a:avLst/>
          </a:prstGeom>
          <a:solidFill>
            <a:srgbClr val="000066"/>
          </a:solidFill>
          <a:ln w="9525">
            <a:solidFill>
              <a:schemeClr val="tx1"/>
            </a:solidFill>
            <a:miter lim="800000"/>
            <a:headEnd/>
            <a:tailEnd/>
          </a:ln>
        </p:spPr>
        <p:txBody>
          <a:bodyPr wrap="none" anchor="ctr">
            <a:prstTxWarp prst="textNoShape">
              <a:avLst/>
            </a:prstTxWarp>
          </a:bodyPr>
          <a:lstStyle/>
          <a:p>
            <a:endParaRPr lang="en-US"/>
          </a:p>
        </p:txBody>
      </p:sp>
      <p:sp>
        <p:nvSpPr>
          <p:cNvPr id="57371" name="Text Box 14"/>
          <p:cNvSpPr txBox="1">
            <a:spLocks noChangeArrowheads="1"/>
          </p:cNvSpPr>
          <p:nvPr/>
        </p:nvSpPr>
        <p:spPr bwMode="auto">
          <a:xfrm>
            <a:off x="5875338" y="5129213"/>
            <a:ext cx="1184275" cy="641350"/>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Infected Other</a:t>
            </a:r>
          </a:p>
        </p:txBody>
      </p:sp>
      <p:sp>
        <p:nvSpPr>
          <p:cNvPr id="57372" name="Arc 17"/>
          <p:cNvSpPr>
            <a:spLocks/>
          </p:cNvSpPr>
          <p:nvPr/>
        </p:nvSpPr>
        <p:spPr bwMode="auto">
          <a:xfrm flipH="1" flipV="1">
            <a:off x="1281113" y="5195888"/>
            <a:ext cx="681037" cy="522287"/>
          </a:xfrm>
          <a:custGeom>
            <a:avLst/>
            <a:gdLst>
              <a:gd name="T0" fmla="*/ 0 w 26655"/>
              <a:gd name="T1" fmla="*/ 0 h 43200"/>
              <a:gd name="T2" fmla="*/ 0 w 26655"/>
              <a:gd name="T3" fmla="*/ 0 h 43200"/>
              <a:gd name="T4" fmla="*/ 0 w 26655"/>
              <a:gd name="T5" fmla="*/ 0 h 43200"/>
              <a:gd name="T6" fmla="*/ 0 60000 65536"/>
              <a:gd name="T7" fmla="*/ 0 60000 65536"/>
              <a:gd name="T8" fmla="*/ 0 60000 65536"/>
              <a:gd name="T9" fmla="*/ 0 w 26655"/>
              <a:gd name="T10" fmla="*/ 0 h 43200"/>
              <a:gd name="T11" fmla="*/ 26655 w 26655"/>
              <a:gd name="T12" fmla="*/ 43200 h 43200"/>
            </a:gdLst>
            <a:ahLst/>
            <a:cxnLst>
              <a:cxn ang="T6">
                <a:pos x="T0" y="T1"/>
              </a:cxn>
              <a:cxn ang="T7">
                <a:pos x="T2" y="T3"/>
              </a:cxn>
              <a:cxn ang="T8">
                <a:pos x="T4" y="T5"/>
              </a:cxn>
            </a:cxnLst>
            <a:rect l="T9" t="T10" r="T11" b="T12"/>
            <a:pathLst>
              <a:path w="26655" h="43200" fill="none"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path>
              <a:path w="26655" h="43200" stroke="0" extrusionOk="0">
                <a:moveTo>
                  <a:pt x="-1" y="599"/>
                </a:moveTo>
                <a:cubicBezTo>
                  <a:pt x="1655" y="201"/>
                  <a:pt x="3352" y="-1"/>
                  <a:pt x="5055" y="0"/>
                </a:cubicBezTo>
                <a:cubicBezTo>
                  <a:pt x="16984" y="0"/>
                  <a:pt x="26655" y="9670"/>
                  <a:pt x="26655" y="21600"/>
                </a:cubicBezTo>
                <a:cubicBezTo>
                  <a:pt x="26655" y="33529"/>
                  <a:pt x="16984" y="43200"/>
                  <a:pt x="5055" y="43200"/>
                </a:cubicBezTo>
                <a:cubicBezTo>
                  <a:pt x="4987" y="43199"/>
                  <a:pt x="4920" y="43199"/>
                  <a:pt x="4852" y="43199"/>
                </a:cubicBezTo>
                <a:lnTo>
                  <a:pt x="5055" y="21600"/>
                </a:lnTo>
                <a:close/>
              </a:path>
            </a:pathLst>
          </a:custGeom>
          <a:noFill/>
          <a:ln w="9525">
            <a:solidFill>
              <a:schemeClr val="tx1"/>
            </a:solidFill>
            <a:round/>
            <a:headEnd/>
            <a:tailEnd type="triangle" w="med" len="med"/>
          </a:ln>
        </p:spPr>
        <p:txBody>
          <a:bodyPr wrap="none" anchor="ctr">
            <a:prstTxWarp prst="textNoShape">
              <a:avLst/>
            </a:prstTxWarp>
          </a:bodyPr>
          <a:lstStyle/>
          <a:p>
            <a:endParaRPr lang="en-US"/>
          </a:p>
        </p:txBody>
      </p:sp>
      <p:sp>
        <p:nvSpPr>
          <p:cNvPr id="57373" name="Text Box 18"/>
          <p:cNvSpPr txBox="1">
            <a:spLocks noChangeArrowheads="1"/>
          </p:cNvSpPr>
          <p:nvPr/>
        </p:nvSpPr>
        <p:spPr bwMode="auto">
          <a:xfrm>
            <a:off x="762000" y="4625975"/>
            <a:ext cx="1597025" cy="366713"/>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Reproduction</a:t>
            </a:r>
          </a:p>
        </p:txBody>
      </p:sp>
      <p:sp>
        <p:nvSpPr>
          <p:cNvPr id="57374" name="Text Box 21"/>
          <p:cNvSpPr txBox="1">
            <a:spLocks noChangeArrowheads="1"/>
          </p:cNvSpPr>
          <p:nvPr/>
        </p:nvSpPr>
        <p:spPr bwMode="auto">
          <a:xfrm>
            <a:off x="4270375" y="5181600"/>
            <a:ext cx="1597025" cy="366713"/>
          </a:xfrm>
          <a:prstGeom prst="rect">
            <a:avLst/>
          </a:prstGeom>
          <a:noFill/>
          <a:ln w="9525">
            <a:noFill/>
            <a:miter lim="800000"/>
            <a:headEnd/>
            <a:tailEnd/>
          </a:ln>
        </p:spPr>
        <p:txBody>
          <a:bodyPr>
            <a:prstTxWarp prst="textNoShape">
              <a:avLst/>
            </a:prstTxWarp>
            <a:spAutoFit/>
          </a:bodyPr>
          <a:lstStyle/>
          <a:p>
            <a:pPr>
              <a:spcBef>
                <a:spcPct val="50000"/>
              </a:spcBef>
            </a:pPr>
            <a:r>
              <a:rPr lang="en-US" sz="1800">
                <a:solidFill>
                  <a:srgbClr val="000066"/>
                </a:solidFill>
                <a:latin typeface="Comic Sans MS" charset="0"/>
              </a:rPr>
              <a:t>Infection</a:t>
            </a:r>
          </a:p>
        </p:txBody>
      </p:sp>
      <p:sp>
        <p:nvSpPr>
          <p:cNvPr id="57375" name="Text Box 9"/>
          <p:cNvSpPr txBox="1">
            <a:spLocks noChangeArrowheads="1"/>
          </p:cNvSpPr>
          <p:nvPr/>
        </p:nvSpPr>
        <p:spPr bwMode="auto">
          <a:xfrm>
            <a:off x="2133600" y="5275263"/>
            <a:ext cx="1184275" cy="366712"/>
          </a:xfrm>
          <a:prstGeom prst="rect">
            <a:avLst/>
          </a:prstGeom>
          <a:noFill/>
          <a:ln w="9525">
            <a:noFill/>
            <a:miter lim="800000"/>
            <a:headEnd/>
            <a:tailEnd/>
          </a:ln>
        </p:spPr>
        <p:txBody>
          <a:bodyPr>
            <a:prstTxWarp prst="textNoShape">
              <a:avLst/>
            </a:prstTxWarp>
            <a:spAutoFit/>
          </a:bodyPr>
          <a:lstStyle/>
          <a:p>
            <a:pPr algn="ctr">
              <a:spcBef>
                <a:spcPct val="50000"/>
              </a:spcBef>
            </a:pPr>
            <a:r>
              <a:rPr lang="en-US" sz="1800">
                <a:solidFill>
                  <a:srgbClr val="FFFFFF"/>
                </a:solidFill>
                <a:latin typeface="Comic Sans MS" charset="0"/>
              </a:rPr>
              <a:t>Other</a:t>
            </a:r>
          </a:p>
        </p:txBody>
      </p:sp>
      <p:sp>
        <p:nvSpPr>
          <p:cNvPr id="57376" name="Line 5"/>
          <p:cNvSpPr>
            <a:spLocks noChangeShapeType="1"/>
          </p:cNvSpPr>
          <p:nvPr/>
        </p:nvSpPr>
        <p:spPr bwMode="auto">
          <a:xfrm>
            <a:off x="3505200" y="5562600"/>
            <a:ext cx="2247900" cy="0"/>
          </a:xfrm>
          <a:prstGeom prst="line">
            <a:avLst/>
          </a:prstGeom>
          <a:noFill/>
          <a:ln w="28575">
            <a:solidFill>
              <a:schemeClr val="tx1"/>
            </a:solidFill>
            <a:round/>
            <a:headEnd/>
            <a:tailEnd type="triangle" w="med" len="med"/>
          </a:ln>
        </p:spPr>
        <p:txBody>
          <a:bodyPr>
            <a:prstTxWarp prst="textNoShape">
              <a:avLst/>
            </a:prstTxWarp>
          </a:bodyP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t>Other hosts</a:t>
            </a:r>
          </a:p>
        </p:txBody>
      </p:sp>
      <p:sp>
        <p:nvSpPr>
          <p:cNvPr id="3" name="Content Placeholder 2"/>
          <p:cNvSpPr>
            <a:spLocks noGrp="1"/>
          </p:cNvSpPr>
          <p:nvPr>
            <p:ph idx="1"/>
          </p:nvPr>
        </p:nvSpPr>
        <p:spPr/>
        <p:txBody>
          <a:bodyPr>
            <a:normAutofit/>
          </a:bodyPr>
          <a:lstStyle/>
          <a:p>
            <a:pPr>
              <a:defRPr/>
            </a:pPr>
            <a:r>
              <a:rPr lang="en-US" dirty="0"/>
              <a:t>ID #: unique identifier for each host</a:t>
            </a:r>
          </a:p>
          <a:p>
            <a:pPr>
              <a:defRPr/>
            </a:pPr>
            <a:r>
              <a:rPr lang="en-US" dirty="0"/>
              <a:t>age: # of days</a:t>
            </a:r>
          </a:p>
          <a:p>
            <a:pPr>
              <a:defRPr/>
            </a:pPr>
            <a:r>
              <a:rPr lang="en-US" dirty="0"/>
              <a:t>ticks: list of all ticks on host at current time by ID #</a:t>
            </a:r>
          </a:p>
          <a:p>
            <a:pPr>
              <a:defRPr/>
            </a:pPr>
            <a:r>
              <a:rPr lang="en-US" dirty="0"/>
              <a:t>ticks ever: sum of all ticks ever on host</a:t>
            </a:r>
          </a:p>
          <a:p>
            <a:pPr>
              <a:defRPr/>
            </a:pPr>
            <a:r>
              <a:rPr lang="en-US" dirty="0"/>
              <a:t>infection status: susceptible, infectious, immune</a:t>
            </a:r>
          </a:p>
        </p:txBody>
      </p:sp>
      <p:sp>
        <p:nvSpPr>
          <p:cNvPr id="32772" name="Slide Number Placeholder 3"/>
          <p:cNvSpPr>
            <a:spLocks noGrp="1"/>
          </p:cNvSpPr>
          <p:nvPr>
            <p:ph type="sldNum" sz="quarter" idx="10"/>
          </p:nvPr>
        </p:nvSpPr>
        <p:spPr>
          <a:noFill/>
        </p:spPr>
        <p:txBody>
          <a:bodyPr/>
          <a:lstStyle/>
          <a:p>
            <a:fld id="{4E66F8E4-6F6D-6447-A559-8138207D7F46}"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Deer (high) and Hosts (low)</a:t>
            </a:r>
          </a:p>
        </p:txBody>
      </p:sp>
      <p:pic>
        <p:nvPicPr>
          <p:cNvPr id="5" name="Content Placeholder 4" descr="deer_high_host_low.png"/>
          <p:cNvPicPr>
            <a:picLocks noGrp="1" noChangeAspect="1"/>
          </p:cNvPicPr>
          <p:nvPr>
            <p:ph idx="1"/>
          </p:nvPr>
        </p:nvPicPr>
        <p:blipFill>
          <a:blip r:embed="rId2"/>
          <a:srcRect l="570" t="38562" r="69748" b="22222"/>
          <a:stretch>
            <a:fillRect/>
          </a:stretch>
        </p:blipFill>
        <p:spPr>
          <a:xfrm>
            <a:off x="2743200" y="1981200"/>
            <a:ext cx="3733800" cy="4114800"/>
          </a:xfrm>
        </p:spPr>
      </p:pic>
      <p:sp>
        <p:nvSpPr>
          <p:cNvPr id="4" name="Slide Number Placeholder 3"/>
          <p:cNvSpPr>
            <a:spLocks noGrp="1"/>
          </p:cNvSpPr>
          <p:nvPr>
            <p:ph type="sldNum" sz="quarter" idx="10"/>
          </p:nvPr>
        </p:nvSpPr>
        <p:spPr/>
        <p:txBody>
          <a:bodyPr/>
          <a:lstStyle/>
          <a:p>
            <a:pPr>
              <a:defRPr/>
            </a:pPr>
            <a:fld id="{4CD9C8C6-16A2-AC41-A9D0-48B9AC4707E2}"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Deer (low) and Hosts (high)</a:t>
            </a:r>
          </a:p>
        </p:txBody>
      </p:sp>
      <p:pic>
        <p:nvPicPr>
          <p:cNvPr id="5" name="Content Placeholder 4" descr="deer_low_host_high.png"/>
          <p:cNvPicPr>
            <a:picLocks noGrp="1" noChangeAspect="1"/>
          </p:cNvPicPr>
          <p:nvPr>
            <p:ph idx="1"/>
          </p:nvPr>
        </p:nvPicPr>
        <p:blipFill>
          <a:blip r:embed="rId2"/>
          <a:srcRect l="570" t="38337" r="69620" b="25926"/>
          <a:stretch>
            <a:fillRect/>
          </a:stretch>
        </p:blipFill>
        <p:spPr>
          <a:xfrm>
            <a:off x="2514600" y="2057400"/>
            <a:ext cx="4191000" cy="4191000"/>
          </a:xfrm>
        </p:spPr>
      </p:pic>
      <p:sp>
        <p:nvSpPr>
          <p:cNvPr id="4" name="Slide Number Placeholder 3"/>
          <p:cNvSpPr>
            <a:spLocks noGrp="1"/>
          </p:cNvSpPr>
          <p:nvPr>
            <p:ph type="sldNum" sz="quarter" idx="10"/>
          </p:nvPr>
        </p:nvSpPr>
        <p:spPr/>
        <p:txBody>
          <a:bodyPr/>
          <a:lstStyle/>
          <a:p>
            <a:pPr>
              <a:defRPr/>
            </a:pPr>
            <a:fld id="{4CD9C8C6-16A2-AC41-A9D0-48B9AC4707E2}"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t>Time to extinction</a:t>
            </a:r>
          </a:p>
        </p:txBody>
      </p:sp>
      <p:sp>
        <p:nvSpPr>
          <p:cNvPr id="64515" name="Slide Number Placeholder 3"/>
          <p:cNvSpPr>
            <a:spLocks noGrp="1"/>
          </p:cNvSpPr>
          <p:nvPr>
            <p:ph type="sldNum" sz="quarter" idx="10"/>
          </p:nvPr>
        </p:nvSpPr>
        <p:spPr>
          <a:noFill/>
        </p:spPr>
        <p:txBody>
          <a:bodyPr/>
          <a:lstStyle/>
          <a:p>
            <a:fld id="{91FDC171-3192-6344-855E-0592E02B6CBF}" type="slidenum">
              <a:rPr lang="en-US" smtClean="0"/>
              <a:pPr/>
              <a:t>47</a:t>
            </a:fld>
            <a:endParaRPr lang="en-US"/>
          </a:p>
        </p:txBody>
      </p:sp>
      <p:sp>
        <p:nvSpPr>
          <p:cNvPr id="6" name="Content Placeholder 5"/>
          <p:cNvSpPr>
            <a:spLocks noGrp="1"/>
          </p:cNvSpPr>
          <p:nvPr>
            <p:ph idx="1"/>
          </p:nvPr>
        </p:nvSpPr>
        <p:spPr/>
        <p:txBody>
          <a:bodyPr>
            <a:normAutofit fontScale="92500" lnSpcReduction="10000"/>
          </a:bodyPr>
          <a:lstStyle/>
          <a:p>
            <a:pPr>
              <a:defRPr/>
            </a:pPr>
            <a:r>
              <a:rPr lang="en-US" dirty="0"/>
              <a:t>Average time to loss of disease without recovery</a:t>
            </a:r>
          </a:p>
          <a:p>
            <a:pPr lvl="1">
              <a:defRPr/>
            </a:pPr>
            <a:r>
              <a:rPr lang="en-US" dirty="0"/>
              <a:t>20 years</a:t>
            </a:r>
          </a:p>
          <a:p>
            <a:pPr>
              <a:defRPr/>
            </a:pPr>
            <a:r>
              <a:rPr lang="en-US" dirty="0"/>
              <a:t>Average time to loss of disease with recovery in all hosts except deer</a:t>
            </a:r>
          </a:p>
          <a:p>
            <a:pPr lvl="1">
              <a:defRPr/>
            </a:pPr>
            <a:r>
              <a:rPr lang="en-US" dirty="0"/>
              <a:t>5 years</a:t>
            </a:r>
          </a:p>
          <a:p>
            <a:pPr>
              <a:defRPr/>
            </a:pPr>
            <a:r>
              <a:rPr lang="en-US" dirty="0"/>
              <a:t>Average time to loss of disease with recovery in deer but not other hosts</a:t>
            </a:r>
          </a:p>
          <a:p>
            <a:pPr lvl="1">
              <a:defRPr/>
            </a:pPr>
            <a:r>
              <a:rPr lang="en-US" dirty="0"/>
              <a:t>2 years</a:t>
            </a:r>
          </a:p>
          <a:p>
            <a:pPr lvl="1">
              <a:defRPr/>
            </a:pPr>
            <a:endParaRPr lang="en-US" dirty="0"/>
          </a:p>
          <a:p>
            <a:pPr>
              <a:defRPr/>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5"/>
          <p:cNvSpPr>
            <a:spLocks noGrp="1"/>
          </p:cNvSpPr>
          <p:nvPr>
            <p:ph type="title"/>
          </p:nvPr>
        </p:nvSpPr>
        <p:spPr/>
        <p:txBody>
          <a:bodyPr/>
          <a:lstStyle/>
          <a:p>
            <a:r>
              <a:rPr lang="en-US"/>
              <a:t>Additional benefits of IBM</a:t>
            </a:r>
          </a:p>
        </p:txBody>
      </p:sp>
      <p:sp>
        <p:nvSpPr>
          <p:cNvPr id="65539" name="Content Placeholder 6"/>
          <p:cNvSpPr>
            <a:spLocks noGrp="1"/>
          </p:cNvSpPr>
          <p:nvPr>
            <p:ph idx="1"/>
          </p:nvPr>
        </p:nvSpPr>
        <p:spPr/>
        <p:txBody>
          <a:bodyPr/>
          <a:lstStyle/>
          <a:p>
            <a:r>
              <a:rPr lang="en-US"/>
              <a:t>Can assign variable parameter values</a:t>
            </a:r>
          </a:p>
          <a:p>
            <a:r>
              <a:rPr lang="en-US"/>
              <a:t>IBM does provide much needed ability to track only questing ticks directly</a:t>
            </a:r>
          </a:p>
          <a:p>
            <a:r>
              <a:rPr lang="en-US"/>
              <a:t>Useful to compare with field data</a:t>
            </a:r>
          </a:p>
        </p:txBody>
      </p:sp>
      <p:sp>
        <p:nvSpPr>
          <p:cNvPr id="65540" name="Slide Number Placeholder 4"/>
          <p:cNvSpPr>
            <a:spLocks noGrp="1"/>
          </p:cNvSpPr>
          <p:nvPr>
            <p:ph type="sldNum" sz="quarter" idx="10"/>
          </p:nvPr>
        </p:nvSpPr>
        <p:spPr>
          <a:noFill/>
        </p:spPr>
        <p:txBody>
          <a:bodyPr/>
          <a:lstStyle/>
          <a:p>
            <a:fld id="{E6F660B9-B361-0E49-A03D-7111FF21CD70}"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t>Results</a:t>
            </a:r>
          </a:p>
        </p:txBody>
      </p:sp>
      <p:pic>
        <p:nvPicPr>
          <p:cNvPr id="66563" name="Content Placeholder 4" descr="questing.png"/>
          <p:cNvPicPr>
            <a:picLocks noGrp="1" noChangeAspect="1"/>
          </p:cNvPicPr>
          <p:nvPr>
            <p:ph idx="1"/>
          </p:nvPr>
        </p:nvPicPr>
        <p:blipFill>
          <a:blip r:embed="rId2"/>
          <a:srcRect l="-14326" r="-14326"/>
          <a:stretch>
            <a:fillRect/>
          </a:stretch>
        </p:blipFill>
        <p:spPr/>
      </p:pic>
      <p:sp>
        <p:nvSpPr>
          <p:cNvPr id="66564" name="Slide Number Placeholder 3"/>
          <p:cNvSpPr>
            <a:spLocks noGrp="1"/>
          </p:cNvSpPr>
          <p:nvPr>
            <p:ph type="sldNum" sz="quarter" idx="10"/>
          </p:nvPr>
        </p:nvSpPr>
        <p:spPr>
          <a:noFill/>
        </p:spPr>
        <p:txBody>
          <a:bodyPr/>
          <a:lstStyle/>
          <a:p>
            <a:fld id="{B2D7D968-8DC2-2B47-8975-329402DF4110}"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t>Lone Star Ticks</a:t>
            </a:r>
          </a:p>
        </p:txBody>
      </p:sp>
      <p:sp>
        <p:nvSpPr>
          <p:cNvPr id="67587" name="Slide Number Placeholder 3"/>
          <p:cNvSpPr>
            <a:spLocks noGrp="1"/>
          </p:cNvSpPr>
          <p:nvPr>
            <p:ph type="sldNum" sz="quarter" idx="10"/>
          </p:nvPr>
        </p:nvSpPr>
        <p:spPr>
          <a:noFill/>
        </p:spPr>
        <p:txBody>
          <a:bodyPr/>
          <a:lstStyle/>
          <a:p>
            <a:fld id="{BAF81806-B92A-C74D-A1CA-1825BCA9DAA1}" type="slidenum">
              <a:rPr lang="en-US" smtClean="0"/>
              <a:pPr/>
              <a:t>50</a:t>
            </a:fld>
            <a:endParaRPr lang="en-US"/>
          </a:p>
        </p:txBody>
      </p:sp>
      <p:sp>
        <p:nvSpPr>
          <p:cNvPr id="5" name="Content Placeholder 4"/>
          <p:cNvSpPr>
            <a:spLocks noGrp="1"/>
          </p:cNvSpPr>
          <p:nvPr>
            <p:ph idx="1"/>
          </p:nvPr>
        </p:nvSpPr>
        <p:spPr/>
        <p:txBody>
          <a:bodyPr/>
          <a:lstStyle/>
          <a:p>
            <a:endParaRPr lang="en-US"/>
          </a:p>
        </p:txBody>
      </p:sp>
      <p:graphicFrame>
        <p:nvGraphicFramePr>
          <p:cNvPr id="7" name="Chart 6"/>
          <p:cNvGraphicFramePr/>
          <p:nvPr/>
        </p:nvGraphicFramePr>
        <p:xfrm>
          <a:off x="609600" y="1600200"/>
          <a:ext cx="7683500" cy="46863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t>Conclusions</a:t>
            </a:r>
          </a:p>
        </p:txBody>
      </p:sp>
      <p:sp>
        <p:nvSpPr>
          <p:cNvPr id="68611" name="Content Placeholder 2"/>
          <p:cNvSpPr>
            <a:spLocks noGrp="1"/>
          </p:cNvSpPr>
          <p:nvPr>
            <p:ph idx="1"/>
          </p:nvPr>
        </p:nvSpPr>
        <p:spPr/>
        <p:txBody>
          <a:bodyPr/>
          <a:lstStyle/>
          <a:p>
            <a:r>
              <a:rPr lang="en-US"/>
              <a:t>Provides insights into disease dynamics</a:t>
            </a:r>
          </a:p>
          <a:p>
            <a:r>
              <a:rPr lang="en-US"/>
              <a:t>Useful in identifying key data gaps</a:t>
            </a:r>
          </a:p>
          <a:p>
            <a:r>
              <a:rPr lang="en-US"/>
              <a:t>Need more runs of ABM to truly compare with population level approach</a:t>
            </a:r>
          </a:p>
        </p:txBody>
      </p:sp>
      <p:sp>
        <p:nvSpPr>
          <p:cNvPr id="68612" name="Slide Number Placeholder 3"/>
          <p:cNvSpPr>
            <a:spLocks noGrp="1"/>
          </p:cNvSpPr>
          <p:nvPr>
            <p:ph type="sldNum" sz="quarter" idx="10"/>
          </p:nvPr>
        </p:nvSpPr>
        <p:spPr>
          <a:noFill/>
        </p:spPr>
        <p:txBody>
          <a:bodyPr/>
          <a:lstStyle/>
          <a:p>
            <a:fld id="{164569D4-2ACE-C24F-9D80-FF260BD00053}"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r>
              <a:rPr lang="en-US"/>
              <a:t>Conclusions</a:t>
            </a:r>
          </a:p>
        </p:txBody>
      </p:sp>
      <p:sp>
        <p:nvSpPr>
          <p:cNvPr id="57347" name="Content Placeholder 2"/>
          <p:cNvSpPr>
            <a:spLocks noGrp="1"/>
          </p:cNvSpPr>
          <p:nvPr>
            <p:ph idx="1"/>
          </p:nvPr>
        </p:nvSpPr>
        <p:spPr/>
        <p:txBody>
          <a:bodyPr>
            <a:normAutofit/>
          </a:bodyPr>
          <a:lstStyle/>
          <a:p>
            <a:pPr>
              <a:defRPr/>
            </a:pPr>
            <a:r>
              <a:rPr lang="en-US" dirty="0"/>
              <a:t>Infectivity and recovery are important to identify for hosts</a:t>
            </a:r>
          </a:p>
          <a:p>
            <a:pPr>
              <a:defRPr/>
            </a:pPr>
            <a:r>
              <a:rPr lang="en-US" dirty="0"/>
              <a:t>No easy solution to reducing risk of tick-borne disease </a:t>
            </a:r>
          </a:p>
        </p:txBody>
      </p:sp>
      <p:sp>
        <p:nvSpPr>
          <p:cNvPr id="69636" name="Slide Number Placeholder 3"/>
          <p:cNvSpPr>
            <a:spLocks noGrp="1"/>
          </p:cNvSpPr>
          <p:nvPr>
            <p:ph type="sldNum" sz="quarter" idx="10"/>
          </p:nvPr>
        </p:nvSpPr>
        <p:spPr>
          <a:noFill/>
        </p:spPr>
        <p:txBody>
          <a:bodyPr/>
          <a:lstStyle/>
          <a:p>
            <a:fld id="{295623AA-186E-D740-9CB5-F4669219C4AF}"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t>Acknowledgements</a:t>
            </a:r>
          </a:p>
        </p:txBody>
      </p:sp>
      <p:sp>
        <p:nvSpPr>
          <p:cNvPr id="59395" name="Content Placeholder 2"/>
          <p:cNvSpPr>
            <a:spLocks noGrp="1"/>
          </p:cNvSpPr>
          <p:nvPr>
            <p:ph idx="1"/>
          </p:nvPr>
        </p:nvSpPr>
        <p:spPr/>
        <p:txBody>
          <a:bodyPr>
            <a:normAutofit fontScale="92500" lnSpcReduction="10000"/>
          </a:bodyPr>
          <a:lstStyle/>
          <a:p>
            <a:pPr>
              <a:lnSpc>
                <a:spcPct val="80000"/>
              </a:lnSpc>
              <a:defRPr/>
            </a:pPr>
            <a:r>
              <a:rPr lang="en-US" sz="2800" dirty="0"/>
              <a:t>Steve </a:t>
            </a:r>
            <a:r>
              <a:rPr lang="en-US" sz="2800" dirty="0" err="1"/>
              <a:t>Dumler</a:t>
            </a:r>
            <a:r>
              <a:rPr lang="en-US" sz="2800" dirty="0"/>
              <a:t>, Dan </a:t>
            </a:r>
            <a:r>
              <a:rPr lang="en-US" sz="2800" dirty="0" err="1"/>
              <a:t>Sonenshine</a:t>
            </a:r>
            <a:r>
              <a:rPr lang="en-US" sz="2800" dirty="0"/>
              <a:t>, Rick </a:t>
            </a:r>
            <a:r>
              <a:rPr lang="en-US" sz="2800" dirty="0" err="1"/>
              <a:t>Ostfeld</a:t>
            </a:r>
            <a:r>
              <a:rPr lang="en-US" sz="2800" dirty="0"/>
              <a:t>, Abdu Azad, Denise </a:t>
            </a:r>
            <a:r>
              <a:rPr lang="en-US" sz="2800" dirty="0" err="1"/>
              <a:t>Kirschner</a:t>
            </a:r>
            <a:r>
              <a:rPr lang="en-US" sz="2800" dirty="0"/>
              <a:t>, Elsa Schaefer, Lou Gross</a:t>
            </a:r>
          </a:p>
          <a:p>
            <a:pPr>
              <a:lnSpc>
                <a:spcPct val="80000"/>
              </a:lnSpc>
              <a:defRPr/>
            </a:pPr>
            <a:r>
              <a:rPr lang="en-US" sz="2800" dirty="0"/>
              <a:t>Wayne Hynes, Emily </a:t>
            </a:r>
            <a:r>
              <a:rPr lang="en-US" sz="2800" dirty="0" err="1"/>
              <a:t>Pauler</a:t>
            </a:r>
            <a:r>
              <a:rPr lang="en-US" sz="2800" dirty="0"/>
              <a:t>, Matt Benz, Joy Boyles, Robyn </a:t>
            </a:r>
            <a:r>
              <a:rPr lang="en-US" sz="2800" dirty="0" err="1"/>
              <a:t>Nadolny</a:t>
            </a:r>
            <a:r>
              <a:rPr lang="en-US" sz="2800" dirty="0"/>
              <a:t>, Ryan Wright, Brandon Rowan, Amanda Simmons, Chelsea Wright</a:t>
            </a:r>
          </a:p>
          <a:p>
            <a:pPr>
              <a:lnSpc>
                <a:spcPct val="80000"/>
              </a:lnSpc>
              <a:defRPr/>
            </a:pPr>
            <a:r>
              <a:rPr lang="en-US" sz="2800" dirty="0"/>
              <a:t>Supported by Grant Number K25AI067791 from the National Institute Of Allergy And Infectious Diseases. The content is solely the responsibility of the author and does not necessarily represent the official views of the National Institute Of Allergy And Infectious Diseases or the National Institutes of Health.</a:t>
            </a:r>
          </a:p>
        </p:txBody>
      </p:sp>
      <p:sp>
        <p:nvSpPr>
          <p:cNvPr id="70660" name="Slide Number Placeholder 3"/>
          <p:cNvSpPr>
            <a:spLocks noGrp="1"/>
          </p:cNvSpPr>
          <p:nvPr>
            <p:ph type="sldNum" sz="quarter" idx="10"/>
          </p:nvPr>
        </p:nvSpPr>
        <p:spPr>
          <a:noFill/>
        </p:spPr>
        <p:txBody>
          <a:bodyPr/>
          <a:lstStyle/>
          <a:p>
            <a:fld id="{A1FB8A4A-D4CA-204C-A345-E49D637E3ABC}"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Epidemiology Example</a:t>
            </a:r>
          </a:p>
        </p:txBody>
      </p:sp>
      <p:sp>
        <p:nvSpPr>
          <p:cNvPr id="36867" name="Rectangle 3"/>
          <p:cNvSpPr>
            <a:spLocks noGrp="1" noChangeArrowheads="1"/>
          </p:cNvSpPr>
          <p:nvPr>
            <p:ph type="body" idx="1"/>
          </p:nvPr>
        </p:nvSpPr>
        <p:spPr/>
        <p:txBody>
          <a:bodyPr/>
          <a:lstStyle/>
          <a:p>
            <a:pPr>
              <a:buFont typeface="Wingdings" charset="2"/>
              <a:buNone/>
            </a:pPr>
            <a:r>
              <a:rPr lang="en-US"/>
              <a:t>What is the most cost effective way to prevent the spread of methicillin-resistant </a:t>
            </a:r>
            <a:r>
              <a:rPr lang="en-US" i="1"/>
              <a:t>Staphylococcus aureus</a:t>
            </a:r>
            <a:r>
              <a:rPr lang="en-US"/>
              <a:t> (MRSA) within a 10-bed intensive care unit (ICU)?</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Grp="1" noChangeArrowheads="1"/>
          </p:cNvSpPr>
          <p:nvPr>
            <p:ph type="title"/>
          </p:nvPr>
        </p:nvSpPr>
        <p:spPr/>
        <p:txBody>
          <a:bodyPr/>
          <a:lstStyle/>
          <a:p>
            <a:r>
              <a:rPr lang="en-US"/>
              <a:t>MRSA in ICU</a:t>
            </a:r>
          </a:p>
        </p:txBody>
      </p:sp>
      <p:sp>
        <p:nvSpPr>
          <p:cNvPr id="31750" name="Rectangle 6"/>
          <p:cNvSpPr>
            <a:spLocks noGrp="1" noChangeArrowheads="1"/>
          </p:cNvSpPr>
          <p:nvPr>
            <p:ph type="body" idx="1"/>
          </p:nvPr>
        </p:nvSpPr>
        <p:spPr/>
        <p:txBody>
          <a:bodyPr/>
          <a:lstStyle/>
          <a:p>
            <a:r>
              <a:rPr lang="en-US"/>
              <a:t>MRSA in hospitalized patients is an increasing nosocomial problem</a:t>
            </a:r>
          </a:p>
          <a:p>
            <a:r>
              <a:rPr lang="en-US"/>
              <a:t>Patient-to-patient transmission in ICU populations is thought to be a great contributor</a:t>
            </a:r>
          </a:p>
          <a:p>
            <a:r>
              <a:rPr lang="en-US"/>
              <a:t>Transmission of MRSA may be reduced through isolation of colonized individuals.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t>Infection</a:t>
            </a:r>
            <a:r>
              <a:rPr lang="en-US" b="1"/>
              <a:t> </a:t>
            </a:r>
            <a:r>
              <a:rPr lang="en-US"/>
              <a:t>control</a:t>
            </a:r>
            <a:r>
              <a:rPr lang="en-US" b="1"/>
              <a:t> </a:t>
            </a:r>
            <a:r>
              <a:rPr lang="en-US"/>
              <a:t>strategies</a:t>
            </a:r>
          </a:p>
        </p:txBody>
      </p:sp>
      <p:sp>
        <p:nvSpPr>
          <p:cNvPr id="35843" name="Rectangle 3"/>
          <p:cNvSpPr>
            <a:spLocks noGrp="1" noChangeArrowheads="1"/>
          </p:cNvSpPr>
          <p:nvPr>
            <p:ph type="body" idx="1"/>
          </p:nvPr>
        </p:nvSpPr>
        <p:spPr/>
        <p:txBody>
          <a:bodyPr/>
          <a:lstStyle/>
          <a:p>
            <a:pPr>
              <a:lnSpc>
                <a:spcPct val="90000"/>
              </a:lnSpc>
            </a:pPr>
            <a:r>
              <a:rPr lang="en-US" sz="2400"/>
              <a:t>Passive Surveillance isolation of only those patients with a history of MRSA colonization or infection</a:t>
            </a:r>
          </a:p>
          <a:p>
            <a:pPr>
              <a:lnSpc>
                <a:spcPct val="90000"/>
              </a:lnSpc>
            </a:pPr>
            <a:r>
              <a:rPr lang="en-US" sz="2400"/>
              <a:t>Active surveillance using anterior nares cultures, with isolation when cultures return positive in a mean of 48 hours (a “innocent until proven guilty” strategy)</a:t>
            </a:r>
          </a:p>
          <a:p>
            <a:pPr>
              <a:lnSpc>
                <a:spcPct val="90000"/>
              </a:lnSpc>
            </a:pPr>
            <a:r>
              <a:rPr lang="en-US" sz="2400"/>
              <a:t>Active surveillance using a rapid-test with 8-hour return time </a:t>
            </a:r>
          </a:p>
          <a:p>
            <a:pPr>
              <a:lnSpc>
                <a:spcPct val="90000"/>
              </a:lnSpc>
            </a:pPr>
            <a:r>
              <a:rPr lang="en-US" sz="2400"/>
              <a:t>Active surveillance with immediate isolation and removal from isolation when standard 48-hour active surveillance cultures return negative (a “guilty until proven innocent” strategy).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t>So what do we do?</a:t>
            </a:r>
          </a:p>
        </p:txBody>
      </p:sp>
      <p:sp>
        <p:nvSpPr>
          <p:cNvPr id="40963" name="Rectangle 3"/>
          <p:cNvSpPr>
            <a:spLocks noGrp="1" noChangeArrowheads="1"/>
          </p:cNvSpPr>
          <p:nvPr>
            <p:ph type="body" idx="1"/>
          </p:nvPr>
        </p:nvSpPr>
        <p:spPr/>
        <p:txBody>
          <a:bodyPr/>
          <a:lstStyle/>
          <a:p>
            <a:r>
              <a:rPr lang="en-US"/>
              <a:t>How do we want to set up this problem?</a:t>
            </a:r>
          </a:p>
          <a:p>
            <a:r>
              <a:rPr lang="en-US"/>
              <a:t>Should we use an IBM? Why or why not?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t>Ok, we want an IBM…</a:t>
            </a:r>
          </a:p>
        </p:txBody>
      </p:sp>
      <p:sp>
        <p:nvSpPr>
          <p:cNvPr id="41987" name="Rectangle 3"/>
          <p:cNvSpPr>
            <a:spLocks noGrp="1" noChangeArrowheads="1"/>
          </p:cNvSpPr>
          <p:nvPr>
            <p:ph type="body" idx="1"/>
          </p:nvPr>
        </p:nvSpPr>
        <p:spPr/>
        <p:txBody>
          <a:bodyPr/>
          <a:lstStyle/>
          <a:p>
            <a:r>
              <a:rPr lang="en-US"/>
              <a:t>What is the environment?</a:t>
            </a:r>
          </a:p>
          <a:p>
            <a:r>
              <a:rPr lang="en-US"/>
              <a:t>What is an “individual”?</a:t>
            </a:r>
          </a:p>
          <a:p>
            <a:r>
              <a:rPr lang="en-US"/>
              <a:t>What are the rules?</a:t>
            </a:r>
          </a:p>
          <a:p>
            <a:r>
              <a:rPr lang="en-US"/>
              <a:t>What are we measuring?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Set up IBM</a:t>
            </a:r>
          </a:p>
        </p:txBody>
      </p:sp>
      <p:sp>
        <p:nvSpPr>
          <p:cNvPr id="37891" name="Rectangle 3"/>
          <p:cNvSpPr>
            <a:spLocks noGrp="1" noChangeArrowheads="1"/>
          </p:cNvSpPr>
          <p:nvPr>
            <p:ph type="body" idx="1"/>
          </p:nvPr>
        </p:nvSpPr>
        <p:spPr/>
        <p:txBody>
          <a:bodyPr/>
          <a:lstStyle/>
          <a:p>
            <a:pPr>
              <a:lnSpc>
                <a:spcPct val="90000"/>
              </a:lnSpc>
            </a:pPr>
            <a:r>
              <a:rPr lang="en-US" sz="2800"/>
              <a:t>Environment – hospital ward</a:t>
            </a:r>
          </a:p>
          <a:p>
            <a:pPr lvl="1">
              <a:lnSpc>
                <a:spcPct val="90000"/>
              </a:lnSpc>
            </a:pPr>
            <a:r>
              <a:rPr lang="en-US" sz="2400"/>
              <a:t>What parameters do we need here?</a:t>
            </a:r>
          </a:p>
          <a:p>
            <a:pPr>
              <a:lnSpc>
                <a:spcPct val="90000"/>
              </a:lnSpc>
            </a:pPr>
            <a:r>
              <a:rPr lang="en-US" sz="2800"/>
              <a:t>Individuals – patients</a:t>
            </a:r>
          </a:p>
          <a:p>
            <a:pPr lvl="1">
              <a:lnSpc>
                <a:spcPct val="90000"/>
              </a:lnSpc>
            </a:pPr>
            <a:r>
              <a:rPr lang="en-US" sz="2400"/>
              <a:t>What parameters do we need here?</a:t>
            </a:r>
          </a:p>
          <a:p>
            <a:pPr lvl="1">
              <a:lnSpc>
                <a:spcPct val="90000"/>
              </a:lnSpc>
            </a:pPr>
            <a:r>
              <a:rPr lang="en-US" sz="2400"/>
              <a:t>Could also include hospital workers explicitly</a:t>
            </a:r>
          </a:p>
          <a:p>
            <a:pPr>
              <a:lnSpc>
                <a:spcPct val="90000"/>
              </a:lnSpc>
            </a:pPr>
            <a:r>
              <a:rPr lang="en-US" sz="2800"/>
              <a:t>Rules for processes</a:t>
            </a:r>
          </a:p>
          <a:p>
            <a:pPr lvl="1">
              <a:lnSpc>
                <a:spcPct val="90000"/>
              </a:lnSpc>
            </a:pPr>
            <a:r>
              <a:rPr lang="en-US" sz="2400"/>
              <a:t>What processes do we need to track?</a:t>
            </a:r>
          </a:p>
          <a:p>
            <a:pPr>
              <a:lnSpc>
                <a:spcPct val="90000"/>
              </a:lnSpc>
            </a:pPr>
            <a:r>
              <a:rPr lang="en-US" sz="2800"/>
              <a:t>Choose time step</a:t>
            </a:r>
          </a:p>
          <a:p>
            <a:pPr lvl="1">
              <a:lnSpc>
                <a:spcPct val="90000"/>
              </a:lnSpc>
            </a:pPr>
            <a:r>
              <a:rPr lang="en-US" sz="2400"/>
              <a:t>4 hours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t>Hospital ward structure</a:t>
            </a:r>
          </a:p>
        </p:txBody>
      </p:sp>
      <p:sp>
        <p:nvSpPr>
          <p:cNvPr id="38915" name="Rectangle 3"/>
          <p:cNvSpPr>
            <a:spLocks noGrp="1" noChangeArrowheads="1"/>
          </p:cNvSpPr>
          <p:nvPr>
            <p:ph type="body" idx="1"/>
          </p:nvPr>
        </p:nvSpPr>
        <p:spPr/>
        <p:txBody>
          <a:bodyPr/>
          <a:lstStyle/>
          <a:p>
            <a:pPr>
              <a:lnSpc>
                <a:spcPct val="80000"/>
              </a:lnSpc>
            </a:pPr>
            <a:r>
              <a:rPr lang="en-US" sz="1800"/>
              <a:t>Number of beds - maximum number of beds for that ward</a:t>
            </a:r>
          </a:p>
          <a:p>
            <a:pPr>
              <a:lnSpc>
                <a:spcPct val="80000"/>
              </a:lnSpc>
            </a:pPr>
            <a:r>
              <a:rPr lang="en-US" sz="1800"/>
              <a:t>New patient policy - isolate all new patients or isolate only after positive MRSA test</a:t>
            </a:r>
          </a:p>
          <a:p>
            <a:pPr>
              <a:lnSpc>
                <a:spcPct val="80000"/>
              </a:lnSpc>
            </a:pPr>
            <a:r>
              <a:rPr lang="en-US" sz="1800"/>
              <a:t>Proportion of new patients tested for MRSA - probability of new patient being tested</a:t>
            </a:r>
          </a:p>
          <a:p>
            <a:pPr>
              <a:lnSpc>
                <a:spcPct val="80000"/>
              </a:lnSpc>
            </a:pPr>
            <a:r>
              <a:rPr lang="en-US" sz="1800"/>
              <a:t>MRSA test results return time - average number of time steps for test results</a:t>
            </a:r>
          </a:p>
          <a:p>
            <a:pPr>
              <a:lnSpc>
                <a:spcPct val="80000"/>
              </a:lnSpc>
            </a:pPr>
            <a:r>
              <a:rPr lang="en-US" sz="1800"/>
              <a:t>Specificity of MRSA test - probability of false positive</a:t>
            </a:r>
          </a:p>
          <a:p>
            <a:pPr>
              <a:lnSpc>
                <a:spcPct val="80000"/>
              </a:lnSpc>
            </a:pPr>
            <a:r>
              <a:rPr lang="en-US" sz="1800"/>
              <a:t>Sensitivity of MRSA test - probability of false negative</a:t>
            </a:r>
          </a:p>
          <a:p>
            <a:pPr>
              <a:lnSpc>
                <a:spcPct val="80000"/>
              </a:lnSpc>
            </a:pPr>
            <a:r>
              <a:rPr lang="en-US" sz="1800"/>
              <a:t>Length of stay - average number of time steps patient remains in unit</a:t>
            </a:r>
          </a:p>
          <a:p>
            <a:pPr>
              <a:lnSpc>
                <a:spcPct val="80000"/>
              </a:lnSpc>
            </a:pPr>
            <a:r>
              <a:rPr lang="en-US" sz="1800"/>
              <a:t>Patients MRSA colonized on admit - probability of new admit being MRSA positive on arrival</a:t>
            </a:r>
          </a:p>
          <a:p>
            <a:pPr>
              <a:lnSpc>
                <a:spcPct val="80000"/>
              </a:lnSpc>
            </a:pPr>
            <a:r>
              <a:rPr lang="en-US" sz="1800"/>
              <a:t>Daily probability of MRSA infectious contact - probability of infectious contact Effectiveness of isolation for MRSA - reduction in contact rate from isolation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t>Individual Patient Data</a:t>
            </a:r>
          </a:p>
        </p:txBody>
      </p:sp>
      <p:sp>
        <p:nvSpPr>
          <p:cNvPr id="39939" name="Rectangle 3"/>
          <p:cNvSpPr>
            <a:spLocks noGrp="1" noChangeArrowheads="1"/>
          </p:cNvSpPr>
          <p:nvPr>
            <p:ph type="body" idx="1"/>
          </p:nvPr>
        </p:nvSpPr>
        <p:spPr/>
        <p:txBody>
          <a:bodyPr/>
          <a:lstStyle/>
          <a:p>
            <a:pPr>
              <a:lnSpc>
                <a:spcPct val="90000"/>
              </a:lnSpc>
            </a:pPr>
            <a:r>
              <a:rPr lang="en-US" sz="2400"/>
              <a:t>ID Number - Unique identifying number assigned sequentially</a:t>
            </a:r>
          </a:p>
          <a:p>
            <a:pPr>
              <a:lnSpc>
                <a:spcPct val="90000"/>
              </a:lnSpc>
            </a:pPr>
            <a:r>
              <a:rPr lang="en-US" sz="2400"/>
              <a:t>Bed Number - Assigned bed</a:t>
            </a:r>
          </a:p>
          <a:p>
            <a:pPr>
              <a:lnSpc>
                <a:spcPct val="90000"/>
              </a:lnSpc>
            </a:pPr>
            <a:r>
              <a:rPr lang="en-US" sz="2400"/>
              <a:t>MRSA status – negative or positive (actual status)</a:t>
            </a:r>
          </a:p>
          <a:p>
            <a:pPr>
              <a:lnSpc>
                <a:spcPct val="90000"/>
              </a:lnSpc>
            </a:pPr>
            <a:r>
              <a:rPr lang="en-US" sz="2400"/>
              <a:t>Isolation status - not isolated or isolated</a:t>
            </a:r>
          </a:p>
          <a:p>
            <a:pPr>
              <a:lnSpc>
                <a:spcPct val="90000"/>
              </a:lnSpc>
            </a:pPr>
            <a:r>
              <a:rPr lang="en-US" sz="2400"/>
              <a:t>MRSA test status</a:t>
            </a:r>
          </a:p>
          <a:p>
            <a:pPr lvl="1">
              <a:lnSpc>
                <a:spcPct val="90000"/>
              </a:lnSpc>
            </a:pPr>
            <a:r>
              <a:rPr lang="en-US" sz="2000"/>
              <a:t>Date of last test - time step of last test</a:t>
            </a:r>
          </a:p>
          <a:p>
            <a:pPr lvl="1">
              <a:lnSpc>
                <a:spcPct val="90000"/>
              </a:lnSpc>
            </a:pPr>
            <a:r>
              <a:rPr lang="en-US" sz="2000"/>
              <a:t>Result of last test - neg result, pos result, pending</a:t>
            </a:r>
          </a:p>
          <a:p>
            <a:pPr lvl="1">
              <a:lnSpc>
                <a:spcPct val="90000"/>
              </a:lnSpc>
            </a:pPr>
            <a:r>
              <a:rPr lang="en-US" sz="2000"/>
              <a:t>Return time - incremented while pending</a:t>
            </a:r>
          </a:p>
          <a:p>
            <a:pPr>
              <a:lnSpc>
                <a:spcPct val="90000"/>
              </a:lnSpc>
            </a:pPr>
            <a:r>
              <a:rPr lang="en-US" sz="2400"/>
              <a:t>Antibiotic use - none, penicillin, etc.</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t>Rules</a:t>
            </a:r>
          </a:p>
        </p:txBody>
      </p:sp>
      <p:sp>
        <p:nvSpPr>
          <p:cNvPr id="43011" name="Rectangle 3"/>
          <p:cNvSpPr>
            <a:spLocks noGrp="1" noChangeArrowheads="1"/>
          </p:cNvSpPr>
          <p:nvPr>
            <p:ph type="body" idx="1"/>
          </p:nvPr>
        </p:nvSpPr>
        <p:spPr/>
        <p:txBody>
          <a:bodyPr/>
          <a:lstStyle/>
          <a:p>
            <a:r>
              <a:rPr lang="en-US"/>
              <a:t>Admissions</a:t>
            </a:r>
          </a:p>
          <a:p>
            <a:r>
              <a:rPr lang="en-US"/>
              <a:t>MRSA test</a:t>
            </a:r>
          </a:p>
          <a:p>
            <a:r>
              <a:rPr lang="en-US"/>
              <a:t>Colonization event</a:t>
            </a:r>
          </a:p>
          <a:p>
            <a:r>
              <a:rPr lang="en-US"/>
              <a:t>Discharge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20" name="Picture 4" descr="mrsa"/>
          <p:cNvPicPr>
            <a:picLocks noChangeAspect="1" noChangeArrowheads="1"/>
          </p:cNvPicPr>
          <p:nvPr/>
        </p:nvPicPr>
        <p:blipFill>
          <a:blip r:embed="rId3"/>
          <a:srcRect/>
          <a:stretch>
            <a:fillRect/>
          </a:stretch>
        </p:blipFill>
        <p:spPr bwMode="auto">
          <a:xfrm>
            <a:off x="152400" y="141288"/>
            <a:ext cx="8534400" cy="6665912"/>
          </a:xfrm>
          <a:prstGeom prst="rect">
            <a:avLst/>
          </a:prstGeom>
          <a:noFill/>
          <a:ln w="9525">
            <a:noFill/>
            <a:miter lim="800000"/>
            <a:headEnd/>
            <a:tailEnd/>
          </a:ln>
        </p:spPr>
      </p:pic>
      <p:sp>
        <p:nvSpPr>
          <p:cNvPr id="34821" name="Rectangle 5"/>
          <p:cNvSpPr>
            <a:spLocks noChangeArrowheads="1"/>
          </p:cNvSpPr>
          <p:nvPr/>
        </p:nvSpPr>
        <p:spPr bwMode="auto">
          <a:xfrm>
            <a:off x="5181600" y="6172200"/>
            <a:ext cx="3505200" cy="685800"/>
          </a:xfrm>
          <a:prstGeom prst="rect">
            <a:avLst/>
          </a:prstGeom>
          <a:solidFill>
            <a:schemeClr val="accent2"/>
          </a:solidFill>
          <a:ln w="0">
            <a:noFill/>
            <a:miter lim="800000"/>
            <a:headEnd/>
            <a:tailEnd/>
          </a:ln>
          <a:effectLst/>
        </p:spPr>
        <p:txBody>
          <a:bodyPr wrap="none" anchor="ctr">
            <a:prstTxWarp prst="textNoShape">
              <a:avLst/>
            </a:prstTxWarp>
          </a:bodyPr>
          <a:lstStyle/>
          <a:p>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Results</a:t>
            </a:r>
          </a:p>
        </p:txBody>
      </p:sp>
      <p:pic>
        <p:nvPicPr>
          <p:cNvPr id="44036" name="Picture 4" descr="isolate_compare"/>
          <p:cNvPicPr>
            <a:picLocks noChangeAspect="1" noChangeArrowheads="1"/>
          </p:cNvPicPr>
          <p:nvPr/>
        </p:nvPicPr>
        <p:blipFill>
          <a:blip r:embed="rId3"/>
          <a:srcRect/>
          <a:stretch>
            <a:fillRect/>
          </a:stretch>
        </p:blipFill>
        <p:spPr bwMode="auto">
          <a:xfrm>
            <a:off x="1524000" y="1447800"/>
            <a:ext cx="6235700" cy="4914900"/>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sz="4000"/>
              <a:t>But what are we trying to answer?</a:t>
            </a:r>
          </a:p>
        </p:txBody>
      </p:sp>
      <p:sp>
        <p:nvSpPr>
          <p:cNvPr id="72707" name="Rectangle 3"/>
          <p:cNvSpPr>
            <a:spLocks noGrp="1" noChangeArrowheads="1"/>
          </p:cNvSpPr>
          <p:nvPr>
            <p:ph type="body" idx="1"/>
          </p:nvPr>
        </p:nvSpPr>
        <p:spPr/>
        <p:txBody>
          <a:bodyPr/>
          <a:lstStyle/>
          <a:p>
            <a:r>
              <a:rPr lang="en-US"/>
              <a:t>What do we care about most?</a:t>
            </a:r>
          </a:p>
          <a:p>
            <a:r>
              <a:rPr lang="en-US"/>
              <a:t>How do we measure cost effectiveness?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t>Meaningful results</a:t>
            </a:r>
          </a:p>
        </p:txBody>
      </p:sp>
      <p:graphicFrame>
        <p:nvGraphicFramePr>
          <p:cNvPr id="45519" name="Group 463"/>
          <p:cNvGraphicFramePr>
            <a:graphicFrameLocks noGrp="1"/>
          </p:cNvGraphicFramePr>
          <p:nvPr>
            <p:ph idx="1"/>
          </p:nvPr>
        </p:nvGraphicFramePr>
        <p:xfrm>
          <a:off x="304800" y="1600200"/>
          <a:ext cx="8229600" cy="4114801"/>
        </p:xfrm>
        <a:graphic>
          <a:graphicData uri="http://schemas.openxmlformats.org/drawingml/2006/table">
            <a:tbl>
              <a:tblPr/>
              <a:tblGrid>
                <a:gridCol w="965200">
                  <a:extLst>
                    <a:ext uri="{9D8B030D-6E8A-4147-A177-3AD203B41FA5}">
                      <a16:colId xmlns:a16="http://schemas.microsoft.com/office/drawing/2014/main" val="20000"/>
                    </a:ext>
                  </a:extLst>
                </a:gridCol>
                <a:gridCol w="1452563">
                  <a:extLst>
                    <a:ext uri="{9D8B030D-6E8A-4147-A177-3AD203B41FA5}">
                      <a16:colId xmlns:a16="http://schemas.microsoft.com/office/drawing/2014/main" val="20001"/>
                    </a:ext>
                  </a:extLst>
                </a:gridCol>
                <a:gridCol w="1452562">
                  <a:extLst>
                    <a:ext uri="{9D8B030D-6E8A-4147-A177-3AD203B41FA5}">
                      <a16:colId xmlns:a16="http://schemas.microsoft.com/office/drawing/2014/main" val="20002"/>
                    </a:ext>
                  </a:extLst>
                </a:gridCol>
                <a:gridCol w="1454150">
                  <a:extLst>
                    <a:ext uri="{9D8B030D-6E8A-4147-A177-3AD203B41FA5}">
                      <a16:colId xmlns:a16="http://schemas.microsoft.com/office/drawing/2014/main" val="20003"/>
                    </a:ext>
                  </a:extLst>
                </a:gridCol>
                <a:gridCol w="1452563">
                  <a:extLst>
                    <a:ext uri="{9D8B030D-6E8A-4147-A177-3AD203B41FA5}">
                      <a16:colId xmlns:a16="http://schemas.microsoft.com/office/drawing/2014/main" val="20004"/>
                    </a:ext>
                  </a:extLst>
                </a:gridCol>
                <a:gridCol w="1452562">
                  <a:extLst>
                    <a:ext uri="{9D8B030D-6E8A-4147-A177-3AD203B41FA5}">
                      <a16:colId xmlns:a16="http://schemas.microsoft.com/office/drawing/2014/main" val="20005"/>
                    </a:ext>
                  </a:extLst>
                </a:gridCol>
              </a:tblGrid>
              <a:tr h="12239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charset="2"/>
                        <a:buNone/>
                        <a:tabLst/>
                      </a:pPr>
                      <a:endParaRPr kumimoji="0" lang="en-US" sz="2800" b="0" i="0" u="none" strike="noStrike" cap="none" normalizeH="0" baseline="0" dirty="0">
                        <a:ln>
                          <a:noFill/>
                        </a:ln>
                        <a:solidFill>
                          <a:srgbClr val="000000"/>
                        </a:solidFill>
                        <a:effectLst>
                          <a:outerShdw blurRad="38100" dist="38100" dir="2700000" algn="tl">
                            <a:srgbClr val="DDDDDD"/>
                          </a:outerShdw>
                        </a:effectLst>
                        <a:latin typeface="Tahoma"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1%</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5%</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12.30%</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20%</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30%</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785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LOS1</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59491.97101</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7442.971503</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4497.266051</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3395.508</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3592.962313</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785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LOS2</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5573.460334</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2733.248405</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2139.547218</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2263.750962</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2229.325525</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438">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LOS3</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3047.649485</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2872.911243</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2017.470506</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2063.393079</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2478.57986</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785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LOS4</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2704.226553</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1772.923819</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1581.283348</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2003.640665</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2973.169665</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7850">
                <a:tc>
                  <a:txBody>
                    <a:body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LOS5</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2555.161096</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1576.877784</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2194.958608</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a:ln>
                            <a:noFill/>
                          </a:ln>
                          <a:solidFill>
                            <a:srgbClr val="000000"/>
                          </a:solidFill>
                          <a:effectLst/>
                          <a:latin typeface="Arial" charset="0"/>
                          <a:ea typeface="Arial" charset="0"/>
                          <a:cs typeface="Arial" charset="0"/>
                        </a:rPr>
                        <a:t>2613.660783</a:t>
                      </a:r>
                      <a:endParaRPr kumimoji="0" lang="en-US" sz="1800" b="0" i="0" u="none" strike="noStrike" cap="none" normalizeH="0" baseline="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 latinLnBrk="0" hangingPunct="1">
                        <a:lnSpc>
                          <a:spcPct val="100000"/>
                        </a:lnSpc>
                        <a:spcBef>
                          <a:spcPct val="0"/>
                        </a:spcBef>
                        <a:spcAft>
                          <a:spcPct val="0"/>
                        </a:spcAft>
                        <a:buClrTx/>
                        <a:buSzTx/>
                        <a:buFontTx/>
                        <a:buNone/>
                        <a:tabLst/>
                      </a:pPr>
                      <a:r>
                        <a:rPr kumimoji="0" lang="en-US" sz="1000" b="0" i="0" u="none" strike="noStrike" cap="none" normalizeH="0" baseline="0" dirty="0">
                          <a:ln>
                            <a:noFill/>
                          </a:ln>
                          <a:solidFill>
                            <a:srgbClr val="000000"/>
                          </a:solidFill>
                          <a:effectLst/>
                          <a:latin typeface="Arial" charset="0"/>
                          <a:ea typeface="Arial" charset="0"/>
                          <a:cs typeface="Arial" charset="0"/>
                        </a:rPr>
                        <a:t>3093.517127</a:t>
                      </a:r>
                      <a:endParaRPr kumimoji="0" lang="en-US" sz="1800" b="0" i="0" u="none" strike="noStrike" cap="none" normalizeH="0" baseline="0" dirty="0">
                        <a:ln>
                          <a:noFill/>
                        </a:ln>
                        <a:solidFill>
                          <a:srgbClr val="000000"/>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5520" name="Text Box 464"/>
          <p:cNvSpPr txBox="1">
            <a:spLocks noChangeArrowheads="1"/>
          </p:cNvSpPr>
          <p:nvPr/>
        </p:nvSpPr>
        <p:spPr bwMode="auto">
          <a:xfrm>
            <a:off x="1752600" y="5791200"/>
            <a:ext cx="5867400" cy="641350"/>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dirty="0"/>
              <a:t>Total cost of isolation with a rapid test for various lengths of stay and incoming prevalence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4"/>
          <p:cNvSpPr>
            <a:spLocks noGrp="1" noChangeArrowheads="1"/>
          </p:cNvSpPr>
          <p:nvPr>
            <p:ph type="title"/>
          </p:nvPr>
        </p:nvSpPr>
        <p:spPr/>
        <p:txBody>
          <a:bodyPr/>
          <a:lstStyle/>
          <a:p>
            <a:r>
              <a:rPr lang="en-US"/>
              <a:t>More results</a:t>
            </a:r>
          </a:p>
        </p:txBody>
      </p:sp>
      <p:graphicFrame>
        <p:nvGraphicFramePr>
          <p:cNvPr id="48133" name="Object 5"/>
          <p:cNvGraphicFramePr>
            <a:graphicFrameLocks noGrp="1" noChangeAspect="1"/>
          </p:cNvGraphicFramePr>
          <p:nvPr>
            <p:ph idx="1"/>
          </p:nvPr>
        </p:nvGraphicFramePr>
        <p:xfrm>
          <a:off x="1828800" y="1676400"/>
          <a:ext cx="5364163" cy="4114800"/>
        </p:xfrm>
        <a:graphic>
          <a:graphicData uri="http://schemas.openxmlformats.org/presentationml/2006/ole">
            <mc:AlternateContent xmlns:mc="http://schemas.openxmlformats.org/markup-compatibility/2006">
              <mc:Choice xmlns:v="urn:schemas-microsoft-com:vml" Requires="v">
                <p:oleObj spid="_x0000_s174082" name="Chart" r:id="rId3" imgW="5943600" imgH="4559300" progId="Excel.Sheet.8">
                  <p:embed/>
                </p:oleObj>
              </mc:Choice>
              <mc:Fallback>
                <p:oleObj name="Chart" r:id="rId3" imgW="5943600" imgH="4559300" progId="Excel.Sheet.8">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676400"/>
                        <a:ext cx="536416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5" name="Text Box 7"/>
          <p:cNvSpPr txBox="1">
            <a:spLocks noChangeArrowheads="1"/>
          </p:cNvSpPr>
          <p:nvPr/>
        </p:nvSpPr>
        <p:spPr bwMode="auto">
          <a:xfrm>
            <a:off x="381000" y="6096000"/>
            <a:ext cx="8382000" cy="366713"/>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a:t>Find point when cost-effectiveness of rapid testing is lower than standard testing</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t>Next steps</a:t>
            </a:r>
          </a:p>
        </p:txBody>
      </p:sp>
      <p:sp>
        <p:nvSpPr>
          <p:cNvPr id="73731" name="Rectangle 3"/>
          <p:cNvSpPr>
            <a:spLocks noGrp="1" noChangeArrowheads="1"/>
          </p:cNvSpPr>
          <p:nvPr>
            <p:ph type="body" idx="1"/>
          </p:nvPr>
        </p:nvSpPr>
        <p:spPr/>
        <p:txBody>
          <a:bodyPr/>
          <a:lstStyle/>
          <a:p>
            <a:r>
              <a:rPr lang="en-US"/>
              <a:t>Expand to additional wards within one hospital</a:t>
            </a:r>
          </a:p>
          <a:p>
            <a:r>
              <a:rPr lang="en-US"/>
              <a:t>Model hospital staff explicitly</a:t>
            </a:r>
          </a:p>
          <a:p>
            <a:r>
              <a:rPr lang="en-US"/>
              <a:t>Test other strategies such as even faster return test</a:t>
            </a:r>
          </a:p>
          <a:p>
            <a:r>
              <a:rPr lang="en-US"/>
              <a:t>Other ideas?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t>EpiSims</a:t>
            </a:r>
          </a:p>
        </p:txBody>
      </p:sp>
      <p:sp>
        <p:nvSpPr>
          <p:cNvPr id="52227" name="Rectangle 3"/>
          <p:cNvSpPr>
            <a:spLocks noGrp="1" noChangeArrowheads="1"/>
          </p:cNvSpPr>
          <p:nvPr>
            <p:ph type="body" idx="1"/>
          </p:nvPr>
        </p:nvSpPr>
        <p:spPr/>
        <p:txBody>
          <a:bodyPr/>
          <a:lstStyle/>
          <a:p>
            <a:r>
              <a:rPr lang="en-US"/>
              <a:t>Developed by LANL</a:t>
            </a:r>
          </a:p>
          <a:p>
            <a:r>
              <a:rPr lang="en-US"/>
              <a:t>Tool for simulating the spread of epidemics at the level of individuals in a large urban region, taking into account realistic contact patterns and disease transmission characteristics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Other epidemiology uses</a:t>
            </a:r>
          </a:p>
        </p:txBody>
      </p:sp>
      <p:sp>
        <p:nvSpPr>
          <p:cNvPr id="53251" name="Rectangle 3"/>
          <p:cNvSpPr>
            <a:spLocks noGrp="1" noChangeArrowheads="1"/>
          </p:cNvSpPr>
          <p:nvPr>
            <p:ph type="body" idx="1"/>
          </p:nvPr>
        </p:nvSpPr>
        <p:spPr/>
        <p:txBody>
          <a:bodyPr/>
          <a:lstStyle/>
          <a:p>
            <a:r>
              <a:rPr lang="en-US"/>
              <a:t>Test targeted vaccines</a:t>
            </a:r>
          </a:p>
          <a:p>
            <a:pPr lvl="1"/>
            <a:r>
              <a:rPr lang="en-US"/>
              <a:t>By age</a:t>
            </a:r>
          </a:p>
          <a:p>
            <a:pPr lvl="1"/>
            <a:r>
              <a:rPr lang="en-US"/>
              <a:t>By number of contacts</a:t>
            </a:r>
          </a:p>
          <a:p>
            <a:pPr lvl="1"/>
            <a:r>
              <a:rPr lang="en-US"/>
              <a:t>Ring vaccination</a:t>
            </a:r>
          </a:p>
          <a:p>
            <a:r>
              <a:rPr lang="en-US"/>
              <a:t>Test isolation and quarantine strategies</a:t>
            </a:r>
          </a:p>
          <a:p>
            <a:r>
              <a:rPr lang="en-US"/>
              <a:t>Assess super-spreader concepts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t>Take home messages</a:t>
            </a:r>
          </a:p>
        </p:txBody>
      </p:sp>
      <p:sp>
        <p:nvSpPr>
          <p:cNvPr id="51203" name="Rectangle 3"/>
          <p:cNvSpPr>
            <a:spLocks noGrp="1" noChangeArrowheads="1"/>
          </p:cNvSpPr>
          <p:nvPr>
            <p:ph type="body" idx="1"/>
          </p:nvPr>
        </p:nvSpPr>
        <p:spPr/>
        <p:txBody>
          <a:bodyPr/>
          <a:lstStyle/>
          <a:p>
            <a:r>
              <a:rPr lang="en-US"/>
              <a:t>IBMs generally require more careful consideration</a:t>
            </a:r>
          </a:p>
          <a:p>
            <a:r>
              <a:rPr lang="en-US"/>
              <a:t>IBMs rapidly become computationally intense</a:t>
            </a:r>
          </a:p>
          <a:p>
            <a:r>
              <a:rPr lang="en-US"/>
              <a:t>Very useful for addressing some types of questions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t>NetLogo Examples</a:t>
            </a:r>
          </a:p>
        </p:txBody>
      </p:sp>
      <p:sp>
        <p:nvSpPr>
          <p:cNvPr id="52227" name="Content Placeholder 2"/>
          <p:cNvSpPr>
            <a:spLocks noGrp="1"/>
          </p:cNvSpPr>
          <p:nvPr>
            <p:ph idx="1"/>
          </p:nvPr>
        </p:nvSpPr>
        <p:spPr/>
        <p:txBody>
          <a:bodyPr/>
          <a:lstStyle/>
          <a:p>
            <a:r>
              <a:rPr lang="en-US" dirty="0"/>
              <a:t>Open </a:t>
            </a:r>
            <a:r>
              <a:rPr lang="en-US" dirty="0" err="1"/>
              <a:t>NetLogo</a:t>
            </a:r>
            <a:endParaRPr lang="en-US" dirty="0"/>
          </a:p>
          <a:p>
            <a:r>
              <a:rPr lang="en-US" dirty="0"/>
              <a:t>Open Library-&gt;Biology-&gt;Evolution</a:t>
            </a:r>
          </a:p>
          <a:p>
            <a:pPr>
              <a:buFontTx/>
              <a:buNone/>
            </a:pPr>
            <a:r>
              <a:rPr lang="en-US" dirty="0"/>
              <a:t>-&gt; Genetic Drift</a:t>
            </a:r>
          </a:p>
          <a:p>
            <a:pPr lvl="1"/>
            <a:r>
              <a:rPr lang="en-US" dirty="0" err="1"/>
              <a:t>GenDrift</a:t>
            </a:r>
            <a:r>
              <a:rPr lang="en-US" dirty="0"/>
              <a:t> P global</a:t>
            </a:r>
          </a:p>
          <a:p>
            <a:pPr lvl="1"/>
            <a:r>
              <a:rPr lang="en-US" dirty="0" err="1"/>
              <a:t>GenDrift</a:t>
            </a:r>
            <a:r>
              <a:rPr lang="en-US" dirty="0"/>
              <a:t> P local</a:t>
            </a:r>
          </a:p>
          <a:p>
            <a:pPr lvl="1"/>
            <a:r>
              <a:rPr lang="en-US" dirty="0" err="1"/>
              <a:t>GenDrift</a:t>
            </a:r>
            <a:r>
              <a:rPr lang="en-US" dirty="0"/>
              <a:t> T interact</a:t>
            </a:r>
          </a:p>
          <a:p>
            <a:pPr lvl="1"/>
            <a:r>
              <a:rPr lang="en-US" dirty="0" err="1"/>
              <a:t>GenDrift</a:t>
            </a:r>
            <a:r>
              <a:rPr lang="en-US" dirty="0"/>
              <a:t> T reproduce</a:t>
            </a:r>
          </a:p>
        </p:txBody>
      </p:sp>
      <p:sp>
        <p:nvSpPr>
          <p:cNvPr id="52228" name="Slide Number Placeholder 3"/>
          <p:cNvSpPr>
            <a:spLocks noGrp="1"/>
          </p:cNvSpPr>
          <p:nvPr>
            <p:ph type="sldNum" sz="quarter" idx="10"/>
          </p:nvPr>
        </p:nvSpPr>
        <p:spPr>
          <a:noFill/>
        </p:spPr>
        <p:txBody>
          <a:bodyPr/>
          <a:lstStyle/>
          <a:p>
            <a:fld id="{5C508117-38E4-724B-BEC6-D0EB552C02FC}" type="slidenum">
              <a:rPr lang="en-US" smtClean="0"/>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t>NetLogo Exercises</a:t>
            </a:r>
          </a:p>
        </p:txBody>
      </p:sp>
      <p:sp>
        <p:nvSpPr>
          <p:cNvPr id="53251" name="Content Placeholder 2"/>
          <p:cNvSpPr>
            <a:spLocks noGrp="1"/>
          </p:cNvSpPr>
          <p:nvPr>
            <p:ph idx="1"/>
          </p:nvPr>
        </p:nvSpPr>
        <p:spPr/>
        <p:txBody>
          <a:bodyPr/>
          <a:lstStyle/>
          <a:p>
            <a:r>
              <a:rPr lang="en-US" dirty="0"/>
              <a:t>Using information from </a:t>
            </a:r>
            <a:r>
              <a:rPr lang="en-US" dirty="0" err="1"/>
              <a:t>GenDrift</a:t>
            </a:r>
            <a:r>
              <a:rPr lang="en-US" dirty="0"/>
              <a:t> P local to figure out how to make </a:t>
            </a:r>
            <a:r>
              <a:rPr lang="en-US" dirty="0" err="1"/>
              <a:t>GenDrift</a:t>
            </a:r>
            <a:r>
              <a:rPr lang="en-US" dirty="0"/>
              <a:t> P global stop when you reach fixation</a:t>
            </a:r>
          </a:p>
        </p:txBody>
      </p:sp>
      <p:sp>
        <p:nvSpPr>
          <p:cNvPr id="53252" name="Slide Number Placeholder 3"/>
          <p:cNvSpPr>
            <a:spLocks noGrp="1"/>
          </p:cNvSpPr>
          <p:nvPr>
            <p:ph type="sldNum" sz="quarter" idx="10"/>
          </p:nvPr>
        </p:nvSpPr>
        <p:spPr>
          <a:noFill/>
        </p:spPr>
        <p:txBody>
          <a:bodyPr/>
          <a:lstStyle/>
          <a:p>
            <a:fld id="{BE58BFEE-D645-C54B-856E-4211878429A5}" type="slidenum">
              <a:rPr lang="en-US" smtClean="0"/>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t>NetLogo Exercises</a:t>
            </a:r>
          </a:p>
        </p:txBody>
      </p:sp>
      <p:sp>
        <p:nvSpPr>
          <p:cNvPr id="54275" name="Content Placeholder 2"/>
          <p:cNvSpPr>
            <a:spLocks noGrp="1"/>
          </p:cNvSpPr>
          <p:nvPr>
            <p:ph idx="1"/>
          </p:nvPr>
        </p:nvSpPr>
        <p:spPr/>
        <p:txBody>
          <a:bodyPr/>
          <a:lstStyle/>
          <a:p>
            <a:r>
              <a:rPr lang="en-US" dirty="0"/>
              <a:t>Behavior Space</a:t>
            </a:r>
          </a:p>
          <a:p>
            <a:pPr lvl="1"/>
            <a:r>
              <a:rPr lang="en-US" dirty="0"/>
              <a:t>Use to make multiple runs of same model</a:t>
            </a:r>
          </a:p>
          <a:p>
            <a:pPr lvl="1"/>
            <a:r>
              <a:rPr lang="en-US" dirty="0"/>
              <a:t>Run your choice of Genetic Drift models </a:t>
            </a:r>
          </a:p>
          <a:p>
            <a:pPr lvl="1"/>
            <a:r>
              <a:rPr lang="en-US" dirty="0"/>
              <a:t>Save time to convergence for 100 runs of model</a:t>
            </a:r>
          </a:p>
        </p:txBody>
      </p:sp>
      <p:sp>
        <p:nvSpPr>
          <p:cNvPr id="54276" name="Slide Number Placeholder 3"/>
          <p:cNvSpPr>
            <a:spLocks noGrp="1"/>
          </p:cNvSpPr>
          <p:nvPr>
            <p:ph type="sldNum" sz="quarter" idx="10"/>
          </p:nvPr>
        </p:nvSpPr>
        <p:spPr>
          <a:noFill/>
        </p:spPr>
        <p:txBody>
          <a:bodyPr/>
          <a:lstStyle/>
          <a:p>
            <a:fld id="{C75D4BA5-39A4-CA4A-95EF-8D3200B1A4E1}" type="slidenum">
              <a:rPr lang="en-US" smtClean="0"/>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t>Beyond NetLogo Library</a:t>
            </a:r>
          </a:p>
        </p:txBody>
      </p:sp>
      <p:sp>
        <p:nvSpPr>
          <p:cNvPr id="55299" name="Content Placeholder 2"/>
          <p:cNvSpPr>
            <a:spLocks noGrp="1"/>
          </p:cNvSpPr>
          <p:nvPr>
            <p:ph idx="1"/>
          </p:nvPr>
        </p:nvSpPr>
        <p:spPr/>
        <p:txBody>
          <a:bodyPr/>
          <a:lstStyle/>
          <a:p>
            <a:r>
              <a:rPr lang="en-US" dirty="0"/>
              <a:t>Many, many more models on-line in contributed library</a:t>
            </a:r>
          </a:p>
          <a:p>
            <a:r>
              <a:rPr lang="en-US" dirty="0">
                <a:hlinkClick r:id="rId2"/>
              </a:rPr>
              <a:t>http://ccl.northwestern.edu/netlogo/models/community/sheep-selection</a:t>
            </a:r>
            <a:endParaRPr lang="en-US" dirty="0"/>
          </a:p>
          <a:p>
            <a:pPr>
              <a:buFontTx/>
              <a:buNone/>
            </a:pPr>
            <a:endParaRPr lang="en-US" dirty="0"/>
          </a:p>
        </p:txBody>
      </p:sp>
      <p:sp>
        <p:nvSpPr>
          <p:cNvPr id="55300" name="Slide Number Placeholder 3"/>
          <p:cNvSpPr>
            <a:spLocks noGrp="1"/>
          </p:cNvSpPr>
          <p:nvPr>
            <p:ph type="sldNum" sz="quarter" idx="10"/>
          </p:nvPr>
        </p:nvSpPr>
        <p:spPr>
          <a:noFill/>
        </p:spPr>
        <p:txBody>
          <a:bodyPr/>
          <a:lstStyle/>
          <a:p>
            <a:fld id="{9AD73E4F-1AD4-5D4B-BE13-B1926FFD9CED}" type="slidenum">
              <a:rPr lang="en-US" smtClean="0"/>
              <a:pPr/>
              <a:t>75</a:t>
            </a:fld>
            <a:endParaRPr lang="en-US"/>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2569</TotalTime>
  <Words>2583</Words>
  <Application>Microsoft Macintosh PowerPoint</Application>
  <PresentationFormat>On-screen Show (4:3)</PresentationFormat>
  <Paragraphs>467</Paragraphs>
  <Slides>75</Slides>
  <Notes>28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81" baseType="lpstr">
      <vt:lpstr>Arial</vt:lpstr>
      <vt:lpstr>Comic Sans MS</vt:lpstr>
      <vt:lpstr>Tahoma</vt:lpstr>
      <vt:lpstr>Wingdings</vt:lpstr>
      <vt:lpstr>Blank Presentation</vt:lpstr>
      <vt:lpstr>Chart</vt:lpstr>
      <vt:lpstr>Agent-based Modeling</vt:lpstr>
      <vt:lpstr>Basics</vt:lpstr>
      <vt:lpstr>Basics (continued)</vt:lpstr>
      <vt:lpstr>Other terms</vt:lpstr>
      <vt:lpstr>History of ABMs</vt:lpstr>
      <vt:lpstr>History of ABMs</vt:lpstr>
      <vt:lpstr>History of ABMs</vt:lpstr>
      <vt:lpstr>History of ABMs</vt:lpstr>
      <vt:lpstr>Schelling’s Tipping Model</vt:lpstr>
      <vt:lpstr>Schelling’s Tipping Model</vt:lpstr>
      <vt:lpstr>Schelling’s Tipping Model</vt:lpstr>
      <vt:lpstr>History of ABMs ‐ Boids</vt:lpstr>
      <vt:lpstr>History of ABMs ‐ Boids</vt:lpstr>
      <vt:lpstr>History of ABMs ‐ Boids</vt:lpstr>
      <vt:lpstr>Nature of Individual Variation</vt:lpstr>
      <vt:lpstr>Classic Applications</vt:lpstr>
      <vt:lpstr>Programming and Software</vt:lpstr>
      <vt:lpstr>Processes addressed with IBMs</vt:lpstr>
      <vt:lpstr>Estimating tick-borne disease risk with an agent-based model</vt:lpstr>
      <vt:lpstr>Tick-borne diseases</vt:lpstr>
      <vt:lpstr>Why study ticks?</vt:lpstr>
      <vt:lpstr>What makes ticks so unique?</vt:lpstr>
      <vt:lpstr>Lone Star Tick</vt:lpstr>
      <vt:lpstr>Lone Star Tick Range</vt:lpstr>
      <vt:lpstr>Other ticks on the move</vt:lpstr>
      <vt:lpstr>Two approaches</vt:lpstr>
      <vt:lpstr>Differential Equation Model</vt:lpstr>
      <vt:lpstr>Differential Equations</vt:lpstr>
      <vt:lpstr>Model without recovery</vt:lpstr>
      <vt:lpstr>Model with recovery</vt:lpstr>
      <vt:lpstr>Why agent-based?</vt:lpstr>
      <vt:lpstr>Agent-based model</vt:lpstr>
      <vt:lpstr>Ticks</vt:lpstr>
      <vt:lpstr>Deer</vt:lpstr>
      <vt:lpstr>Rules for each day</vt:lpstr>
      <vt:lpstr>Rules (continued)</vt:lpstr>
      <vt:lpstr>Rules (continued)</vt:lpstr>
      <vt:lpstr>Agent-based model</vt:lpstr>
      <vt:lpstr>Host questions</vt:lpstr>
      <vt:lpstr>Model Structure</vt:lpstr>
      <vt:lpstr>Deer only</vt:lpstr>
      <vt:lpstr>Deer only – High transmission</vt:lpstr>
      <vt:lpstr>Model Structure</vt:lpstr>
      <vt:lpstr>Other hosts</vt:lpstr>
      <vt:lpstr>Deer (high) and Hosts (low)</vt:lpstr>
      <vt:lpstr>Deer (low) and Hosts (high)</vt:lpstr>
      <vt:lpstr>Time to extinction</vt:lpstr>
      <vt:lpstr>Additional benefits of IBM</vt:lpstr>
      <vt:lpstr>Results</vt:lpstr>
      <vt:lpstr>Lone Star Ticks</vt:lpstr>
      <vt:lpstr>Conclusions</vt:lpstr>
      <vt:lpstr>Conclusions</vt:lpstr>
      <vt:lpstr>Acknowledgements</vt:lpstr>
      <vt:lpstr>Epidemiology Example</vt:lpstr>
      <vt:lpstr>MRSA in ICU</vt:lpstr>
      <vt:lpstr>Infection control strategies</vt:lpstr>
      <vt:lpstr>So what do we do?</vt:lpstr>
      <vt:lpstr>Ok, we want an IBM…</vt:lpstr>
      <vt:lpstr>Set up IBM</vt:lpstr>
      <vt:lpstr>Hospital ward structure</vt:lpstr>
      <vt:lpstr>Individual Patient Data</vt:lpstr>
      <vt:lpstr>Rules</vt:lpstr>
      <vt:lpstr>PowerPoint Presentation</vt:lpstr>
      <vt:lpstr>Results</vt:lpstr>
      <vt:lpstr>But what are we trying to answer?</vt:lpstr>
      <vt:lpstr>Meaningful results</vt:lpstr>
      <vt:lpstr>More results</vt:lpstr>
      <vt:lpstr>Next steps</vt:lpstr>
      <vt:lpstr>EpiSims</vt:lpstr>
      <vt:lpstr>Other epidemiology uses</vt:lpstr>
      <vt:lpstr>Take home messages</vt:lpstr>
      <vt:lpstr>NetLogo Examples</vt:lpstr>
      <vt:lpstr>NetLogo Exercises</vt:lpstr>
      <vt:lpstr>NetLogo Exercises</vt:lpstr>
      <vt:lpstr>Beyond NetLogo Library</vt:lpstr>
    </vt:vector>
  </TitlesOfParts>
  <Company>Holly Gaff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Epidemiology - Lecture 1</dc:title>
  <dc:creator>Holly Gaff</dc:creator>
  <cp:lastModifiedBy>Gaff, Holly D.</cp:lastModifiedBy>
  <cp:revision>110</cp:revision>
  <cp:lastPrinted>2010-08-26T19:20:43Z</cp:lastPrinted>
  <dcterms:created xsi:type="dcterms:W3CDTF">2011-06-06T12:39:21Z</dcterms:created>
  <dcterms:modified xsi:type="dcterms:W3CDTF">2026-07-29T20:37:59Z</dcterms:modified>
</cp:coreProperties>
</file>