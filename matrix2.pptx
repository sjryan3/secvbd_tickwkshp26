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7"/>
  </p:notesMasterIdLst>
  <p:handoutMasterIdLst>
    <p:handoutMasterId r:id="rId68"/>
  </p:handoutMasterIdLst>
  <p:sldIdLst>
    <p:sldId id="256" r:id="rId5"/>
    <p:sldId id="690" r:id="rId6"/>
    <p:sldId id="671" r:id="rId7"/>
    <p:sldId id="672" r:id="rId8"/>
    <p:sldId id="673" r:id="rId9"/>
    <p:sldId id="674" r:id="rId10"/>
    <p:sldId id="675" r:id="rId11"/>
    <p:sldId id="676" r:id="rId12"/>
    <p:sldId id="650" r:id="rId13"/>
    <p:sldId id="651" r:id="rId14"/>
    <p:sldId id="652" r:id="rId15"/>
    <p:sldId id="653" r:id="rId16"/>
    <p:sldId id="654" r:id="rId17"/>
    <p:sldId id="689" r:id="rId18"/>
    <p:sldId id="655" r:id="rId19"/>
    <p:sldId id="656" r:id="rId20"/>
    <p:sldId id="657" r:id="rId21"/>
    <p:sldId id="658" r:id="rId22"/>
    <p:sldId id="659" r:id="rId23"/>
    <p:sldId id="661" r:id="rId24"/>
    <p:sldId id="662" r:id="rId25"/>
    <p:sldId id="663" r:id="rId26"/>
    <p:sldId id="664" r:id="rId27"/>
    <p:sldId id="665" r:id="rId28"/>
    <p:sldId id="666" r:id="rId29"/>
    <p:sldId id="688" r:id="rId30"/>
    <p:sldId id="667" r:id="rId31"/>
    <p:sldId id="668" r:id="rId32"/>
    <p:sldId id="670" r:id="rId33"/>
    <p:sldId id="677" r:id="rId34"/>
    <p:sldId id="678" r:id="rId35"/>
    <p:sldId id="679" r:id="rId36"/>
    <p:sldId id="680" r:id="rId37"/>
    <p:sldId id="556" r:id="rId38"/>
    <p:sldId id="557" r:id="rId39"/>
    <p:sldId id="558" r:id="rId40"/>
    <p:sldId id="559" r:id="rId41"/>
    <p:sldId id="560" r:id="rId42"/>
    <p:sldId id="561" r:id="rId43"/>
    <p:sldId id="562" r:id="rId44"/>
    <p:sldId id="563" r:id="rId45"/>
    <p:sldId id="564" r:id="rId46"/>
    <p:sldId id="565" r:id="rId47"/>
    <p:sldId id="566" r:id="rId48"/>
    <p:sldId id="567" r:id="rId49"/>
    <p:sldId id="568" r:id="rId50"/>
    <p:sldId id="569" r:id="rId51"/>
    <p:sldId id="570" r:id="rId52"/>
    <p:sldId id="571" r:id="rId53"/>
    <p:sldId id="572" r:id="rId54"/>
    <p:sldId id="573" r:id="rId55"/>
    <p:sldId id="574" r:id="rId56"/>
    <p:sldId id="575" r:id="rId57"/>
    <p:sldId id="576" r:id="rId58"/>
    <p:sldId id="577" r:id="rId59"/>
    <p:sldId id="681" r:id="rId60"/>
    <p:sldId id="639" r:id="rId61"/>
    <p:sldId id="640" r:id="rId62"/>
    <p:sldId id="641" r:id="rId63"/>
    <p:sldId id="686" r:id="rId64"/>
    <p:sldId id="682" r:id="rId65"/>
    <p:sldId id="687" r:id="rId66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36"/>
    <p:restoredTop sz="94626"/>
  </p:normalViewPr>
  <p:slideViewPr>
    <p:cSldViewPr>
      <p:cViewPr varScale="1">
        <p:scale>
          <a:sx n="116" d="100"/>
          <a:sy n="116" d="100"/>
        </p:scale>
        <p:origin x="19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22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3F39A4-95AF-0645-B50A-4327F37715B2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</dgm:pt>
    <dgm:pt modelId="{C57B181B-599A-9043-8D36-7635ECE3B237}">
      <dgm:prSet phldrT="[Text]"/>
      <dgm:spPr/>
      <dgm:t>
        <a:bodyPr/>
        <a:lstStyle/>
        <a:p>
          <a:r>
            <a:rPr lang="en-US" dirty="0"/>
            <a:t>Eggs</a:t>
          </a:r>
        </a:p>
      </dgm:t>
    </dgm:pt>
    <dgm:pt modelId="{AB6F5AFD-8FDF-6642-837C-87B72536FF6C}" type="parTrans" cxnId="{43B3DC89-0017-5242-8079-1567403D3FCC}">
      <dgm:prSet/>
      <dgm:spPr/>
      <dgm:t>
        <a:bodyPr/>
        <a:lstStyle/>
        <a:p>
          <a:endParaRPr lang="en-US"/>
        </a:p>
      </dgm:t>
    </dgm:pt>
    <dgm:pt modelId="{B6D6402A-3A7E-6344-AE7F-F99145681244}" type="sibTrans" cxnId="{43B3DC89-0017-5242-8079-1567403D3FCC}">
      <dgm:prSet/>
      <dgm:spPr/>
      <dgm:t>
        <a:bodyPr/>
        <a:lstStyle/>
        <a:p>
          <a:endParaRPr lang="en-US"/>
        </a:p>
      </dgm:t>
    </dgm:pt>
    <dgm:pt modelId="{B05E2261-C342-BB46-8BDB-8E2C7C0E4F8C}">
      <dgm:prSet phldrT="[Text]"/>
      <dgm:spPr/>
      <dgm:t>
        <a:bodyPr/>
        <a:lstStyle/>
        <a:p>
          <a:r>
            <a:rPr lang="en-US" dirty="0"/>
            <a:t>Larvae</a:t>
          </a:r>
        </a:p>
      </dgm:t>
    </dgm:pt>
    <dgm:pt modelId="{7C67BB67-BD37-BB40-940A-F8415494E14E}" type="parTrans" cxnId="{5FCBCB57-B885-2E46-BAC4-528992A0ACEF}">
      <dgm:prSet/>
      <dgm:spPr/>
      <dgm:t>
        <a:bodyPr/>
        <a:lstStyle/>
        <a:p>
          <a:endParaRPr lang="en-US"/>
        </a:p>
      </dgm:t>
    </dgm:pt>
    <dgm:pt modelId="{9C33451D-C7E9-C940-96E3-5AD834F22CCD}" type="sibTrans" cxnId="{5FCBCB57-B885-2E46-BAC4-528992A0ACEF}">
      <dgm:prSet/>
      <dgm:spPr/>
      <dgm:t>
        <a:bodyPr/>
        <a:lstStyle/>
        <a:p>
          <a:endParaRPr lang="en-US"/>
        </a:p>
      </dgm:t>
    </dgm:pt>
    <dgm:pt modelId="{617A1922-3395-3B44-97A1-F9BCC05A6499}">
      <dgm:prSet phldrT="[Text]"/>
      <dgm:spPr/>
      <dgm:t>
        <a:bodyPr/>
        <a:lstStyle/>
        <a:p>
          <a:r>
            <a:rPr lang="en-US" dirty="0"/>
            <a:t>Nymphs</a:t>
          </a:r>
        </a:p>
      </dgm:t>
    </dgm:pt>
    <dgm:pt modelId="{564199D7-7457-134C-B23E-682F6BB0FAE2}" type="parTrans" cxnId="{9FBC09BF-8FF5-4245-A5E6-1B7E9AD1242B}">
      <dgm:prSet/>
      <dgm:spPr/>
      <dgm:t>
        <a:bodyPr/>
        <a:lstStyle/>
        <a:p>
          <a:endParaRPr lang="en-US"/>
        </a:p>
      </dgm:t>
    </dgm:pt>
    <dgm:pt modelId="{DC7D35F1-FD3B-6D49-A004-742B92179703}" type="sibTrans" cxnId="{9FBC09BF-8FF5-4245-A5E6-1B7E9AD1242B}">
      <dgm:prSet/>
      <dgm:spPr/>
      <dgm:t>
        <a:bodyPr/>
        <a:lstStyle/>
        <a:p>
          <a:endParaRPr lang="en-US"/>
        </a:p>
      </dgm:t>
    </dgm:pt>
    <dgm:pt modelId="{B4DC5A92-A803-6345-8812-01D72432E5E5}">
      <dgm:prSet/>
      <dgm:spPr/>
      <dgm:t>
        <a:bodyPr/>
        <a:lstStyle/>
        <a:p>
          <a:r>
            <a:rPr lang="en-US" dirty="0"/>
            <a:t>Adults</a:t>
          </a:r>
        </a:p>
      </dgm:t>
    </dgm:pt>
    <dgm:pt modelId="{70648039-E6EE-D446-AAD7-649BB576629F}" type="parTrans" cxnId="{94542AB1-191A-AE46-8560-38276608F6E5}">
      <dgm:prSet/>
      <dgm:spPr/>
      <dgm:t>
        <a:bodyPr/>
        <a:lstStyle/>
        <a:p>
          <a:endParaRPr lang="en-US"/>
        </a:p>
      </dgm:t>
    </dgm:pt>
    <dgm:pt modelId="{7A1890D7-263F-5640-9FDA-30D2CA4B4E30}" type="sibTrans" cxnId="{94542AB1-191A-AE46-8560-38276608F6E5}">
      <dgm:prSet/>
      <dgm:spPr/>
      <dgm:t>
        <a:bodyPr/>
        <a:lstStyle/>
        <a:p>
          <a:endParaRPr lang="en-US"/>
        </a:p>
      </dgm:t>
    </dgm:pt>
    <dgm:pt modelId="{3F3B4BB1-8022-A04A-A641-777F3E605388}" type="pres">
      <dgm:prSet presAssocID="{D53F39A4-95AF-0645-B50A-4327F37715B2}" presName="Name0" presStyleCnt="0">
        <dgm:presLayoutVars>
          <dgm:dir/>
          <dgm:resizeHandles val="exact"/>
        </dgm:presLayoutVars>
      </dgm:prSet>
      <dgm:spPr/>
    </dgm:pt>
    <dgm:pt modelId="{8849945D-3D5F-464F-9D3D-A75662B9C265}" type="pres">
      <dgm:prSet presAssocID="{C57B181B-599A-9043-8D36-7635ECE3B237}" presName="node" presStyleLbl="node1" presStyleIdx="0" presStyleCnt="4">
        <dgm:presLayoutVars>
          <dgm:bulletEnabled val="1"/>
        </dgm:presLayoutVars>
      </dgm:prSet>
      <dgm:spPr/>
    </dgm:pt>
    <dgm:pt modelId="{9E030CF8-F669-0246-8FCE-25048AA0F9B8}" type="pres">
      <dgm:prSet presAssocID="{B6D6402A-3A7E-6344-AE7F-F99145681244}" presName="sibTrans" presStyleLbl="sibTrans2D1" presStyleIdx="0" presStyleCnt="3"/>
      <dgm:spPr/>
    </dgm:pt>
    <dgm:pt modelId="{DBD9CA5D-7141-0E4F-A2A3-F2F86E30FC92}" type="pres">
      <dgm:prSet presAssocID="{B6D6402A-3A7E-6344-AE7F-F99145681244}" presName="connectorText" presStyleLbl="sibTrans2D1" presStyleIdx="0" presStyleCnt="3"/>
      <dgm:spPr/>
    </dgm:pt>
    <dgm:pt modelId="{AC2898EF-F6B3-A94C-9C83-B602B3809EE7}" type="pres">
      <dgm:prSet presAssocID="{B05E2261-C342-BB46-8BDB-8E2C7C0E4F8C}" presName="node" presStyleLbl="node1" presStyleIdx="1" presStyleCnt="4">
        <dgm:presLayoutVars>
          <dgm:bulletEnabled val="1"/>
        </dgm:presLayoutVars>
      </dgm:prSet>
      <dgm:spPr/>
    </dgm:pt>
    <dgm:pt modelId="{55C2D7C4-2BBE-9046-B3F2-4B9F47FDE17C}" type="pres">
      <dgm:prSet presAssocID="{9C33451D-C7E9-C940-96E3-5AD834F22CCD}" presName="sibTrans" presStyleLbl="sibTrans2D1" presStyleIdx="1" presStyleCnt="3"/>
      <dgm:spPr/>
    </dgm:pt>
    <dgm:pt modelId="{06D973B8-8BBF-E64A-9E84-6F80285AAB55}" type="pres">
      <dgm:prSet presAssocID="{9C33451D-C7E9-C940-96E3-5AD834F22CCD}" presName="connectorText" presStyleLbl="sibTrans2D1" presStyleIdx="1" presStyleCnt="3"/>
      <dgm:spPr/>
    </dgm:pt>
    <dgm:pt modelId="{6D26DC38-DCD4-1948-BCD2-D6E365CFB76C}" type="pres">
      <dgm:prSet presAssocID="{617A1922-3395-3B44-97A1-F9BCC05A6499}" presName="node" presStyleLbl="node1" presStyleIdx="2" presStyleCnt="4">
        <dgm:presLayoutVars>
          <dgm:bulletEnabled val="1"/>
        </dgm:presLayoutVars>
      </dgm:prSet>
      <dgm:spPr/>
    </dgm:pt>
    <dgm:pt modelId="{7738FCE7-18F0-534E-B8CD-E43F140540DC}" type="pres">
      <dgm:prSet presAssocID="{DC7D35F1-FD3B-6D49-A004-742B92179703}" presName="sibTrans" presStyleLbl="sibTrans2D1" presStyleIdx="2" presStyleCnt="3"/>
      <dgm:spPr/>
    </dgm:pt>
    <dgm:pt modelId="{A91439DE-B14D-AA4E-B0C4-9772FAF54055}" type="pres">
      <dgm:prSet presAssocID="{DC7D35F1-FD3B-6D49-A004-742B92179703}" presName="connectorText" presStyleLbl="sibTrans2D1" presStyleIdx="2" presStyleCnt="3"/>
      <dgm:spPr/>
    </dgm:pt>
    <dgm:pt modelId="{B0F97CDD-90AA-DD42-96FE-45E85DE100E4}" type="pres">
      <dgm:prSet presAssocID="{B4DC5A92-A803-6345-8812-01D72432E5E5}" presName="node" presStyleLbl="node1" presStyleIdx="3" presStyleCnt="4">
        <dgm:presLayoutVars>
          <dgm:bulletEnabled val="1"/>
        </dgm:presLayoutVars>
      </dgm:prSet>
      <dgm:spPr/>
    </dgm:pt>
  </dgm:ptLst>
  <dgm:cxnLst>
    <dgm:cxn modelId="{C9510707-1FE0-2947-B4AE-F53C434EA299}" type="presOf" srcId="{B6D6402A-3A7E-6344-AE7F-F99145681244}" destId="{9E030CF8-F669-0246-8FCE-25048AA0F9B8}" srcOrd="0" destOrd="0" presId="urn:microsoft.com/office/officeart/2005/8/layout/process1"/>
    <dgm:cxn modelId="{36953A2F-E652-A140-845F-9C55E8DF0A55}" type="presOf" srcId="{9C33451D-C7E9-C940-96E3-5AD834F22CCD}" destId="{06D973B8-8BBF-E64A-9E84-6F80285AAB55}" srcOrd="1" destOrd="0" presId="urn:microsoft.com/office/officeart/2005/8/layout/process1"/>
    <dgm:cxn modelId="{C93BA144-0326-9746-B1D3-80D0C48FAC4C}" type="presOf" srcId="{DC7D35F1-FD3B-6D49-A004-742B92179703}" destId="{7738FCE7-18F0-534E-B8CD-E43F140540DC}" srcOrd="0" destOrd="0" presId="urn:microsoft.com/office/officeart/2005/8/layout/process1"/>
    <dgm:cxn modelId="{275ED64F-3237-2A48-B397-D737292E63BA}" type="presOf" srcId="{C57B181B-599A-9043-8D36-7635ECE3B237}" destId="{8849945D-3D5F-464F-9D3D-A75662B9C265}" srcOrd="0" destOrd="0" presId="urn:microsoft.com/office/officeart/2005/8/layout/process1"/>
    <dgm:cxn modelId="{5FCBCB57-B885-2E46-BAC4-528992A0ACEF}" srcId="{D53F39A4-95AF-0645-B50A-4327F37715B2}" destId="{B05E2261-C342-BB46-8BDB-8E2C7C0E4F8C}" srcOrd="1" destOrd="0" parTransId="{7C67BB67-BD37-BB40-940A-F8415494E14E}" sibTransId="{9C33451D-C7E9-C940-96E3-5AD834F22CCD}"/>
    <dgm:cxn modelId="{685DBA66-426B-D04F-831B-B75B31C2693E}" type="presOf" srcId="{617A1922-3395-3B44-97A1-F9BCC05A6499}" destId="{6D26DC38-DCD4-1948-BCD2-D6E365CFB76C}" srcOrd="0" destOrd="0" presId="urn:microsoft.com/office/officeart/2005/8/layout/process1"/>
    <dgm:cxn modelId="{43B3DC89-0017-5242-8079-1567403D3FCC}" srcId="{D53F39A4-95AF-0645-B50A-4327F37715B2}" destId="{C57B181B-599A-9043-8D36-7635ECE3B237}" srcOrd="0" destOrd="0" parTransId="{AB6F5AFD-8FDF-6642-837C-87B72536FF6C}" sibTransId="{B6D6402A-3A7E-6344-AE7F-F99145681244}"/>
    <dgm:cxn modelId="{A9439797-5777-554B-B737-96160D02E57A}" type="presOf" srcId="{B4DC5A92-A803-6345-8812-01D72432E5E5}" destId="{B0F97CDD-90AA-DD42-96FE-45E85DE100E4}" srcOrd="0" destOrd="0" presId="urn:microsoft.com/office/officeart/2005/8/layout/process1"/>
    <dgm:cxn modelId="{66014DA0-0293-6A42-95EA-0E706ADB9CB1}" type="presOf" srcId="{B05E2261-C342-BB46-8BDB-8E2C7C0E4F8C}" destId="{AC2898EF-F6B3-A94C-9C83-B602B3809EE7}" srcOrd="0" destOrd="0" presId="urn:microsoft.com/office/officeart/2005/8/layout/process1"/>
    <dgm:cxn modelId="{94542AB1-191A-AE46-8560-38276608F6E5}" srcId="{D53F39A4-95AF-0645-B50A-4327F37715B2}" destId="{B4DC5A92-A803-6345-8812-01D72432E5E5}" srcOrd="3" destOrd="0" parTransId="{70648039-E6EE-D446-AAD7-649BB576629F}" sibTransId="{7A1890D7-263F-5640-9FDA-30D2CA4B4E30}"/>
    <dgm:cxn modelId="{9FBC09BF-8FF5-4245-A5E6-1B7E9AD1242B}" srcId="{D53F39A4-95AF-0645-B50A-4327F37715B2}" destId="{617A1922-3395-3B44-97A1-F9BCC05A6499}" srcOrd="2" destOrd="0" parTransId="{564199D7-7457-134C-B23E-682F6BB0FAE2}" sibTransId="{DC7D35F1-FD3B-6D49-A004-742B92179703}"/>
    <dgm:cxn modelId="{C1E841BF-23E7-8C46-9E6E-86D004041524}" type="presOf" srcId="{DC7D35F1-FD3B-6D49-A004-742B92179703}" destId="{A91439DE-B14D-AA4E-B0C4-9772FAF54055}" srcOrd="1" destOrd="0" presId="urn:microsoft.com/office/officeart/2005/8/layout/process1"/>
    <dgm:cxn modelId="{1222C7D5-FDD4-4F49-AFC0-5FB1940ADBCC}" type="presOf" srcId="{D53F39A4-95AF-0645-B50A-4327F37715B2}" destId="{3F3B4BB1-8022-A04A-A641-777F3E605388}" srcOrd="0" destOrd="0" presId="urn:microsoft.com/office/officeart/2005/8/layout/process1"/>
    <dgm:cxn modelId="{842059F1-F9FB-6B42-97C8-A009B3F978F2}" type="presOf" srcId="{B6D6402A-3A7E-6344-AE7F-F99145681244}" destId="{DBD9CA5D-7141-0E4F-A2A3-F2F86E30FC92}" srcOrd="1" destOrd="0" presId="urn:microsoft.com/office/officeart/2005/8/layout/process1"/>
    <dgm:cxn modelId="{1AFF24FC-0DF0-834D-A190-3DC33311414C}" type="presOf" srcId="{9C33451D-C7E9-C940-96E3-5AD834F22CCD}" destId="{55C2D7C4-2BBE-9046-B3F2-4B9F47FDE17C}" srcOrd="0" destOrd="0" presId="urn:microsoft.com/office/officeart/2005/8/layout/process1"/>
    <dgm:cxn modelId="{CF4D0FD8-0830-6B42-A812-07F26865EFAD}" type="presParOf" srcId="{3F3B4BB1-8022-A04A-A641-777F3E605388}" destId="{8849945D-3D5F-464F-9D3D-A75662B9C265}" srcOrd="0" destOrd="0" presId="urn:microsoft.com/office/officeart/2005/8/layout/process1"/>
    <dgm:cxn modelId="{F8CC6AD0-F7F4-6745-8120-9DC042D6BC97}" type="presParOf" srcId="{3F3B4BB1-8022-A04A-A641-777F3E605388}" destId="{9E030CF8-F669-0246-8FCE-25048AA0F9B8}" srcOrd="1" destOrd="0" presId="urn:microsoft.com/office/officeart/2005/8/layout/process1"/>
    <dgm:cxn modelId="{26D92C53-B30E-C246-BC27-998A766BAED7}" type="presParOf" srcId="{9E030CF8-F669-0246-8FCE-25048AA0F9B8}" destId="{DBD9CA5D-7141-0E4F-A2A3-F2F86E30FC92}" srcOrd="0" destOrd="0" presId="urn:microsoft.com/office/officeart/2005/8/layout/process1"/>
    <dgm:cxn modelId="{76B06F59-BA8F-484A-AED4-A14C8D0E30C9}" type="presParOf" srcId="{3F3B4BB1-8022-A04A-A641-777F3E605388}" destId="{AC2898EF-F6B3-A94C-9C83-B602B3809EE7}" srcOrd="2" destOrd="0" presId="urn:microsoft.com/office/officeart/2005/8/layout/process1"/>
    <dgm:cxn modelId="{6B4841FC-39D6-F844-B273-E4AEE3E341AA}" type="presParOf" srcId="{3F3B4BB1-8022-A04A-A641-777F3E605388}" destId="{55C2D7C4-2BBE-9046-B3F2-4B9F47FDE17C}" srcOrd="3" destOrd="0" presId="urn:microsoft.com/office/officeart/2005/8/layout/process1"/>
    <dgm:cxn modelId="{D0B98BE3-E574-FF40-AFD3-E59229D818D4}" type="presParOf" srcId="{55C2D7C4-2BBE-9046-B3F2-4B9F47FDE17C}" destId="{06D973B8-8BBF-E64A-9E84-6F80285AAB55}" srcOrd="0" destOrd="0" presId="urn:microsoft.com/office/officeart/2005/8/layout/process1"/>
    <dgm:cxn modelId="{B50DE9CD-E1D6-B840-8B87-C03B51CDBFA2}" type="presParOf" srcId="{3F3B4BB1-8022-A04A-A641-777F3E605388}" destId="{6D26DC38-DCD4-1948-BCD2-D6E365CFB76C}" srcOrd="4" destOrd="0" presId="urn:microsoft.com/office/officeart/2005/8/layout/process1"/>
    <dgm:cxn modelId="{17C4C42C-47E2-6F41-BFD5-80467E09AF39}" type="presParOf" srcId="{3F3B4BB1-8022-A04A-A641-777F3E605388}" destId="{7738FCE7-18F0-534E-B8CD-E43F140540DC}" srcOrd="5" destOrd="0" presId="urn:microsoft.com/office/officeart/2005/8/layout/process1"/>
    <dgm:cxn modelId="{696A9560-99DC-2C43-92CB-EA6073057663}" type="presParOf" srcId="{7738FCE7-18F0-534E-B8CD-E43F140540DC}" destId="{A91439DE-B14D-AA4E-B0C4-9772FAF54055}" srcOrd="0" destOrd="0" presId="urn:microsoft.com/office/officeart/2005/8/layout/process1"/>
    <dgm:cxn modelId="{0F382915-FEF8-6E47-983B-E8F0687F5305}" type="presParOf" srcId="{3F3B4BB1-8022-A04A-A641-777F3E605388}" destId="{B0F97CDD-90AA-DD42-96FE-45E85DE100E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3F39A4-95AF-0645-B50A-4327F37715B2}" type="doc">
      <dgm:prSet loTypeId="urn:microsoft.com/office/officeart/2005/8/layout/process1" loCatId="process" qsTypeId="urn:microsoft.com/office/officeart/2005/8/quickstyle/simple2" qsCatId="simple" csTypeId="urn:microsoft.com/office/officeart/2005/8/colors/accent2_2" csCatId="accent2" phldr="1"/>
      <dgm:spPr/>
    </dgm:pt>
    <dgm:pt modelId="{C57B181B-599A-9043-8D36-7635ECE3B237}">
      <dgm:prSet phldrT="[Text]"/>
      <dgm:spPr/>
      <dgm:t>
        <a:bodyPr/>
        <a:lstStyle/>
        <a:p>
          <a:r>
            <a:rPr lang="en-US" dirty="0"/>
            <a:t>Stage 1</a:t>
          </a:r>
        </a:p>
      </dgm:t>
    </dgm:pt>
    <dgm:pt modelId="{AB6F5AFD-8FDF-6642-837C-87B72536FF6C}" type="parTrans" cxnId="{43B3DC89-0017-5242-8079-1567403D3FCC}">
      <dgm:prSet/>
      <dgm:spPr/>
      <dgm:t>
        <a:bodyPr/>
        <a:lstStyle/>
        <a:p>
          <a:endParaRPr lang="en-US"/>
        </a:p>
      </dgm:t>
    </dgm:pt>
    <dgm:pt modelId="{B6D6402A-3A7E-6344-AE7F-F99145681244}" type="sibTrans" cxnId="{43B3DC89-0017-5242-8079-1567403D3FCC}">
      <dgm:prSet/>
      <dgm:spPr/>
      <dgm:t>
        <a:bodyPr/>
        <a:lstStyle/>
        <a:p>
          <a:endParaRPr lang="en-US"/>
        </a:p>
      </dgm:t>
    </dgm:pt>
    <dgm:pt modelId="{B05E2261-C342-BB46-8BDB-8E2C7C0E4F8C}">
      <dgm:prSet phldrT="[Text]"/>
      <dgm:spPr/>
      <dgm:t>
        <a:bodyPr/>
        <a:lstStyle/>
        <a:p>
          <a:r>
            <a:rPr lang="en-US" dirty="0"/>
            <a:t>Stage 2</a:t>
          </a:r>
        </a:p>
      </dgm:t>
    </dgm:pt>
    <dgm:pt modelId="{7C67BB67-BD37-BB40-940A-F8415494E14E}" type="parTrans" cxnId="{5FCBCB57-B885-2E46-BAC4-528992A0ACEF}">
      <dgm:prSet/>
      <dgm:spPr/>
      <dgm:t>
        <a:bodyPr/>
        <a:lstStyle/>
        <a:p>
          <a:endParaRPr lang="en-US"/>
        </a:p>
      </dgm:t>
    </dgm:pt>
    <dgm:pt modelId="{9C33451D-C7E9-C940-96E3-5AD834F22CCD}" type="sibTrans" cxnId="{5FCBCB57-B885-2E46-BAC4-528992A0ACEF}">
      <dgm:prSet/>
      <dgm:spPr/>
      <dgm:t>
        <a:bodyPr/>
        <a:lstStyle/>
        <a:p>
          <a:endParaRPr lang="en-US"/>
        </a:p>
      </dgm:t>
    </dgm:pt>
    <dgm:pt modelId="{617A1922-3395-3B44-97A1-F9BCC05A6499}">
      <dgm:prSet phldrT="[Text]"/>
      <dgm:spPr/>
      <dgm:t>
        <a:bodyPr/>
        <a:lstStyle/>
        <a:p>
          <a:r>
            <a:rPr lang="en-US" dirty="0"/>
            <a:t>Stage 3</a:t>
          </a:r>
        </a:p>
      </dgm:t>
    </dgm:pt>
    <dgm:pt modelId="{564199D7-7457-134C-B23E-682F6BB0FAE2}" type="parTrans" cxnId="{9FBC09BF-8FF5-4245-A5E6-1B7E9AD1242B}">
      <dgm:prSet/>
      <dgm:spPr/>
      <dgm:t>
        <a:bodyPr/>
        <a:lstStyle/>
        <a:p>
          <a:endParaRPr lang="en-US"/>
        </a:p>
      </dgm:t>
    </dgm:pt>
    <dgm:pt modelId="{DC7D35F1-FD3B-6D49-A004-742B92179703}" type="sibTrans" cxnId="{9FBC09BF-8FF5-4245-A5E6-1B7E9AD1242B}">
      <dgm:prSet/>
      <dgm:spPr/>
      <dgm:t>
        <a:bodyPr/>
        <a:lstStyle/>
        <a:p>
          <a:endParaRPr lang="en-US"/>
        </a:p>
      </dgm:t>
    </dgm:pt>
    <dgm:pt modelId="{B4DC5A92-A803-6345-8812-01D72432E5E5}">
      <dgm:prSet/>
      <dgm:spPr/>
      <dgm:t>
        <a:bodyPr/>
        <a:lstStyle/>
        <a:p>
          <a:r>
            <a:rPr lang="en-US" dirty="0"/>
            <a:t>Stage 4</a:t>
          </a:r>
        </a:p>
      </dgm:t>
    </dgm:pt>
    <dgm:pt modelId="{70648039-E6EE-D446-AAD7-649BB576629F}" type="parTrans" cxnId="{94542AB1-191A-AE46-8560-38276608F6E5}">
      <dgm:prSet/>
      <dgm:spPr/>
      <dgm:t>
        <a:bodyPr/>
        <a:lstStyle/>
        <a:p>
          <a:endParaRPr lang="en-US"/>
        </a:p>
      </dgm:t>
    </dgm:pt>
    <dgm:pt modelId="{7A1890D7-263F-5640-9FDA-30D2CA4B4E30}" type="sibTrans" cxnId="{94542AB1-191A-AE46-8560-38276608F6E5}">
      <dgm:prSet/>
      <dgm:spPr/>
      <dgm:t>
        <a:bodyPr/>
        <a:lstStyle/>
        <a:p>
          <a:endParaRPr lang="en-US"/>
        </a:p>
      </dgm:t>
    </dgm:pt>
    <dgm:pt modelId="{3F3B4BB1-8022-A04A-A641-777F3E605388}" type="pres">
      <dgm:prSet presAssocID="{D53F39A4-95AF-0645-B50A-4327F37715B2}" presName="Name0" presStyleCnt="0">
        <dgm:presLayoutVars>
          <dgm:dir/>
          <dgm:resizeHandles val="exact"/>
        </dgm:presLayoutVars>
      </dgm:prSet>
      <dgm:spPr/>
    </dgm:pt>
    <dgm:pt modelId="{8849945D-3D5F-464F-9D3D-A75662B9C265}" type="pres">
      <dgm:prSet presAssocID="{C57B181B-599A-9043-8D36-7635ECE3B237}" presName="node" presStyleLbl="node1" presStyleIdx="0" presStyleCnt="4">
        <dgm:presLayoutVars>
          <dgm:bulletEnabled val="1"/>
        </dgm:presLayoutVars>
      </dgm:prSet>
      <dgm:spPr/>
    </dgm:pt>
    <dgm:pt modelId="{9E030CF8-F669-0246-8FCE-25048AA0F9B8}" type="pres">
      <dgm:prSet presAssocID="{B6D6402A-3A7E-6344-AE7F-F99145681244}" presName="sibTrans" presStyleLbl="sibTrans2D1" presStyleIdx="0" presStyleCnt="3"/>
      <dgm:spPr/>
    </dgm:pt>
    <dgm:pt modelId="{DBD9CA5D-7141-0E4F-A2A3-F2F86E30FC92}" type="pres">
      <dgm:prSet presAssocID="{B6D6402A-3A7E-6344-AE7F-F99145681244}" presName="connectorText" presStyleLbl="sibTrans2D1" presStyleIdx="0" presStyleCnt="3"/>
      <dgm:spPr/>
    </dgm:pt>
    <dgm:pt modelId="{AC2898EF-F6B3-A94C-9C83-B602B3809EE7}" type="pres">
      <dgm:prSet presAssocID="{B05E2261-C342-BB46-8BDB-8E2C7C0E4F8C}" presName="node" presStyleLbl="node1" presStyleIdx="1" presStyleCnt="4">
        <dgm:presLayoutVars>
          <dgm:bulletEnabled val="1"/>
        </dgm:presLayoutVars>
      </dgm:prSet>
      <dgm:spPr/>
    </dgm:pt>
    <dgm:pt modelId="{55C2D7C4-2BBE-9046-B3F2-4B9F47FDE17C}" type="pres">
      <dgm:prSet presAssocID="{9C33451D-C7E9-C940-96E3-5AD834F22CCD}" presName="sibTrans" presStyleLbl="sibTrans2D1" presStyleIdx="1" presStyleCnt="3"/>
      <dgm:spPr/>
    </dgm:pt>
    <dgm:pt modelId="{06D973B8-8BBF-E64A-9E84-6F80285AAB55}" type="pres">
      <dgm:prSet presAssocID="{9C33451D-C7E9-C940-96E3-5AD834F22CCD}" presName="connectorText" presStyleLbl="sibTrans2D1" presStyleIdx="1" presStyleCnt="3"/>
      <dgm:spPr/>
    </dgm:pt>
    <dgm:pt modelId="{6D26DC38-DCD4-1948-BCD2-D6E365CFB76C}" type="pres">
      <dgm:prSet presAssocID="{617A1922-3395-3B44-97A1-F9BCC05A6499}" presName="node" presStyleLbl="node1" presStyleIdx="2" presStyleCnt="4">
        <dgm:presLayoutVars>
          <dgm:bulletEnabled val="1"/>
        </dgm:presLayoutVars>
      </dgm:prSet>
      <dgm:spPr/>
    </dgm:pt>
    <dgm:pt modelId="{7738FCE7-18F0-534E-B8CD-E43F140540DC}" type="pres">
      <dgm:prSet presAssocID="{DC7D35F1-FD3B-6D49-A004-742B92179703}" presName="sibTrans" presStyleLbl="sibTrans2D1" presStyleIdx="2" presStyleCnt="3"/>
      <dgm:spPr/>
    </dgm:pt>
    <dgm:pt modelId="{A91439DE-B14D-AA4E-B0C4-9772FAF54055}" type="pres">
      <dgm:prSet presAssocID="{DC7D35F1-FD3B-6D49-A004-742B92179703}" presName="connectorText" presStyleLbl="sibTrans2D1" presStyleIdx="2" presStyleCnt="3"/>
      <dgm:spPr/>
    </dgm:pt>
    <dgm:pt modelId="{B0F97CDD-90AA-DD42-96FE-45E85DE100E4}" type="pres">
      <dgm:prSet presAssocID="{B4DC5A92-A803-6345-8812-01D72432E5E5}" presName="node" presStyleLbl="node1" presStyleIdx="3" presStyleCnt="4">
        <dgm:presLayoutVars>
          <dgm:bulletEnabled val="1"/>
        </dgm:presLayoutVars>
      </dgm:prSet>
      <dgm:spPr/>
    </dgm:pt>
  </dgm:ptLst>
  <dgm:cxnLst>
    <dgm:cxn modelId="{C9510707-1FE0-2947-B4AE-F53C434EA299}" type="presOf" srcId="{B6D6402A-3A7E-6344-AE7F-F99145681244}" destId="{9E030CF8-F669-0246-8FCE-25048AA0F9B8}" srcOrd="0" destOrd="0" presId="urn:microsoft.com/office/officeart/2005/8/layout/process1"/>
    <dgm:cxn modelId="{36953A2F-E652-A140-845F-9C55E8DF0A55}" type="presOf" srcId="{9C33451D-C7E9-C940-96E3-5AD834F22CCD}" destId="{06D973B8-8BBF-E64A-9E84-6F80285AAB55}" srcOrd="1" destOrd="0" presId="urn:microsoft.com/office/officeart/2005/8/layout/process1"/>
    <dgm:cxn modelId="{C93BA144-0326-9746-B1D3-80D0C48FAC4C}" type="presOf" srcId="{DC7D35F1-FD3B-6D49-A004-742B92179703}" destId="{7738FCE7-18F0-534E-B8CD-E43F140540DC}" srcOrd="0" destOrd="0" presId="urn:microsoft.com/office/officeart/2005/8/layout/process1"/>
    <dgm:cxn modelId="{275ED64F-3237-2A48-B397-D737292E63BA}" type="presOf" srcId="{C57B181B-599A-9043-8D36-7635ECE3B237}" destId="{8849945D-3D5F-464F-9D3D-A75662B9C265}" srcOrd="0" destOrd="0" presId="urn:microsoft.com/office/officeart/2005/8/layout/process1"/>
    <dgm:cxn modelId="{5FCBCB57-B885-2E46-BAC4-528992A0ACEF}" srcId="{D53F39A4-95AF-0645-B50A-4327F37715B2}" destId="{B05E2261-C342-BB46-8BDB-8E2C7C0E4F8C}" srcOrd="1" destOrd="0" parTransId="{7C67BB67-BD37-BB40-940A-F8415494E14E}" sibTransId="{9C33451D-C7E9-C940-96E3-5AD834F22CCD}"/>
    <dgm:cxn modelId="{685DBA66-426B-D04F-831B-B75B31C2693E}" type="presOf" srcId="{617A1922-3395-3B44-97A1-F9BCC05A6499}" destId="{6D26DC38-DCD4-1948-BCD2-D6E365CFB76C}" srcOrd="0" destOrd="0" presId="urn:microsoft.com/office/officeart/2005/8/layout/process1"/>
    <dgm:cxn modelId="{43B3DC89-0017-5242-8079-1567403D3FCC}" srcId="{D53F39A4-95AF-0645-B50A-4327F37715B2}" destId="{C57B181B-599A-9043-8D36-7635ECE3B237}" srcOrd="0" destOrd="0" parTransId="{AB6F5AFD-8FDF-6642-837C-87B72536FF6C}" sibTransId="{B6D6402A-3A7E-6344-AE7F-F99145681244}"/>
    <dgm:cxn modelId="{A9439797-5777-554B-B737-96160D02E57A}" type="presOf" srcId="{B4DC5A92-A803-6345-8812-01D72432E5E5}" destId="{B0F97CDD-90AA-DD42-96FE-45E85DE100E4}" srcOrd="0" destOrd="0" presId="urn:microsoft.com/office/officeart/2005/8/layout/process1"/>
    <dgm:cxn modelId="{66014DA0-0293-6A42-95EA-0E706ADB9CB1}" type="presOf" srcId="{B05E2261-C342-BB46-8BDB-8E2C7C0E4F8C}" destId="{AC2898EF-F6B3-A94C-9C83-B602B3809EE7}" srcOrd="0" destOrd="0" presId="urn:microsoft.com/office/officeart/2005/8/layout/process1"/>
    <dgm:cxn modelId="{94542AB1-191A-AE46-8560-38276608F6E5}" srcId="{D53F39A4-95AF-0645-B50A-4327F37715B2}" destId="{B4DC5A92-A803-6345-8812-01D72432E5E5}" srcOrd="3" destOrd="0" parTransId="{70648039-E6EE-D446-AAD7-649BB576629F}" sibTransId="{7A1890D7-263F-5640-9FDA-30D2CA4B4E30}"/>
    <dgm:cxn modelId="{9FBC09BF-8FF5-4245-A5E6-1B7E9AD1242B}" srcId="{D53F39A4-95AF-0645-B50A-4327F37715B2}" destId="{617A1922-3395-3B44-97A1-F9BCC05A6499}" srcOrd="2" destOrd="0" parTransId="{564199D7-7457-134C-B23E-682F6BB0FAE2}" sibTransId="{DC7D35F1-FD3B-6D49-A004-742B92179703}"/>
    <dgm:cxn modelId="{C1E841BF-23E7-8C46-9E6E-86D004041524}" type="presOf" srcId="{DC7D35F1-FD3B-6D49-A004-742B92179703}" destId="{A91439DE-B14D-AA4E-B0C4-9772FAF54055}" srcOrd="1" destOrd="0" presId="urn:microsoft.com/office/officeart/2005/8/layout/process1"/>
    <dgm:cxn modelId="{1222C7D5-FDD4-4F49-AFC0-5FB1940ADBCC}" type="presOf" srcId="{D53F39A4-95AF-0645-B50A-4327F37715B2}" destId="{3F3B4BB1-8022-A04A-A641-777F3E605388}" srcOrd="0" destOrd="0" presId="urn:microsoft.com/office/officeart/2005/8/layout/process1"/>
    <dgm:cxn modelId="{842059F1-F9FB-6B42-97C8-A009B3F978F2}" type="presOf" srcId="{B6D6402A-3A7E-6344-AE7F-F99145681244}" destId="{DBD9CA5D-7141-0E4F-A2A3-F2F86E30FC92}" srcOrd="1" destOrd="0" presId="urn:microsoft.com/office/officeart/2005/8/layout/process1"/>
    <dgm:cxn modelId="{1AFF24FC-0DF0-834D-A190-3DC33311414C}" type="presOf" srcId="{9C33451D-C7E9-C940-96E3-5AD834F22CCD}" destId="{55C2D7C4-2BBE-9046-B3F2-4B9F47FDE17C}" srcOrd="0" destOrd="0" presId="urn:microsoft.com/office/officeart/2005/8/layout/process1"/>
    <dgm:cxn modelId="{CF4D0FD8-0830-6B42-A812-07F26865EFAD}" type="presParOf" srcId="{3F3B4BB1-8022-A04A-A641-777F3E605388}" destId="{8849945D-3D5F-464F-9D3D-A75662B9C265}" srcOrd="0" destOrd="0" presId="urn:microsoft.com/office/officeart/2005/8/layout/process1"/>
    <dgm:cxn modelId="{F8CC6AD0-F7F4-6745-8120-9DC042D6BC97}" type="presParOf" srcId="{3F3B4BB1-8022-A04A-A641-777F3E605388}" destId="{9E030CF8-F669-0246-8FCE-25048AA0F9B8}" srcOrd="1" destOrd="0" presId="urn:microsoft.com/office/officeart/2005/8/layout/process1"/>
    <dgm:cxn modelId="{26D92C53-B30E-C246-BC27-998A766BAED7}" type="presParOf" srcId="{9E030CF8-F669-0246-8FCE-25048AA0F9B8}" destId="{DBD9CA5D-7141-0E4F-A2A3-F2F86E30FC92}" srcOrd="0" destOrd="0" presId="urn:microsoft.com/office/officeart/2005/8/layout/process1"/>
    <dgm:cxn modelId="{76B06F59-BA8F-484A-AED4-A14C8D0E30C9}" type="presParOf" srcId="{3F3B4BB1-8022-A04A-A641-777F3E605388}" destId="{AC2898EF-F6B3-A94C-9C83-B602B3809EE7}" srcOrd="2" destOrd="0" presId="urn:microsoft.com/office/officeart/2005/8/layout/process1"/>
    <dgm:cxn modelId="{6B4841FC-39D6-F844-B273-E4AEE3E341AA}" type="presParOf" srcId="{3F3B4BB1-8022-A04A-A641-777F3E605388}" destId="{55C2D7C4-2BBE-9046-B3F2-4B9F47FDE17C}" srcOrd="3" destOrd="0" presId="urn:microsoft.com/office/officeart/2005/8/layout/process1"/>
    <dgm:cxn modelId="{D0B98BE3-E574-FF40-AFD3-E59229D818D4}" type="presParOf" srcId="{55C2D7C4-2BBE-9046-B3F2-4B9F47FDE17C}" destId="{06D973B8-8BBF-E64A-9E84-6F80285AAB55}" srcOrd="0" destOrd="0" presId="urn:microsoft.com/office/officeart/2005/8/layout/process1"/>
    <dgm:cxn modelId="{B50DE9CD-E1D6-B840-8B87-C03B51CDBFA2}" type="presParOf" srcId="{3F3B4BB1-8022-A04A-A641-777F3E605388}" destId="{6D26DC38-DCD4-1948-BCD2-D6E365CFB76C}" srcOrd="4" destOrd="0" presId="urn:microsoft.com/office/officeart/2005/8/layout/process1"/>
    <dgm:cxn modelId="{17C4C42C-47E2-6F41-BFD5-80467E09AF39}" type="presParOf" srcId="{3F3B4BB1-8022-A04A-A641-777F3E605388}" destId="{7738FCE7-18F0-534E-B8CD-E43F140540DC}" srcOrd="5" destOrd="0" presId="urn:microsoft.com/office/officeart/2005/8/layout/process1"/>
    <dgm:cxn modelId="{696A9560-99DC-2C43-92CB-EA6073057663}" type="presParOf" srcId="{7738FCE7-18F0-534E-B8CD-E43F140540DC}" destId="{A91439DE-B14D-AA4E-B0C4-9772FAF54055}" srcOrd="0" destOrd="0" presId="urn:microsoft.com/office/officeart/2005/8/layout/process1"/>
    <dgm:cxn modelId="{0F382915-FEF8-6E47-983B-E8F0687F5305}" type="presParOf" srcId="{3F3B4BB1-8022-A04A-A641-777F3E605388}" destId="{B0F97CDD-90AA-DD42-96FE-45E85DE100E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9945D-3D5F-464F-9D3D-A75662B9C265}">
      <dsp:nvSpPr>
        <dsp:cNvPr id="0" name=""/>
        <dsp:cNvSpPr/>
      </dsp:nvSpPr>
      <dsp:spPr>
        <a:xfrm>
          <a:off x="3415" y="1609386"/>
          <a:ext cx="1493378" cy="8960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Eggs</a:t>
          </a:r>
        </a:p>
      </dsp:txBody>
      <dsp:txXfrm>
        <a:off x="29659" y="1635630"/>
        <a:ext cx="1440890" cy="843539"/>
      </dsp:txXfrm>
    </dsp:sp>
    <dsp:sp modelId="{9E030CF8-F669-0246-8FCE-25048AA0F9B8}">
      <dsp:nvSpPr>
        <dsp:cNvPr id="0" name=""/>
        <dsp:cNvSpPr/>
      </dsp:nvSpPr>
      <dsp:spPr>
        <a:xfrm>
          <a:off x="1646132" y="1872221"/>
          <a:ext cx="316596" cy="37035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646132" y="1946292"/>
        <a:ext cx="221617" cy="222215"/>
      </dsp:txXfrm>
    </dsp:sp>
    <dsp:sp modelId="{AC2898EF-F6B3-A94C-9C83-B602B3809EE7}">
      <dsp:nvSpPr>
        <dsp:cNvPr id="0" name=""/>
        <dsp:cNvSpPr/>
      </dsp:nvSpPr>
      <dsp:spPr>
        <a:xfrm>
          <a:off x="2094145" y="1609386"/>
          <a:ext cx="1493378" cy="8960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Larvae</a:t>
          </a:r>
        </a:p>
      </dsp:txBody>
      <dsp:txXfrm>
        <a:off x="2120389" y="1635630"/>
        <a:ext cx="1440890" cy="843539"/>
      </dsp:txXfrm>
    </dsp:sp>
    <dsp:sp modelId="{55C2D7C4-2BBE-9046-B3F2-4B9F47FDE17C}">
      <dsp:nvSpPr>
        <dsp:cNvPr id="0" name=""/>
        <dsp:cNvSpPr/>
      </dsp:nvSpPr>
      <dsp:spPr>
        <a:xfrm>
          <a:off x="3736862" y="1872221"/>
          <a:ext cx="316596" cy="37035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736862" y="1946292"/>
        <a:ext cx="221617" cy="222215"/>
      </dsp:txXfrm>
    </dsp:sp>
    <dsp:sp modelId="{6D26DC38-DCD4-1948-BCD2-D6E365CFB76C}">
      <dsp:nvSpPr>
        <dsp:cNvPr id="0" name=""/>
        <dsp:cNvSpPr/>
      </dsp:nvSpPr>
      <dsp:spPr>
        <a:xfrm>
          <a:off x="4184875" y="1609386"/>
          <a:ext cx="1493378" cy="8960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Nymphs</a:t>
          </a:r>
        </a:p>
      </dsp:txBody>
      <dsp:txXfrm>
        <a:off x="4211119" y="1635630"/>
        <a:ext cx="1440890" cy="843539"/>
      </dsp:txXfrm>
    </dsp:sp>
    <dsp:sp modelId="{7738FCE7-18F0-534E-B8CD-E43F140540DC}">
      <dsp:nvSpPr>
        <dsp:cNvPr id="0" name=""/>
        <dsp:cNvSpPr/>
      </dsp:nvSpPr>
      <dsp:spPr>
        <a:xfrm>
          <a:off x="5827592" y="1872221"/>
          <a:ext cx="316596" cy="37035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827592" y="1946292"/>
        <a:ext cx="221617" cy="222215"/>
      </dsp:txXfrm>
    </dsp:sp>
    <dsp:sp modelId="{B0F97CDD-90AA-DD42-96FE-45E85DE100E4}">
      <dsp:nvSpPr>
        <dsp:cNvPr id="0" name=""/>
        <dsp:cNvSpPr/>
      </dsp:nvSpPr>
      <dsp:spPr>
        <a:xfrm>
          <a:off x="6275605" y="1609386"/>
          <a:ext cx="1493378" cy="8960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Adults</a:t>
          </a:r>
        </a:p>
      </dsp:txBody>
      <dsp:txXfrm>
        <a:off x="6301849" y="1635630"/>
        <a:ext cx="1440890" cy="843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9945D-3D5F-464F-9D3D-A75662B9C265}">
      <dsp:nvSpPr>
        <dsp:cNvPr id="0" name=""/>
        <dsp:cNvSpPr/>
      </dsp:nvSpPr>
      <dsp:spPr>
        <a:xfrm>
          <a:off x="3415" y="1609386"/>
          <a:ext cx="1493378" cy="896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Stage 1</a:t>
          </a:r>
        </a:p>
      </dsp:txBody>
      <dsp:txXfrm>
        <a:off x="29659" y="1635630"/>
        <a:ext cx="1440890" cy="843539"/>
      </dsp:txXfrm>
    </dsp:sp>
    <dsp:sp modelId="{9E030CF8-F669-0246-8FCE-25048AA0F9B8}">
      <dsp:nvSpPr>
        <dsp:cNvPr id="0" name=""/>
        <dsp:cNvSpPr/>
      </dsp:nvSpPr>
      <dsp:spPr>
        <a:xfrm>
          <a:off x="1646132" y="1872221"/>
          <a:ext cx="316596" cy="3703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646132" y="1946292"/>
        <a:ext cx="221617" cy="222215"/>
      </dsp:txXfrm>
    </dsp:sp>
    <dsp:sp modelId="{AC2898EF-F6B3-A94C-9C83-B602B3809EE7}">
      <dsp:nvSpPr>
        <dsp:cNvPr id="0" name=""/>
        <dsp:cNvSpPr/>
      </dsp:nvSpPr>
      <dsp:spPr>
        <a:xfrm>
          <a:off x="2094145" y="1609386"/>
          <a:ext cx="1493378" cy="896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Stage 2</a:t>
          </a:r>
        </a:p>
      </dsp:txBody>
      <dsp:txXfrm>
        <a:off x="2120389" y="1635630"/>
        <a:ext cx="1440890" cy="843539"/>
      </dsp:txXfrm>
    </dsp:sp>
    <dsp:sp modelId="{55C2D7C4-2BBE-9046-B3F2-4B9F47FDE17C}">
      <dsp:nvSpPr>
        <dsp:cNvPr id="0" name=""/>
        <dsp:cNvSpPr/>
      </dsp:nvSpPr>
      <dsp:spPr>
        <a:xfrm>
          <a:off x="3736862" y="1872221"/>
          <a:ext cx="316596" cy="3703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736862" y="1946292"/>
        <a:ext cx="221617" cy="222215"/>
      </dsp:txXfrm>
    </dsp:sp>
    <dsp:sp modelId="{6D26DC38-DCD4-1948-BCD2-D6E365CFB76C}">
      <dsp:nvSpPr>
        <dsp:cNvPr id="0" name=""/>
        <dsp:cNvSpPr/>
      </dsp:nvSpPr>
      <dsp:spPr>
        <a:xfrm>
          <a:off x="4184875" y="1609386"/>
          <a:ext cx="1493378" cy="896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Stage 3</a:t>
          </a:r>
        </a:p>
      </dsp:txBody>
      <dsp:txXfrm>
        <a:off x="4211119" y="1635630"/>
        <a:ext cx="1440890" cy="843539"/>
      </dsp:txXfrm>
    </dsp:sp>
    <dsp:sp modelId="{7738FCE7-18F0-534E-B8CD-E43F140540DC}">
      <dsp:nvSpPr>
        <dsp:cNvPr id="0" name=""/>
        <dsp:cNvSpPr/>
      </dsp:nvSpPr>
      <dsp:spPr>
        <a:xfrm>
          <a:off x="5827592" y="1872221"/>
          <a:ext cx="316596" cy="3703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827592" y="1946292"/>
        <a:ext cx="221617" cy="222215"/>
      </dsp:txXfrm>
    </dsp:sp>
    <dsp:sp modelId="{B0F97CDD-90AA-DD42-96FE-45E85DE100E4}">
      <dsp:nvSpPr>
        <dsp:cNvPr id="0" name=""/>
        <dsp:cNvSpPr/>
      </dsp:nvSpPr>
      <dsp:spPr>
        <a:xfrm>
          <a:off x="6275605" y="1609386"/>
          <a:ext cx="1493378" cy="896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Stage 4</a:t>
          </a:r>
        </a:p>
      </dsp:txBody>
      <dsp:txXfrm>
        <a:off x="6301849" y="1635630"/>
        <a:ext cx="1440890" cy="843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68C3979-8F0B-1541-AC57-0819A0A0A8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62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D1D3A3-6FE9-3E43-B8EB-FF44B8681E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082040-6C5D-004E-A905-A9B5A88F5BF5}" type="slidenum">
              <a:rPr lang="en-US"/>
              <a:pPr/>
              <a:t>1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19235-9B42-A642-B0D1-B2905B98BA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21DD02-63C5-0743-BA6B-5D26F5D422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08A68A-8CC1-0F4E-80EF-7845EB0CE0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87C38F-7C1E-1645-A896-F2A8E63849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D195AE-D806-F444-9444-52D27BBEFC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0F402F-A53D-244D-9EE3-E8481C315E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2AEE58-D8F6-3043-A6C1-1451A47D814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4AAABB-73D5-EF41-BEB8-D8A5873362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E4B7FD-4152-7945-8A5B-BFFA4946DA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3FB3C-FCB8-C441-9B29-31EB40A091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B20DF3-D5A1-B943-AFC7-557DFDF129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DE49D-4337-B54F-8C74-2677AE47B1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381000"/>
          </a:xfrm>
          <a:prstGeom prst="rect">
            <a:avLst/>
          </a:prstGeom>
          <a:solidFill>
            <a:srgbClr val="002C5F"/>
          </a:solidFill>
          <a:ln w="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475413"/>
            <a:ext cx="9144000" cy="381000"/>
          </a:xfrm>
          <a:prstGeom prst="rect">
            <a:avLst/>
          </a:prstGeom>
          <a:solidFill>
            <a:srgbClr val="002C5F"/>
          </a:solidFill>
          <a:ln w="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8600" y="6477000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6C922EC8-8A85-184D-8D8B-4910E5D2F60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4B04CD-171E-4CE9-B50B-16BF98B36A3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200" y="47470"/>
            <a:ext cx="356365" cy="28000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6A6762-0C81-4D24-B82E-DC341822A97E}"/>
              </a:ext>
            </a:extLst>
          </p:cNvPr>
          <p:cNvCxnSpPr/>
          <p:nvPr userDrawn="1"/>
        </p:nvCxnSpPr>
        <p:spPr bwMode="auto">
          <a:xfrm>
            <a:off x="518916" y="55027"/>
            <a:ext cx="0" cy="2800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BFE0D5-570A-4555-AB1C-9F2DC2E2C64F}"/>
              </a:ext>
            </a:extLst>
          </p:cNvPr>
          <p:cNvSpPr txBox="1"/>
          <p:nvPr userDrawn="1"/>
        </p:nvSpPr>
        <p:spPr>
          <a:xfrm>
            <a:off x="518915" y="11668"/>
            <a:ext cx="306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M&amp;S in Life Sciences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5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0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546AF7D-458C-D040-B6F5-E188195521C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M&amp;S in Life Sciences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BIOL 772/872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">
            <a:extLst>
              <a:ext uri="{FF2B5EF4-FFF2-40B4-BE49-F238E27FC236}">
                <a16:creationId xmlns:a16="http://schemas.microsoft.com/office/drawing/2014/main" id="{403DAB9D-53F7-B67A-ED82-38AA8F0E5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62468" y="449263"/>
            <a:ext cx="6338177" cy="595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0404A35-34C5-701D-41F3-04D213AD9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038600" y="6477000"/>
            <a:ext cx="1066800" cy="3048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521DD02-63C5-0743-BA6B-5D26F5D4223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5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impacts from the past in a long-lived species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t="-37792" b="-37792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5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Predicted age-distribution in 2050 in Germany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l="-8728" r="-8728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age-distribution in 1950 in Germany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-10582" r="-10582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2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1950 Germany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-12884" r="-12884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9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1950 Germany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-8172" r="-8172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6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1950 Germany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t="706" b="706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78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Demographic PVAs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Particularly with long-lived organisms all individuals are not equal</a:t>
            </a:r>
          </a:p>
          <a:p>
            <a:r>
              <a:rPr lang="en-US" sz="2800"/>
              <a:t>Need to explicitly account for differences in growth, survival and reproduction with age</a:t>
            </a:r>
          </a:p>
          <a:p>
            <a:r>
              <a:rPr lang="en-US" sz="2800"/>
              <a:t>Use matrix population models to project future population growth</a:t>
            </a:r>
          </a:p>
          <a:p>
            <a:r>
              <a:rPr lang="en-US" sz="2800"/>
              <a:t>Based on survival, growth and reproduction of different individuals in population</a:t>
            </a:r>
          </a:p>
        </p:txBody>
      </p:sp>
    </p:spTree>
    <p:extLst>
      <p:ext uri="{BB962C8B-B14F-4D97-AF65-F5344CB8AC3E}">
        <p14:creationId xmlns:p14="http://schemas.microsoft.com/office/powerpoint/2010/main" val="360449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Demographic PVAs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Conduct study using marked individuals and measure growth, survival and reproduction over several years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Classify individuals into stages like size or age (unknown for many species)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Stages dependent on species (e.g. young juvenile, old juvenile, young adult, reproductive adult, old reproductive adult)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Estimate vital rates for each stage</a:t>
            </a:r>
          </a:p>
        </p:txBody>
      </p:sp>
    </p:spTree>
    <p:extLst>
      <p:ext uri="{BB962C8B-B14F-4D97-AF65-F5344CB8AC3E}">
        <p14:creationId xmlns:p14="http://schemas.microsoft.com/office/powerpoint/2010/main" val="189485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Structure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Suppose we know the following:</a:t>
            </a:r>
          </a:p>
          <a:p>
            <a:r>
              <a:rPr lang="en-US" dirty="0"/>
              <a:t>Tick life stages: egg, larva, nymph, adult</a:t>
            </a:r>
          </a:p>
          <a:p>
            <a:pPr lvl="1"/>
            <a:r>
              <a:rPr lang="en-US" dirty="0"/>
              <a:t>On average 10% of eggs survive to larvae</a:t>
            </a:r>
          </a:p>
          <a:p>
            <a:pPr lvl="1"/>
            <a:r>
              <a:rPr lang="en-US" dirty="0"/>
              <a:t>On average 5% of larvae survive to nymphs</a:t>
            </a:r>
          </a:p>
          <a:p>
            <a:pPr lvl="1"/>
            <a:r>
              <a:rPr lang="en-US" dirty="0"/>
              <a:t>On average 5% of nymphs become adults</a:t>
            </a:r>
          </a:p>
          <a:p>
            <a:r>
              <a:rPr lang="en-US" dirty="0"/>
              <a:t>How many eggs would an adult female have to lay on average for this population to survive?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15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Demographic PVA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5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A93BA30-0549-994C-8369-0EB0A136FA6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533" name="Curved Right Arrow 15"/>
          <p:cNvSpPr>
            <a:spLocks noChangeArrowheads="1"/>
          </p:cNvSpPr>
          <p:nvPr/>
        </p:nvSpPr>
        <p:spPr bwMode="auto">
          <a:xfrm rot="5400000">
            <a:off x="3992563" y="-457200"/>
            <a:ext cx="1189038" cy="6827837"/>
          </a:xfrm>
          <a:prstGeom prst="curvedRightArrow">
            <a:avLst>
              <a:gd name="adj1" fmla="val 24990"/>
              <a:gd name="adj2" fmla="val 4997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61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Vital Rates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Like most demographic analyses, PVAs focus on key birth and death processes</a:t>
            </a:r>
          </a:p>
          <a:p>
            <a:r>
              <a:rPr lang="en-US"/>
              <a:t>Simpler models ignore immigration and emigration (although more complicated ones can include multiple populations with migration)</a:t>
            </a:r>
          </a:p>
        </p:txBody>
      </p:sp>
    </p:spTree>
    <p:extLst>
      <p:ext uri="{BB962C8B-B14F-4D97-AF65-F5344CB8AC3E}">
        <p14:creationId xmlns:p14="http://schemas.microsoft.com/office/powerpoint/2010/main" val="260990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018342"/>
              </p:ext>
            </p:extLst>
          </p:nvPr>
        </p:nvGraphicFramePr>
        <p:xfrm>
          <a:off x="685800" y="19812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5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A93BA30-0549-994C-8369-0EB0A136FA6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2533" name="Curved Right Arrow 15"/>
          <p:cNvSpPr>
            <a:spLocks noChangeArrowheads="1"/>
          </p:cNvSpPr>
          <p:nvPr/>
        </p:nvSpPr>
        <p:spPr bwMode="auto">
          <a:xfrm rot="5400000">
            <a:off x="3558382" y="-891381"/>
            <a:ext cx="1570036" cy="7315201"/>
          </a:xfrm>
          <a:prstGeom prst="curvedRightArrow">
            <a:avLst>
              <a:gd name="adj1" fmla="val 24990"/>
              <a:gd name="adj2" fmla="val 4997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Curved Right Arrow 15">
            <a:extLst>
              <a:ext uri="{FF2B5EF4-FFF2-40B4-BE49-F238E27FC236}">
                <a16:creationId xmlns:a16="http://schemas.microsoft.com/office/drawing/2014/main" id="{3242EE20-E9CE-AB01-E948-77C8398E26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01181" y="937419"/>
            <a:ext cx="1189038" cy="4038600"/>
          </a:xfrm>
          <a:prstGeom prst="curvedRightArrow">
            <a:avLst>
              <a:gd name="adj1" fmla="val 24990"/>
              <a:gd name="adj2" fmla="val 4997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02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Vital Rates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Survival</a:t>
            </a:r>
          </a:p>
          <a:p>
            <a:pPr lvl="1">
              <a:defRPr/>
            </a:pPr>
            <a:r>
              <a:rPr lang="en-US" dirty="0"/>
              <a:t>Typically refers to remaining in an stage class (age class)  </a:t>
            </a:r>
          </a:p>
          <a:p>
            <a:pPr>
              <a:defRPr/>
            </a:pPr>
            <a:r>
              <a:rPr lang="en-US" dirty="0"/>
              <a:t>Growth</a:t>
            </a:r>
          </a:p>
          <a:p>
            <a:pPr lvl="1">
              <a:defRPr/>
            </a:pPr>
            <a:r>
              <a:rPr lang="en-US" dirty="0"/>
              <a:t>Typically refers to going from one stage class (age class) to another</a:t>
            </a:r>
          </a:p>
          <a:p>
            <a:pPr>
              <a:defRPr/>
            </a:pPr>
            <a:r>
              <a:rPr lang="en-US" dirty="0"/>
              <a:t>Reproduction</a:t>
            </a:r>
          </a:p>
          <a:p>
            <a:pPr lvl="1">
              <a:defRPr/>
            </a:pPr>
            <a:r>
              <a:rPr lang="en-US" dirty="0"/>
              <a:t>Typically refers to number of offspring per individual (usually female) </a:t>
            </a:r>
          </a:p>
        </p:txBody>
      </p:sp>
    </p:spTree>
    <p:extLst>
      <p:ext uri="{BB962C8B-B14F-4D97-AF65-F5344CB8AC3E}">
        <p14:creationId xmlns:p14="http://schemas.microsoft.com/office/powerpoint/2010/main" val="3615892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Life Tables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Transform cohort information into survivorship and fecundity rates</a:t>
            </a:r>
          </a:p>
          <a:p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812A435-AD0B-4D4B-A298-46E5B04C211C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400" y="3276600"/>
          <a:ext cx="6248400" cy="28194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Adults (</a:t>
                      </a:r>
                      <a:r>
                        <a:rPr lang="en-US" dirty="0" err="1"/>
                        <a:t>n</a:t>
                      </a:r>
                      <a:r>
                        <a:rPr lang="en-US" baseline="-25000" dirty="0" err="1"/>
                        <a:t>x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Offspring (</a:t>
                      </a:r>
                      <a:r>
                        <a:rPr lang="en-US" dirty="0" err="1"/>
                        <a:t>m</a:t>
                      </a:r>
                      <a:r>
                        <a:rPr lang="en-US" baseline="-25000" dirty="0" err="1"/>
                        <a:t>x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018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Life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Number dying: </a:t>
            </a:r>
          </a:p>
          <a:p>
            <a:pPr lvl="1">
              <a:buFontTx/>
              <a:buNone/>
              <a:defRPr/>
            </a:pPr>
            <a:r>
              <a:rPr lang="en-US" i="1" dirty="0" err="1"/>
              <a:t>d</a:t>
            </a:r>
            <a:r>
              <a:rPr lang="en-US" i="1" baseline="-25000" dirty="0" err="1"/>
              <a:t>X</a:t>
            </a:r>
            <a:r>
              <a:rPr lang="en-US" i="1" baseline="-25000" dirty="0"/>
              <a:t> </a:t>
            </a:r>
            <a:r>
              <a:rPr lang="en-US" i="1" dirty="0"/>
              <a:t>= n</a:t>
            </a:r>
            <a:r>
              <a:rPr lang="en-US" i="1" baseline="-25000" dirty="0"/>
              <a:t>x</a:t>
            </a:r>
            <a:r>
              <a:rPr lang="en-US" i="1" dirty="0"/>
              <a:t>-n</a:t>
            </a:r>
            <a:r>
              <a:rPr lang="en-US" i="1" baseline="-25000" dirty="0"/>
              <a:t>x+1</a:t>
            </a:r>
          </a:p>
          <a:p>
            <a:pPr>
              <a:defRPr/>
            </a:pPr>
            <a:r>
              <a:rPr lang="en-US" dirty="0"/>
              <a:t>Proportion surviving:</a:t>
            </a:r>
          </a:p>
          <a:p>
            <a:pPr lvl="1">
              <a:buFontTx/>
              <a:buNone/>
              <a:defRPr/>
            </a:pPr>
            <a:r>
              <a:rPr lang="en-US" i="1" dirty="0"/>
              <a:t>l</a:t>
            </a:r>
            <a:r>
              <a:rPr lang="en-US" i="1" baseline="-25000" dirty="0"/>
              <a:t>x </a:t>
            </a:r>
            <a:r>
              <a:rPr lang="en-US" i="1" dirty="0"/>
              <a:t>= </a:t>
            </a:r>
            <a:r>
              <a:rPr lang="en-US" i="1" dirty="0" err="1"/>
              <a:t>n</a:t>
            </a:r>
            <a:r>
              <a:rPr lang="en-US" i="1" baseline="-25000" dirty="0" err="1"/>
              <a:t>x</a:t>
            </a:r>
            <a:r>
              <a:rPr lang="en-US" i="1" baseline="-25000" dirty="0"/>
              <a:t> </a:t>
            </a:r>
            <a:r>
              <a:rPr lang="en-US" i="1" dirty="0"/>
              <a:t>/ n</a:t>
            </a:r>
            <a:r>
              <a:rPr lang="en-US" i="1" baseline="-25000" dirty="0"/>
              <a:t>0</a:t>
            </a:r>
          </a:p>
          <a:p>
            <a:pPr lvl="1">
              <a:buFontTx/>
              <a:buNone/>
              <a:defRPr/>
            </a:pPr>
            <a:r>
              <a:rPr lang="en-US" i="1" dirty="0" err="1"/>
              <a:t>s</a:t>
            </a:r>
            <a:r>
              <a:rPr lang="en-US" i="1" baseline="-25000" dirty="0" err="1"/>
              <a:t>x</a:t>
            </a:r>
            <a:r>
              <a:rPr lang="en-US" i="1" dirty="0"/>
              <a:t> = n</a:t>
            </a:r>
            <a:r>
              <a:rPr lang="en-US" i="1" baseline="-25000" dirty="0"/>
              <a:t>x+1 </a:t>
            </a:r>
            <a:r>
              <a:rPr lang="en-US" i="1" dirty="0"/>
              <a:t>/ </a:t>
            </a:r>
            <a:r>
              <a:rPr lang="en-US" i="1" dirty="0" err="1"/>
              <a:t>n</a:t>
            </a:r>
            <a:r>
              <a:rPr lang="en-US" i="1" baseline="-25000" dirty="0" err="1"/>
              <a:t>x</a:t>
            </a:r>
            <a:endParaRPr lang="en-US" i="1" dirty="0"/>
          </a:p>
          <a:p>
            <a:pPr>
              <a:defRPr/>
            </a:pPr>
            <a:r>
              <a:rPr lang="en-US" dirty="0"/>
              <a:t>Mortality rate:</a:t>
            </a:r>
          </a:p>
          <a:p>
            <a:pPr lvl="1">
              <a:buFontTx/>
              <a:buNone/>
              <a:defRPr/>
            </a:pPr>
            <a:r>
              <a:rPr lang="en-US" i="1" dirty="0" err="1"/>
              <a:t>q</a:t>
            </a:r>
            <a:r>
              <a:rPr lang="en-US" i="1" baseline="-25000" dirty="0" err="1"/>
              <a:t>x</a:t>
            </a:r>
            <a:r>
              <a:rPr lang="en-US" i="1" dirty="0"/>
              <a:t> = </a:t>
            </a:r>
            <a:r>
              <a:rPr lang="en-US" i="1" dirty="0" err="1"/>
              <a:t>d</a:t>
            </a:r>
            <a:r>
              <a:rPr lang="en-US" i="1" baseline="-25000" dirty="0" err="1"/>
              <a:t>X</a:t>
            </a:r>
            <a:r>
              <a:rPr lang="en-US" i="1" dirty="0"/>
              <a:t> / </a:t>
            </a:r>
            <a:r>
              <a:rPr lang="en-US" i="1" dirty="0" err="1"/>
              <a:t>n</a:t>
            </a:r>
            <a:r>
              <a:rPr lang="en-US" i="1" baseline="-25000" dirty="0" err="1"/>
              <a:t>x</a:t>
            </a:r>
            <a:endParaRPr lang="en-US" i="1" baseline="-25000" dirty="0"/>
          </a:p>
          <a:p>
            <a:pPr>
              <a:defRPr/>
            </a:pPr>
            <a:r>
              <a:rPr lang="en-US" dirty="0"/>
              <a:t>Fecundity rate:</a:t>
            </a:r>
          </a:p>
          <a:p>
            <a:pPr>
              <a:buFontTx/>
              <a:buNone/>
              <a:defRPr/>
            </a:pPr>
            <a:r>
              <a:rPr lang="en-US" dirty="0"/>
              <a:t>	</a:t>
            </a:r>
            <a:r>
              <a:rPr lang="en-US" i="1" dirty="0" err="1"/>
              <a:t>f</a:t>
            </a:r>
            <a:r>
              <a:rPr lang="en-US" i="1" baseline="-25000" dirty="0" err="1"/>
              <a:t>x</a:t>
            </a:r>
            <a:r>
              <a:rPr lang="en-US" i="1" dirty="0"/>
              <a:t> = </a:t>
            </a:r>
            <a:r>
              <a:rPr lang="en-US" i="1" dirty="0" err="1"/>
              <a:t>m</a:t>
            </a:r>
            <a:r>
              <a:rPr lang="en-US" i="1" baseline="-25000" dirty="0" err="1"/>
              <a:t>x</a:t>
            </a:r>
            <a:r>
              <a:rPr lang="en-US" i="1" dirty="0"/>
              <a:t> / </a:t>
            </a:r>
            <a:r>
              <a:rPr lang="en-US" i="1" dirty="0" err="1"/>
              <a:t>n</a:t>
            </a:r>
            <a:r>
              <a:rPr lang="en-US" i="1" baseline="-25000" dirty="0" err="1"/>
              <a:t>x</a:t>
            </a:r>
            <a:endParaRPr 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3DE5AD0-9D3A-7945-A93D-8C0F7448828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43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Life Tables</a:t>
            </a: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7A9C09C-D533-5342-B27A-7B9EF1FFBF5F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924798" cy="4038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132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Offspring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d</a:t>
                      </a:r>
                      <a:r>
                        <a:rPr lang="en-US" i="1" baseline="-25000" dirty="0" err="1"/>
                        <a:t>x</a:t>
                      </a:r>
                      <a:endParaRPr lang="en-US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baseline="0" dirty="0"/>
                        <a:t>l</a:t>
                      </a:r>
                      <a:r>
                        <a:rPr lang="en-US" i="1" baseline="-25000" dirty="0"/>
                        <a:t>x</a:t>
                      </a:r>
                      <a:endParaRPr lang="en-US" i="1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err="1"/>
                        <a:t>s</a:t>
                      </a:r>
                      <a:r>
                        <a:rPr lang="en-US" i="1" baseline="-25000" dirty="0" err="1"/>
                        <a:t>x</a:t>
                      </a:r>
                      <a:endParaRPr lang="en-US" i="1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err="1"/>
                        <a:t>q</a:t>
                      </a:r>
                      <a:r>
                        <a:rPr lang="en-US" i="1" baseline="-25000" dirty="0" err="1"/>
                        <a:t>x</a:t>
                      </a:r>
                      <a:endParaRPr lang="en-US" i="1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543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Life Tables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F1887A8-0025-594A-A44A-085910AFB48A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924800" cy="4038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m</a:t>
                      </a:r>
                      <a:r>
                        <a:rPr lang="en-US" i="1" baseline="-25000" dirty="0" err="1"/>
                        <a:t>x</a:t>
                      </a:r>
                      <a:endParaRPr lang="en-US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baseline="0" dirty="0"/>
                        <a:t>l</a:t>
                      </a:r>
                      <a:r>
                        <a:rPr lang="en-US" i="1" baseline="-25000" dirty="0"/>
                        <a:t>x</a:t>
                      </a:r>
                      <a:endParaRPr lang="en-US" i="1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err="1"/>
                        <a:t>l</a:t>
                      </a:r>
                      <a:r>
                        <a:rPr lang="en-US" i="1" baseline="-25000" dirty="0" err="1"/>
                        <a:t>x</a:t>
                      </a:r>
                      <a:r>
                        <a:rPr lang="en-US" i="1" dirty="0" err="1"/>
                        <a:t>m</a:t>
                      </a:r>
                      <a:r>
                        <a:rPr lang="en-US" i="1" baseline="-25000" dirty="0" err="1"/>
                        <a:t>x</a:t>
                      </a:r>
                      <a:endParaRPr lang="en-US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err="1"/>
                        <a:t>f</a:t>
                      </a:r>
                      <a:r>
                        <a:rPr lang="en-US" i="1" baseline="-25000" dirty="0" err="1"/>
                        <a:t>x</a:t>
                      </a:r>
                      <a:endParaRPr lang="en-US" i="1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966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Concepts</a:t>
            </a:r>
          </a:p>
        </p:txBody>
      </p:sp>
      <p:sp>
        <p:nvSpPr>
          <p:cNvPr id="3481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Matrix</a:t>
            </a:r>
          </a:p>
          <a:p>
            <a:pPr lvl="1"/>
            <a:r>
              <a:rPr lang="en-US"/>
              <a:t>Ordered array of numbers or variables</a:t>
            </a:r>
          </a:p>
          <a:p>
            <a:pPr lvl="1"/>
            <a:r>
              <a:rPr lang="en-US"/>
              <a:t>Arranged into rows and columns</a:t>
            </a:r>
          </a:p>
        </p:txBody>
      </p:sp>
    </p:spTree>
    <p:extLst>
      <p:ext uri="{BB962C8B-B14F-4D97-AF65-F5344CB8AC3E}">
        <p14:creationId xmlns:p14="http://schemas.microsoft.com/office/powerpoint/2010/main" val="1720449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Concepts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the board….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C6A17E2-5BD8-6546-8E7C-72912A9EC30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23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Leslie Matrix</a:t>
            </a:r>
          </a:p>
        </p:txBody>
      </p:sp>
      <p:graphicFrame>
        <p:nvGraphicFramePr>
          <p:cNvPr id="36866" name="Content Placeholder 4"/>
          <p:cNvGraphicFramePr>
            <a:graphicFrameLocks noGrp="1" noChangeAspect="1"/>
          </p:cNvGraphicFramePr>
          <p:nvPr>
            <p:ph sz="half" idx="1"/>
          </p:nvPr>
        </p:nvGraphicFramePr>
        <p:xfrm>
          <a:off x="800100" y="2673350"/>
          <a:ext cx="3086100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8100" imgH="901700" progId="Equation.3">
                  <p:embed/>
                </p:oleObj>
              </mc:Choice>
              <mc:Fallback>
                <p:oleObj name="Equation" r:id="rId2" imgW="1308100" imgH="901700" progId="Equation.3">
                  <p:embed/>
                  <p:pic>
                    <p:nvPicPr>
                      <p:cNvPr id="36866" name="Content Placeholder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673350"/>
                        <a:ext cx="3086100" cy="212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AF0ACD3-9B60-C246-870A-7B3CC0E5BE94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267200" y="1752600"/>
          <a:ext cx="4495799" cy="4038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452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Cohort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err="1"/>
                        <a:t>s</a:t>
                      </a:r>
                      <a:r>
                        <a:rPr lang="en-US" i="1" baseline="-25000" dirty="0" err="1"/>
                        <a:t>x</a:t>
                      </a:r>
                      <a:endParaRPr lang="en-US" i="1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baseline="0" dirty="0" err="1"/>
                        <a:t>f</a:t>
                      </a:r>
                      <a:r>
                        <a:rPr lang="en-US" i="1" baseline="-25000" dirty="0" err="1"/>
                        <a:t>x</a:t>
                      </a:r>
                      <a:endParaRPr lang="en-US" i="1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514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Leslie Matrix</a:t>
            </a:r>
          </a:p>
        </p:txBody>
      </p:sp>
      <p:graphicFrame>
        <p:nvGraphicFramePr>
          <p:cNvPr id="37890" name="Content Placeholder 4"/>
          <p:cNvGraphicFramePr>
            <a:graphicFrameLocks noGrp="1" noChangeAspect="1"/>
          </p:cNvGraphicFramePr>
          <p:nvPr>
            <p:ph sz="half" idx="1"/>
          </p:nvPr>
        </p:nvGraphicFramePr>
        <p:xfrm>
          <a:off x="800100" y="2846388"/>
          <a:ext cx="308610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100" imgH="901700" progId="Equation.3">
                  <p:embed/>
                </p:oleObj>
              </mc:Choice>
              <mc:Fallback>
                <p:oleObj name="Equation" r:id="rId2" imgW="1562100" imgH="901700" progId="Equation.3">
                  <p:embed/>
                  <p:pic>
                    <p:nvPicPr>
                      <p:cNvPr id="37890" name="Content Placeholder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846388"/>
                        <a:ext cx="3086100" cy="178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6B47A3C-F6DF-764E-AF7E-A540A1506D6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7894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Need to calculate largest eigenvalue and corresponding eigenvector</a:t>
            </a:r>
          </a:p>
          <a:p>
            <a:r>
              <a:rPr lang="en-US"/>
              <a:t>Solve</a:t>
            </a:r>
          </a:p>
          <a:p>
            <a:endParaRPr lang="en-US"/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5251450" y="4495800"/>
          <a:ext cx="2520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400" imgH="139700" progId="Equation.3">
                  <p:embed/>
                </p:oleObj>
              </mc:Choice>
              <mc:Fallback>
                <p:oleObj name="Equation" r:id="rId4" imgW="660400" imgH="139700" progId="Equation.3">
                  <p:embed/>
                  <p:pic>
                    <p:nvPicPr>
                      <p:cNvPr id="37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4495800"/>
                        <a:ext cx="25209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5135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Leslie Matrix</a:t>
            </a:r>
          </a:p>
        </p:txBody>
      </p:sp>
      <p:sp>
        <p:nvSpPr>
          <p:cNvPr id="3891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4180AC8-0A09-F549-A307-032A0AAC7A47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38914" name="Content Placeholder 4"/>
          <p:cNvGraphicFramePr>
            <a:graphicFrameLocks noChangeAspect="1"/>
          </p:cNvGraphicFramePr>
          <p:nvPr/>
        </p:nvGraphicFramePr>
        <p:xfrm>
          <a:off x="762000" y="1981200"/>
          <a:ext cx="7485063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200" imgH="901700" progId="Equation.3">
                  <p:embed/>
                </p:oleObj>
              </mc:Choice>
              <mc:Fallback>
                <p:oleObj name="Equation" r:id="rId2" imgW="2108200" imgH="901700" progId="Equation.3">
                  <p:embed/>
                  <p:pic>
                    <p:nvPicPr>
                      <p:cNvPr id="38914" name="Content Placeholder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81200"/>
                        <a:ext cx="7485063" cy="320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2262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Leslie Matrix</a:t>
            </a:r>
          </a:p>
        </p:txBody>
      </p:sp>
      <p:sp>
        <p:nvSpPr>
          <p:cNvPr id="3993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Solve equations by calculating determinants for eigenvalue</a:t>
            </a:r>
          </a:p>
          <a:p>
            <a:r>
              <a:rPr lang="en-US"/>
              <a:t>Solve for eigenvector using that eigenvalue</a:t>
            </a:r>
          </a:p>
        </p:txBody>
      </p:sp>
      <p:sp>
        <p:nvSpPr>
          <p:cNvPr id="3994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4ECA6E4-513F-174B-BBE9-6FE8BD95222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06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Leslie Matrix</a:t>
            </a:r>
          </a:p>
        </p:txBody>
      </p:sp>
      <p:graphicFrame>
        <p:nvGraphicFramePr>
          <p:cNvPr id="37890" name="Content Placeholder 4"/>
          <p:cNvGraphicFramePr>
            <a:graphicFrameLocks noGrp="1" noChangeAspect="1"/>
          </p:cNvGraphicFramePr>
          <p:nvPr>
            <p:ph sz="half" idx="1"/>
          </p:nvPr>
        </p:nvGraphicFramePr>
        <p:xfrm>
          <a:off x="800100" y="2846388"/>
          <a:ext cx="308610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100" imgH="901700" progId="Equation.3">
                  <p:embed/>
                </p:oleObj>
              </mc:Choice>
              <mc:Fallback>
                <p:oleObj name="Equation" r:id="rId2" imgW="1562100" imgH="901700" progId="Equation.3">
                  <p:embed/>
                  <p:pic>
                    <p:nvPicPr>
                      <p:cNvPr id="37890" name="Content Placeholder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846388"/>
                        <a:ext cx="3086100" cy="178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6B47A3C-F6DF-764E-AF7E-A540A1506D6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7894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Need to calculate largest eigenvalue and corresponding eigenvector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92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Leslie Matrix</a:t>
            </a:r>
          </a:p>
        </p:txBody>
      </p:sp>
      <p:sp>
        <p:nvSpPr>
          <p:cNvPr id="4096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R:</a:t>
            </a:r>
          </a:p>
          <a:p>
            <a:r>
              <a:rPr lang="en-US" dirty="0"/>
              <a:t>x &lt;- matrix(c(0,0,0.4,25,0.5,0, 0,0,0,0.2,0,0,0,0,0.2,0),4)</a:t>
            </a:r>
          </a:p>
        </p:txBody>
      </p:sp>
      <p:sp>
        <p:nvSpPr>
          <p:cNvPr id="4096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6B66771-B926-B84B-95AF-8E169583846A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40965" name="Picture 4" descr="pva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4038600"/>
            <a:ext cx="83693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2612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Leslie Matrix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 λ= 0.85</a:t>
            </a:r>
          </a:p>
          <a:p>
            <a:r>
              <a:rPr lang="en-US"/>
              <a:t>V ={0.856928, 0.501175, 0.117245, 0.0274283}</a:t>
            </a:r>
          </a:p>
          <a:p>
            <a:r>
              <a:rPr lang="en-US"/>
              <a:t>What does that mean for the population? 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0399653-8170-3A4D-BB03-ECFB9BEC893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31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Considerations</a:t>
            </a:r>
          </a:p>
          <a:p>
            <a:r>
              <a:rPr lang="en-US" dirty="0" err="1"/>
              <a:t>Elasticities</a:t>
            </a:r>
            <a:endParaRPr lang="en-US" dirty="0"/>
          </a:p>
          <a:p>
            <a:r>
              <a:rPr lang="en-US" dirty="0"/>
              <a:t>Sensitivities</a:t>
            </a:r>
          </a:p>
          <a:p>
            <a:r>
              <a:rPr lang="en-US" dirty="0"/>
              <a:t>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68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Leslie Matrix from Life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Pre-breeding Census</a:t>
            </a:r>
          </a:p>
          <a:p>
            <a:r>
              <a:rPr lang="en-US" dirty="0"/>
              <a:t>Post-breeding Census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50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Leslie Matrix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-6585" r="-6585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62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Pre-breeding Census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36852"/>
            <a:ext cx="5791200" cy="3568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0" y="4310556"/>
            <a:ext cx="3606800" cy="193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88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Post-breeding Census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0"/>
            <a:ext cx="5293087" cy="32643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968750"/>
            <a:ext cx="38100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22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Elasticity analysis is a method determining the “sensitivity” of population growth (</a:t>
            </a:r>
            <a:r>
              <a:rPr lang="el-GR" sz="2800">
                <a:ea typeface="Tahoma" charset="0"/>
                <a:cs typeface="Tahoma" charset="0"/>
              </a:rPr>
              <a:t>λ</a:t>
            </a:r>
            <a:r>
              <a:rPr lang="en-US" sz="2800">
                <a:ea typeface="Tahoma" charset="0"/>
                <a:cs typeface="Tahoma" charset="0"/>
              </a:rPr>
              <a:t>) to scaled changes in vital rates (growth, survival, reproduction) </a:t>
            </a:r>
          </a:p>
          <a:p>
            <a:pPr>
              <a:lnSpc>
                <a:spcPct val="90000"/>
              </a:lnSpc>
            </a:pPr>
            <a:r>
              <a:rPr lang="en-US" sz="2800">
                <a:ea typeface="Tahoma" charset="0"/>
                <a:cs typeface="Tahoma" charset="0"/>
              </a:rPr>
              <a:t>The analysis looks at this sensitivity of growth to change in each element in the matrix (for each stage)</a:t>
            </a:r>
          </a:p>
          <a:p>
            <a:pPr>
              <a:lnSpc>
                <a:spcPct val="90000"/>
              </a:lnSpc>
            </a:pPr>
            <a:r>
              <a:rPr lang="en-US" sz="2800">
                <a:ea typeface="Tahoma" charset="0"/>
                <a:cs typeface="Tahoma" charset="0"/>
              </a:rPr>
              <a:t>Based on this, we can conclude which elements (which stages and rates) will have the greatest influence on population survival</a:t>
            </a:r>
          </a:p>
        </p:txBody>
      </p:sp>
    </p:spTree>
    <p:extLst>
      <p:ext uri="{BB962C8B-B14F-4D97-AF65-F5344CB8AC3E}">
        <p14:creationId xmlns:p14="http://schemas.microsoft.com/office/powerpoint/2010/main" val="2558531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460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Consider the following Leslie matrix: </a:t>
            </a:r>
          </a:p>
        </p:txBody>
      </p:sp>
      <p:sp>
        <p:nvSpPr>
          <p:cNvPr id="4608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7E1EA51-7523-BC42-9827-23636E15608F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1782763" y="3397250"/>
          <a:ext cx="5151437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100" imgH="673100" progId="Equation.3">
                  <p:embed/>
                </p:oleObj>
              </mc:Choice>
              <mc:Fallback>
                <p:oleObj name="Equation" r:id="rId2" imgW="1943100" imgH="673100" progId="Equation.3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3" y="3397250"/>
                        <a:ext cx="5151437" cy="178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6283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471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change </a:t>
            </a:r>
          </a:p>
        </p:txBody>
      </p:sp>
      <p:sp>
        <p:nvSpPr>
          <p:cNvPr id="4711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C9046FD-F681-A84E-B00B-6F2A0A056893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990600" y="2711450"/>
          <a:ext cx="5116513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400" imgH="673100" progId="Equation.3">
                  <p:embed/>
                </p:oleObj>
              </mc:Choice>
              <mc:Fallback>
                <p:oleObj name="Equation" r:id="rId2" imgW="1930400" imgH="673100" progId="Equation.3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11450"/>
                        <a:ext cx="5116513" cy="178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3763963" y="2108200"/>
          <a:ext cx="284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177800" progId="Equation.3">
                  <p:embed/>
                </p:oleObj>
              </mc:Choice>
              <mc:Fallback>
                <p:oleObj name="Equation" r:id="rId4" imgW="1244600" imgH="177800" progId="Equation.3">
                  <p:embed/>
                  <p:pic>
                    <p:nvPicPr>
                      <p:cNvPr id="471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2108200"/>
                        <a:ext cx="2844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3733800" y="4267200"/>
          <a:ext cx="5151438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3100" imgH="673100" progId="Equation.3">
                  <p:embed/>
                </p:oleObj>
              </mc:Choice>
              <mc:Fallback>
                <p:oleObj name="Equation" r:id="rId6" imgW="1943100" imgH="67310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267200"/>
                        <a:ext cx="5151438" cy="178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593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481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change </a:t>
            </a:r>
          </a:p>
        </p:txBody>
      </p:sp>
      <p:sp>
        <p:nvSpPr>
          <p:cNvPr id="4813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5D82BF0-848A-1144-A25E-29CE5BEC4F8C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990600" y="2711450"/>
          <a:ext cx="5116513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400" imgH="673100" progId="Equation.3">
                  <p:embed/>
                </p:oleObj>
              </mc:Choice>
              <mc:Fallback>
                <p:oleObj name="Equation" r:id="rId2" imgW="1930400" imgH="673100" progId="Equation.3">
                  <p:embed/>
                  <p:pic>
                    <p:nvPicPr>
                      <p:cNvPr id="48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11450"/>
                        <a:ext cx="5116513" cy="178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3894138" y="2108200"/>
          <a:ext cx="25828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300" imgH="177800" progId="Equation.3">
                  <p:embed/>
                </p:oleObj>
              </mc:Choice>
              <mc:Fallback>
                <p:oleObj name="Equation" r:id="rId4" imgW="1130300" imgH="177800" progId="Equation.3">
                  <p:embed/>
                  <p:pic>
                    <p:nvPicPr>
                      <p:cNvPr id="4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138" y="2108200"/>
                        <a:ext cx="258286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3733800" y="4267200"/>
          <a:ext cx="5151438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3100" imgH="673100" progId="Equation.3">
                  <p:embed/>
                </p:oleObj>
              </mc:Choice>
              <mc:Fallback>
                <p:oleObj name="Equation" r:id="rId6" imgW="1943100" imgH="673100" progId="Equation.3">
                  <p:embed/>
                  <p:pic>
                    <p:nvPicPr>
                      <p:cNvPr id="48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267200"/>
                        <a:ext cx="5151438" cy="178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710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4915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 changing first-year survivorship impacts growth more than first-year reproduction, right?</a:t>
            </a:r>
          </a:p>
          <a:p>
            <a:endParaRPr lang="en-US"/>
          </a:p>
        </p:txBody>
      </p:sp>
      <p:sp>
        <p:nvSpPr>
          <p:cNvPr id="4915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1469343-CD72-D64A-9DCE-FC33AAFB108B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1603375" y="4114800"/>
          <a:ext cx="63214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300" imgH="419100" progId="Equation.3">
                  <p:embed/>
                </p:oleObj>
              </mc:Choice>
              <mc:Fallback>
                <p:oleObj name="Equation" r:id="rId2" imgW="2781300" imgH="419100" progId="Equation.3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4114800"/>
                        <a:ext cx="6321425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5628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5018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Actually want to divide by amount changed to make it fair if we changed different amounts</a:t>
            </a:r>
          </a:p>
          <a:p>
            <a:r>
              <a:rPr lang="en-US"/>
              <a:t>Sensitivity coefficient is defined as:</a:t>
            </a:r>
          </a:p>
          <a:p>
            <a:endParaRPr lang="en-US"/>
          </a:p>
        </p:txBody>
      </p:sp>
      <p:sp>
        <p:nvSpPr>
          <p:cNvPr id="5018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D5BA505-712C-3545-B0ED-745AF1F3DEBA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1600200" y="4476750"/>
          <a:ext cx="51054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419100" progId="Equation.3">
                  <p:embed/>
                </p:oleObj>
              </mc:Choice>
              <mc:Fallback>
                <p:oleObj name="Equation" r:id="rId2" imgW="1841500" imgH="419100" progId="Equation.3">
                  <p:embed/>
                  <p:pic>
                    <p:nvPicPr>
                      <p:cNvPr id="501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476750"/>
                        <a:ext cx="5105400" cy="1162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9940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But why might sensitivity coefficients not be fair?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49CA93D-7216-C546-9228-D1C4860F0AF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32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5222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Elasticity measures proportional effect of a given parameter</a:t>
            </a:r>
          </a:p>
          <a:p>
            <a:endParaRPr lang="en-US"/>
          </a:p>
        </p:txBody>
      </p:sp>
      <p:sp>
        <p:nvSpPr>
          <p:cNvPr id="5222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D15FB39-C825-1A4C-BA71-83CA1A41047B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1477963" y="3429000"/>
          <a:ext cx="55324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700" imgH="444500" progId="Equation.3">
                  <p:embed/>
                </p:oleObj>
              </mc:Choice>
              <mc:Fallback>
                <p:oleObj name="Equation" r:id="rId2" imgW="1536700" imgH="444500" progId="Equation.3">
                  <p:embed/>
                  <p:pic>
                    <p:nvPicPr>
                      <p:cNvPr id="522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3429000"/>
                        <a:ext cx="5532437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0033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</p:nvPr>
        </p:nvGraphicFramePr>
        <p:xfrm>
          <a:off x="3962400" y="1981200"/>
          <a:ext cx="4495800" cy="340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Elasticity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9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9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0.2312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9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0.7278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0.3844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69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0.2312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2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7C34C52-B5FD-E74A-B00B-71ED1E66F634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1143000" y="1981200"/>
          <a:ext cx="2525713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500" imgH="673100" progId="Equation.3">
                  <p:embed/>
                </p:oleObj>
              </mc:Choice>
              <mc:Fallback>
                <p:oleObj name="Equation" r:id="rId2" imgW="952500" imgH="673100" progId="Equation.3">
                  <p:embed/>
                  <p:pic>
                    <p:nvPicPr>
                      <p:cNvPr id="53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81200"/>
                        <a:ext cx="2525713" cy="178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1472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pic>
        <p:nvPicPr>
          <p:cNvPr id="54275" name="Content Placeholder 7" descr="elasticity.png"/>
          <p:cNvPicPr>
            <a:picLocks noGrp="1" noChangeAspect="1"/>
          </p:cNvPicPr>
          <p:nvPr>
            <p:ph idx="1"/>
          </p:nvPr>
        </p:nvPicPr>
        <p:blipFill>
          <a:blip r:embed="rId2"/>
          <a:srcRect l="-60834" r="-60834"/>
          <a:stretch>
            <a:fillRect/>
          </a:stretch>
        </p:blipFill>
        <p:spPr/>
      </p:pic>
      <p:sp>
        <p:nvSpPr>
          <p:cNvPr id="5427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198D004-3256-AF41-9F7B-DC7DF207F45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5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Elasticity Analysis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missing here?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A1B6876-6C95-DA4A-AF22-979C3E2617D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4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609600"/>
            <a:ext cx="5410200" cy="1143000"/>
          </a:xfrm>
        </p:spPr>
        <p:txBody>
          <a:bodyPr/>
          <a:lstStyle/>
          <a:p>
            <a:r>
              <a:rPr lang="en-US"/>
              <a:t>Identifying Key Life Stages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Management actions can be determined based on information about which life stages are most important for population growth</a:t>
            </a:r>
          </a:p>
          <a:p>
            <a:pPr>
              <a:defRPr/>
            </a:pPr>
            <a:r>
              <a:rPr lang="en-US" dirty="0"/>
              <a:t>Crouse et al. (1987) and Crowder et al. (1994) used </a:t>
            </a:r>
            <a:r>
              <a:rPr lang="en-US" dirty="0" err="1"/>
              <a:t>PVAs</a:t>
            </a:r>
            <a:r>
              <a:rPr lang="en-US" dirty="0"/>
              <a:t> to assist with management of threatened logger head turtles in southeastern U.S.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56324" name="Picture 4" descr="Loggerhead Turt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09600"/>
            <a:ext cx="1676400" cy="131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72246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609600"/>
            <a:ext cx="5410200" cy="1143000"/>
          </a:xfrm>
        </p:spPr>
        <p:txBody>
          <a:bodyPr/>
          <a:lstStyle/>
          <a:p>
            <a:r>
              <a:rPr lang="en-US"/>
              <a:t>Identifying Key Life Stages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Need to detemine which of two major threats to logger head turtles is most important</a:t>
            </a:r>
          </a:p>
          <a:p>
            <a:pPr lvl="1"/>
            <a:r>
              <a:rPr lang="en-US"/>
              <a:t>Trampling of eggs and hatchlings on beaches</a:t>
            </a:r>
          </a:p>
          <a:p>
            <a:pPr lvl="1"/>
            <a:r>
              <a:rPr lang="en-US"/>
              <a:t>Drowning of adult turtles in fishing nets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 descr="Loggerhead Turt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595808"/>
            <a:ext cx="1676400" cy="131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92883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Loggerhead Turtle PVA </a:t>
            </a:r>
          </a:p>
        </p:txBody>
      </p:sp>
      <p:pic>
        <p:nvPicPr>
          <p:cNvPr id="5837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59025"/>
            <a:ext cx="4876800" cy="296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2286000"/>
            <a:ext cx="3838575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3" name="Text Box 7"/>
          <p:cNvSpPr txBox="1">
            <a:spLocks noChangeArrowheads="1"/>
          </p:cNvSpPr>
          <p:nvPr/>
        </p:nvSpPr>
        <p:spPr bwMode="auto">
          <a:xfrm>
            <a:off x="365125" y="5980113"/>
            <a:ext cx="2647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From Crouse et al. 1987</a:t>
            </a:r>
          </a:p>
        </p:txBody>
      </p:sp>
    </p:spTree>
    <p:extLst>
      <p:ext uri="{BB962C8B-B14F-4D97-AF65-F5344CB8AC3E}">
        <p14:creationId xmlns:p14="http://schemas.microsoft.com/office/powerpoint/2010/main" val="2357021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609600"/>
            <a:ext cx="5486400" cy="1143000"/>
          </a:xfrm>
        </p:spPr>
        <p:txBody>
          <a:bodyPr/>
          <a:lstStyle/>
          <a:p>
            <a:r>
              <a:rPr lang="en-US"/>
              <a:t>Identifying Key Life Stages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They use PVAs on population data to measure the contributions of different life stages to population growth</a:t>
            </a:r>
          </a:p>
          <a:p>
            <a:r>
              <a:rPr lang="en-US"/>
              <a:t>They found that reproductive adults were the most important stage</a:t>
            </a:r>
          </a:p>
          <a:p>
            <a:pPr lvl="1"/>
            <a:endParaRPr lang="en-US"/>
          </a:p>
        </p:txBody>
      </p:sp>
      <p:pic>
        <p:nvPicPr>
          <p:cNvPr id="5" name="Picture 4" descr="Loggerhead Turt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595808"/>
            <a:ext cx="1676400" cy="131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779648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609600"/>
            <a:ext cx="5410200" cy="1143000"/>
          </a:xfrm>
        </p:spPr>
        <p:txBody>
          <a:bodyPr/>
          <a:lstStyle/>
          <a:p>
            <a:r>
              <a:rPr lang="en-US"/>
              <a:t>Identifying Key Life Stages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Efforts aimed at saving eggs and hatchlings would not reverse population declines even if they were 100% effective </a:t>
            </a:r>
          </a:p>
          <a:p>
            <a:pPr>
              <a:defRPr/>
            </a:pPr>
            <a:r>
              <a:rPr lang="en-US" dirty="0"/>
              <a:t>Putting TED (turtle excluder devices) in fishing nets to prevent drowning would produce recovery even if didn’t eliminate all mortality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  <p:pic>
        <p:nvPicPr>
          <p:cNvPr id="5" name="Picture 4" descr="Loggerhead Turt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595808"/>
            <a:ext cx="1676400" cy="131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825687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Consequences of </a:t>
            </a:r>
            <a:br>
              <a:rPr lang="en-US"/>
            </a:br>
            <a:r>
              <a:rPr lang="en-US"/>
              <a:t>Elasticity Analysis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Determine which stages contribute most to population growth</a:t>
            </a:r>
          </a:p>
          <a:p>
            <a:pPr>
              <a:defRPr/>
            </a:pPr>
            <a:r>
              <a:rPr lang="en-US" dirty="0"/>
              <a:t>Management can focus on most important life stages</a:t>
            </a:r>
          </a:p>
          <a:p>
            <a:pPr>
              <a:defRPr/>
            </a:pPr>
            <a:r>
              <a:rPr lang="en-US" dirty="0"/>
              <a:t>Reserves can be created to accommodate most important life stages for organisms with complex life histories, migration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033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Criticisms of PVA: Are Models Reliable?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Poor data quality</a:t>
            </a:r>
          </a:p>
          <a:p>
            <a:pPr lvl="1">
              <a:defRPr/>
            </a:pPr>
            <a:r>
              <a:rPr lang="en-US" dirty="0"/>
              <a:t>Data requirements for even deterministic model are not trivial</a:t>
            </a:r>
          </a:p>
          <a:p>
            <a:pPr lvl="1">
              <a:defRPr/>
            </a:pPr>
            <a:r>
              <a:rPr lang="en-US" dirty="0"/>
              <a:t>Good estimates of means (and variances) of vital rates are difficult to obtain for endangered species</a:t>
            </a:r>
          </a:p>
          <a:p>
            <a:pPr lvl="1">
              <a:defRPr/>
            </a:pPr>
            <a:r>
              <a:rPr lang="en-US" dirty="0"/>
              <a:t>Dispersal is especially tough to estimate with certainty</a:t>
            </a:r>
          </a:p>
          <a:p>
            <a:pPr>
              <a:buFontTx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4203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Criticisms of PVA: Are Models Reliable?</a:t>
            </a:r>
          </a:p>
        </p:txBody>
      </p:sp>
      <p:sp>
        <p:nvSpPr>
          <p:cNvPr id="63491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 of density dependence unknown</a:t>
            </a:r>
          </a:p>
          <a:p>
            <a:r>
              <a:rPr lang="en-US"/>
              <a:t>Patterns of environmental stochasticity might not hold in future</a:t>
            </a:r>
          </a:p>
          <a:p>
            <a:pPr lvl="1"/>
            <a:r>
              <a:rPr lang="en-US"/>
              <a:t>Catastrophic events could alter extinction risk dramatically</a:t>
            </a:r>
          </a:p>
          <a:p>
            <a:pPr lvl="1"/>
            <a:endParaRPr lang="en-US"/>
          </a:p>
          <a:p>
            <a:endParaRPr lang="en-US"/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07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Criticisms of PVA: Are Models Reliable?</a:t>
            </a:r>
          </a:p>
        </p:txBody>
      </p:sp>
      <p:sp>
        <p:nvSpPr>
          <p:cNvPr id="64515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“Canned” programs </a:t>
            </a:r>
          </a:p>
          <a:p>
            <a:pPr lvl="1"/>
            <a:r>
              <a:rPr lang="en-US"/>
              <a:t>Allow novice users to conduct PVA without enough understanding</a:t>
            </a:r>
          </a:p>
          <a:p>
            <a:pPr lvl="1"/>
            <a:r>
              <a:rPr lang="en-US"/>
              <a:t>Different programs can produce dissimilar results with same data</a:t>
            </a:r>
          </a:p>
          <a:p>
            <a:r>
              <a:rPr lang="en-US"/>
              <a:t>Models not usually validated with field data</a:t>
            </a:r>
          </a:p>
        </p:txBody>
      </p:sp>
    </p:spTree>
    <p:extLst>
      <p:ext uri="{BB962C8B-B14F-4D97-AF65-F5344CB8AC3E}">
        <p14:creationId xmlns:p14="http://schemas.microsoft.com/office/powerpoint/2010/main" val="14590596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Recommendations for using PVA</a:t>
            </a:r>
          </a:p>
        </p:txBody>
      </p:sp>
      <p:sp>
        <p:nvSpPr>
          <p:cNvPr id="65539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PVA should be treated as a model.  Validity of models should be tested with independent field data and PVA adjusted accordingly.</a:t>
            </a:r>
          </a:p>
          <a:p>
            <a:r>
              <a:rPr lang="en-US"/>
              <a:t>Evaluate relative rather than absolute rates of extinction or growth.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711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-228600" y="15240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563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Recommendations for using PVA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Do not focus on any one value</a:t>
            </a:r>
          </a:p>
          <a:p>
            <a:pPr lvl="1">
              <a:defRPr/>
            </a:pPr>
            <a:r>
              <a:rPr lang="en-US" dirty="0"/>
              <a:t>models are not accurate enough to make such precise predictions</a:t>
            </a:r>
          </a:p>
          <a:p>
            <a:pPr>
              <a:defRPr/>
            </a:pPr>
            <a:r>
              <a:rPr lang="en-US" dirty="0"/>
              <a:t>Include uncertainty and sensitivity analysis</a:t>
            </a:r>
          </a:p>
          <a:p>
            <a:pPr>
              <a:defRPr/>
            </a:pPr>
            <a:r>
              <a:rPr lang="en-US" dirty="0"/>
              <a:t>Compare short-term and long-term projections.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7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complex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Doesn’t have to be simple linear life stages</a:t>
            </a:r>
          </a:p>
          <a:p>
            <a:r>
              <a:rPr lang="en-US" dirty="0"/>
              <a:t>Can move both directions with size or stage structure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69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 for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you have multiple age classes?</a:t>
            </a:r>
          </a:p>
          <a:p>
            <a:r>
              <a:rPr lang="en-US" dirty="0"/>
              <a:t>Can you use similar technique to estimate changes?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963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Put handful of clear beads and blue juvenile beads in cup</a:t>
            </a:r>
          </a:p>
          <a:p>
            <a:r>
              <a:rPr lang="en-US" dirty="0"/>
              <a:t>Take one sample (one handful) of your population</a:t>
            </a:r>
          </a:p>
          <a:p>
            <a:r>
              <a:rPr lang="en-US" dirty="0"/>
              <a:t>Count beads sampled noting color</a:t>
            </a:r>
          </a:p>
          <a:p>
            <a:r>
              <a:rPr lang="en-US" dirty="0"/>
              <a:t>Replace all of those clear adults with blue adults, replace blue juveniles with yellow</a:t>
            </a:r>
          </a:p>
          <a:p>
            <a:r>
              <a:rPr lang="en-US" dirty="0"/>
              <a:t>Mix thoroughly!!!</a:t>
            </a:r>
          </a:p>
          <a:p>
            <a:r>
              <a:rPr lang="en-US" dirty="0"/>
              <a:t>Take another sample (one handful) of your population</a:t>
            </a:r>
          </a:p>
          <a:p>
            <a:r>
              <a:rPr lang="en-US" dirty="0"/>
              <a:t>Count number of each kind of beads in re-sample</a:t>
            </a:r>
          </a:p>
          <a:p>
            <a:r>
              <a:rPr lang="en-US" dirty="0"/>
              <a:t>Resample at least 5 times (do NOT mark, just resample)</a:t>
            </a:r>
          </a:p>
        </p:txBody>
      </p:sp>
    </p:spTree>
    <p:extLst>
      <p:ext uri="{BB962C8B-B14F-4D97-AF65-F5344CB8AC3E}">
        <p14:creationId xmlns:p14="http://schemas.microsoft.com/office/powerpoint/2010/main" val="32954343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your results look?</a:t>
            </a:r>
          </a:p>
          <a:p>
            <a:r>
              <a:rPr lang="en-US" dirty="0"/>
              <a:t>What implications could you make?</a:t>
            </a:r>
          </a:p>
          <a:p>
            <a:r>
              <a:rPr lang="en-US" dirty="0"/>
              <a:t>What is still missing?</a:t>
            </a:r>
          </a:p>
          <a:p>
            <a:r>
              <a:rPr lang="en-US" dirty="0"/>
              <a:t>This is census data.</a:t>
            </a:r>
          </a:p>
        </p:txBody>
      </p:sp>
    </p:spTree>
    <p:extLst>
      <p:ext uri="{BB962C8B-B14F-4D97-AF65-F5344CB8AC3E}">
        <p14:creationId xmlns:p14="http://schemas.microsoft.com/office/powerpoint/2010/main" val="39327174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2F29-6299-CB48-A0D1-39590C6B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B073-BF8A-CE44-A475-9EF13DCCD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0C24A-70BA-8845-B5F0-2C4B6D172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498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Life Cycle</a:t>
            </a:r>
          </a:p>
        </p:txBody>
      </p:sp>
      <p:pic>
        <p:nvPicPr>
          <p:cNvPr id="23555" name="Content Placeholder 4" descr="teasel.png"/>
          <p:cNvPicPr>
            <a:picLocks noGrp="1" noChangeAspect="1"/>
          </p:cNvPicPr>
          <p:nvPr>
            <p:ph idx="1"/>
          </p:nvPr>
        </p:nvPicPr>
        <p:blipFill>
          <a:blip r:embed="rId2"/>
          <a:srcRect l="-35222" r="-35222"/>
          <a:stretch>
            <a:fillRect/>
          </a:stretch>
        </p:blipFill>
        <p:spPr/>
      </p:pic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E7A3F08-6300-C343-B490-F697064FE04D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23557" name="TextBox 5"/>
          <p:cNvSpPr txBox="1">
            <a:spLocks noChangeArrowheads="1"/>
          </p:cNvSpPr>
          <p:nvPr/>
        </p:nvSpPr>
        <p:spPr bwMode="auto">
          <a:xfrm>
            <a:off x="6934200" y="5373688"/>
            <a:ext cx="21336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200"/>
              <a:t>http://darwin.eeb.uconn.edu/eeb310/lecture-notes/pva/node5.html</a:t>
            </a:r>
          </a:p>
        </p:txBody>
      </p:sp>
    </p:spTree>
    <p:extLst>
      <p:ext uri="{BB962C8B-B14F-4D97-AF65-F5344CB8AC3E}">
        <p14:creationId xmlns:p14="http://schemas.microsoft.com/office/powerpoint/2010/main" val="25196182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Content Placeholder 4" descr="teasel.png"/>
          <p:cNvPicPr>
            <a:picLocks noGrp="1" noChangeAspect="1"/>
          </p:cNvPicPr>
          <p:nvPr>
            <p:ph idx="1"/>
          </p:nvPr>
        </p:nvPicPr>
        <p:blipFill>
          <a:blip r:embed="rId2"/>
          <a:srcRect l="-35222" r="-35222"/>
          <a:stretch>
            <a:fillRect/>
          </a:stretch>
        </p:blipFill>
        <p:spPr>
          <a:xfrm>
            <a:off x="-914400" y="401171"/>
            <a:ext cx="11438466" cy="6055658"/>
          </a:xfrm>
        </p:spPr>
      </p:pic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E7A3F08-6300-C343-B490-F697064FE04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3647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91B2070592C54CA35D87054998FBAF" ma:contentTypeVersion="4" ma:contentTypeDescription="Create a new document." ma:contentTypeScope="" ma:versionID="686a4a47ecb621d37ce4011f751fb511">
  <xsd:schema xmlns:xsd="http://www.w3.org/2001/XMLSchema" xmlns:xs="http://www.w3.org/2001/XMLSchema" xmlns:p="http://schemas.microsoft.com/office/2006/metadata/properties" xmlns:ns2="dd0f7990-8f0e-4dcd-a459-cef34a397e7e" targetNamespace="http://schemas.microsoft.com/office/2006/metadata/properties" ma:root="true" ma:fieldsID="a5f08791f2a4a08ac62550394e7387e1" ns2:_="">
    <xsd:import namespace="dd0f7990-8f0e-4dcd-a459-cef34a397e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0f7990-8f0e-4dcd-a459-cef34a397e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624F8D-582B-4A0A-A823-07F109CF71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0f7990-8f0e-4dcd-a459-cef34a397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CA5F6-6CF7-4151-B65F-0D2295724E62}">
  <ds:schemaRefs>
    <ds:schemaRef ds:uri="http://purl.org/dc/terms/"/>
    <ds:schemaRef ds:uri="http://www.w3.org/XML/1998/namespace"/>
    <ds:schemaRef ds:uri="http://purl.org/dc/elements/1.1/"/>
    <ds:schemaRef ds:uri="http://purl.org/dc/dcmitype/"/>
    <ds:schemaRef ds:uri="dd0f7990-8f0e-4dcd-a459-cef34a397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BB23D57-4D46-4A01-8B1D-B35307267F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4440</TotalTime>
  <Words>1361</Words>
  <Application>Microsoft Macintosh PowerPoint</Application>
  <PresentationFormat>On-screen Show (4:3)</PresentationFormat>
  <Paragraphs>339</Paragraphs>
  <Slides>62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Blank Presentation</vt:lpstr>
      <vt:lpstr>Equation</vt:lpstr>
      <vt:lpstr>M&amp;S in Life Sciences</vt:lpstr>
      <vt:lpstr>PowerPoint Presentation</vt:lpstr>
      <vt:lpstr>Analyzing impacts from the past in a long-lived species</vt:lpstr>
      <vt:lpstr>Predicted age-distribution in 2050 in Germany</vt:lpstr>
      <vt:lpstr>Actual age-distribution in 1950 in Germany</vt:lpstr>
      <vt:lpstr>1950 Germany</vt:lpstr>
      <vt:lpstr>1950 Germany</vt:lpstr>
      <vt:lpstr>1950 Germany</vt:lpstr>
      <vt:lpstr>Demographic PVAs</vt:lpstr>
      <vt:lpstr>Demographic PVAs</vt:lpstr>
      <vt:lpstr>Back to Structure Example</vt:lpstr>
      <vt:lpstr>Demographic PVA</vt:lpstr>
      <vt:lpstr>Vital Rates</vt:lpstr>
      <vt:lpstr>Population</vt:lpstr>
      <vt:lpstr>Vital Rates</vt:lpstr>
      <vt:lpstr>Life Tables</vt:lpstr>
      <vt:lpstr>Life Tables</vt:lpstr>
      <vt:lpstr>Life Tables</vt:lpstr>
      <vt:lpstr>Life Tables</vt:lpstr>
      <vt:lpstr>Mathematical Concepts</vt:lpstr>
      <vt:lpstr>Mathematical Concepts</vt:lpstr>
      <vt:lpstr>Leslie Matrix</vt:lpstr>
      <vt:lpstr>Leslie Matrix</vt:lpstr>
      <vt:lpstr>Leslie Matrix</vt:lpstr>
      <vt:lpstr>Leslie Matrix</vt:lpstr>
      <vt:lpstr>Leslie Matrix</vt:lpstr>
      <vt:lpstr>Leslie Matrix</vt:lpstr>
      <vt:lpstr>Leslie Matrix</vt:lpstr>
      <vt:lpstr>Matrix Models</vt:lpstr>
      <vt:lpstr>Leslie Matrix from Life Table</vt:lpstr>
      <vt:lpstr>Leslie Matrix</vt:lpstr>
      <vt:lpstr>Pre-breeding Census</vt:lpstr>
      <vt:lpstr>Post-breeding Census</vt:lpstr>
      <vt:lpstr>Elasticity Analysis</vt:lpstr>
      <vt:lpstr>Elasticity Analysis</vt:lpstr>
      <vt:lpstr>Elasticity Analysis</vt:lpstr>
      <vt:lpstr>Elasticity Analysis</vt:lpstr>
      <vt:lpstr>Elasticity Analysis</vt:lpstr>
      <vt:lpstr>Elasticity Analysis</vt:lpstr>
      <vt:lpstr>Elasticity Analysis</vt:lpstr>
      <vt:lpstr>Elasticity Analysis</vt:lpstr>
      <vt:lpstr>Elasticity Analysis</vt:lpstr>
      <vt:lpstr>Elasticity Analysis</vt:lpstr>
      <vt:lpstr>Elasticity Analysis</vt:lpstr>
      <vt:lpstr>Identifying Key Life Stages</vt:lpstr>
      <vt:lpstr>Identifying Key Life Stages</vt:lpstr>
      <vt:lpstr>Loggerhead Turtle PVA </vt:lpstr>
      <vt:lpstr>Identifying Key Life Stages</vt:lpstr>
      <vt:lpstr>Identifying Key Life Stages</vt:lpstr>
      <vt:lpstr>Consequences of  Elasticity Analysis</vt:lpstr>
      <vt:lpstr>Criticisms of PVA: Are Models Reliable?</vt:lpstr>
      <vt:lpstr>Criticisms of PVA: Are Models Reliable?</vt:lpstr>
      <vt:lpstr>Criticisms of PVA: Are Models Reliable?</vt:lpstr>
      <vt:lpstr>General Recommendations for using PVA</vt:lpstr>
      <vt:lpstr>General Recommendations for using PVA</vt:lpstr>
      <vt:lpstr>More complex structures</vt:lpstr>
      <vt:lpstr>Mark-Recapture for Structure</vt:lpstr>
      <vt:lpstr>Mark-Recapture Game</vt:lpstr>
      <vt:lpstr>Structured Game</vt:lpstr>
      <vt:lpstr>Back to R</vt:lpstr>
      <vt:lpstr>Life Cycle</vt:lpstr>
      <vt:lpstr>PowerPoint Presentation</vt:lpstr>
    </vt:vector>
  </TitlesOfParts>
  <Company>Holly Gaff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Epidemiology - Lecture 1</dc:title>
  <dc:creator>Holly Gaff</dc:creator>
  <cp:lastModifiedBy>Gaff, Holly D.</cp:lastModifiedBy>
  <cp:revision>147</cp:revision>
  <cp:lastPrinted>2010-08-26T19:20:43Z</cp:lastPrinted>
  <dcterms:created xsi:type="dcterms:W3CDTF">2011-01-23T13:43:31Z</dcterms:created>
  <dcterms:modified xsi:type="dcterms:W3CDTF">2022-10-27T14:12:25Z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0x010100D791B2070592C54CA35D87054998FBAF</vt:lpwstr>
  </property>
</Properties>
</file>