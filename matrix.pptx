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66"/>
  </p:notesMasterIdLst>
  <p:handoutMasterIdLst>
    <p:handoutMasterId r:id="rId67"/>
  </p:handoutMasterIdLst>
  <p:sldIdLst>
    <p:sldId id="256" r:id="rId5"/>
    <p:sldId id="669" r:id="rId6"/>
    <p:sldId id="515" r:id="rId7"/>
    <p:sldId id="623" r:id="rId8"/>
    <p:sldId id="624" r:id="rId9"/>
    <p:sldId id="625" r:id="rId10"/>
    <p:sldId id="626" r:id="rId11"/>
    <p:sldId id="581" r:id="rId12"/>
    <p:sldId id="582" r:id="rId13"/>
    <p:sldId id="583" r:id="rId14"/>
    <p:sldId id="584" r:id="rId15"/>
    <p:sldId id="586" r:id="rId16"/>
    <p:sldId id="587" r:id="rId17"/>
    <p:sldId id="588" r:id="rId18"/>
    <p:sldId id="589" r:id="rId19"/>
    <p:sldId id="590" r:id="rId20"/>
    <p:sldId id="591" r:id="rId21"/>
    <p:sldId id="642" r:id="rId22"/>
    <p:sldId id="627" r:id="rId23"/>
    <p:sldId id="628" r:id="rId24"/>
    <p:sldId id="629" r:id="rId25"/>
    <p:sldId id="630" r:id="rId26"/>
    <p:sldId id="631" r:id="rId27"/>
    <p:sldId id="632" r:id="rId28"/>
    <p:sldId id="633" r:id="rId29"/>
    <p:sldId id="634" r:id="rId30"/>
    <p:sldId id="635" r:id="rId31"/>
    <p:sldId id="636" r:id="rId32"/>
    <p:sldId id="637" r:id="rId33"/>
    <p:sldId id="638" r:id="rId34"/>
    <p:sldId id="670" r:id="rId35"/>
    <p:sldId id="639" r:id="rId36"/>
    <p:sldId id="640" r:id="rId37"/>
    <p:sldId id="641" r:id="rId38"/>
    <p:sldId id="596" r:id="rId39"/>
    <p:sldId id="597" r:id="rId40"/>
    <p:sldId id="598" r:id="rId41"/>
    <p:sldId id="599" r:id="rId42"/>
    <p:sldId id="600" r:id="rId43"/>
    <p:sldId id="601" r:id="rId44"/>
    <p:sldId id="602" r:id="rId45"/>
    <p:sldId id="603" r:id="rId46"/>
    <p:sldId id="604" r:id="rId47"/>
    <p:sldId id="605" r:id="rId48"/>
    <p:sldId id="606" r:id="rId49"/>
    <p:sldId id="607" r:id="rId50"/>
    <p:sldId id="608" r:id="rId51"/>
    <p:sldId id="609" r:id="rId52"/>
    <p:sldId id="610" r:id="rId53"/>
    <p:sldId id="611" r:id="rId54"/>
    <p:sldId id="612" r:id="rId55"/>
    <p:sldId id="613" r:id="rId56"/>
    <p:sldId id="614" r:id="rId57"/>
    <p:sldId id="615" r:id="rId58"/>
    <p:sldId id="616" r:id="rId59"/>
    <p:sldId id="617" r:id="rId60"/>
    <p:sldId id="618" r:id="rId61"/>
    <p:sldId id="646" r:id="rId62"/>
    <p:sldId id="647" r:id="rId63"/>
    <p:sldId id="648" r:id="rId64"/>
    <p:sldId id="649" r:id="rId65"/>
  </p:sldIdLst>
  <p:sldSz cx="9144000" cy="6858000" type="screen4x3"/>
  <p:notesSz cx="9144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226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77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77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68C3979-8F0B-1541-AC57-0819A0A0A8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2627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4D1D3A3-6FE9-3E43-B8EB-FF44B8681E6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7970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082040-6C5D-004E-A905-A9B5A88F5BF5}" type="slidenum">
              <a:rPr lang="en-US"/>
              <a:pPr/>
              <a:t>1</a:t>
            </a:fld>
            <a:endParaRPr 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D19235-9B42-A642-B0D1-B2905B98BAE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21DD02-63C5-0743-BA6B-5D26F5D422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08A68A-8CC1-0F4E-80EF-7845EB0CE00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87C38F-7C1E-1645-A896-F2A8E638493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D195AE-D806-F444-9444-52D27BBEFC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0F402F-A53D-244D-9EE3-E8481C315E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2AEE58-D8F6-3043-A6C1-1451A47D814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4AAABB-73D5-EF41-BEB8-D8A5873362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E4B7FD-4152-7945-8A5B-BFFA4946DA3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13FB3C-FCB8-C441-9B29-31EB40A0914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B20DF3-D5A1-B943-AFC7-557DFDF129F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DDE49D-4337-B54F-8C74-2677AE47B1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0" y="0"/>
            <a:ext cx="9144000" cy="381000"/>
          </a:xfrm>
          <a:prstGeom prst="rect">
            <a:avLst/>
          </a:prstGeom>
          <a:solidFill>
            <a:srgbClr val="002C5F"/>
          </a:solidFill>
          <a:ln w="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400" dirty="0"/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6475413"/>
            <a:ext cx="9144000" cy="381000"/>
          </a:xfrm>
          <a:prstGeom prst="rect">
            <a:avLst/>
          </a:prstGeom>
          <a:solidFill>
            <a:srgbClr val="002C5F"/>
          </a:solidFill>
          <a:ln w="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40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38600" y="6477000"/>
            <a:ext cx="1066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6C922EC8-8A85-184D-8D8B-4910E5D2F605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4B04CD-171E-4CE9-B50B-16BF98B36A3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6200" y="47470"/>
            <a:ext cx="356365" cy="28000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6A6762-0C81-4D24-B82E-DC341822A97E}"/>
              </a:ext>
            </a:extLst>
          </p:cNvPr>
          <p:cNvCxnSpPr/>
          <p:nvPr userDrawn="1"/>
        </p:nvCxnSpPr>
        <p:spPr bwMode="auto">
          <a:xfrm>
            <a:off x="518916" y="55027"/>
            <a:ext cx="0" cy="28000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EBFE0D5-570A-4555-AB1C-9F2DC2E2C64F}"/>
              </a:ext>
            </a:extLst>
          </p:cNvPr>
          <p:cNvSpPr txBox="1"/>
          <p:nvPr userDrawn="1"/>
        </p:nvSpPr>
        <p:spPr>
          <a:xfrm>
            <a:off x="518915" y="11668"/>
            <a:ext cx="3062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dirty="0">
                <a:solidFill>
                  <a:schemeClr val="bg1"/>
                </a:solidFill>
                <a:latin typeface="+mn-lt"/>
              </a:rPr>
              <a:t>M&amp;S in Life Sciences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546AF7D-458C-D040-B6F5-E188195521C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/>
              <a:t>M&amp;S in Life Sciences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BIOL 772/872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Thus far have used population level models</a:t>
            </a:r>
          </a:p>
          <a:p>
            <a:r>
              <a:rPr lang="en-US" dirty="0"/>
              <a:t>Assumptions?</a:t>
            </a:r>
          </a:p>
          <a:p>
            <a:r>
              <a:rPr lang="en-US" dirty="0"/>
              <a:t>Continuous time always good?</a:t>
            </a:r>
          </a:p>
          <a:p>
            <a:r>
              <a:rPr lang="en-US" dirty="0"/>
              <a:t>What if not everyone is the same?</a:t>
            </a:r>
          </a:p>
          <a:p>
            <a:r>
              <a:rPr lang="en-US" dirty="0"/>
              <a:t>Exponential distribution always right?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1DD02-63C5-0743-BA6B-5D26F5D4223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889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Structured Population Models</a:t>
            </a:r>
          </a:p>
          <a:p>
            <a:r>
              <a:rPr lang="en-US" dirty="0"/>
              <a:t>Matrix Algebra</a:t>
            </a:r>
          </a:p>
          <a:p>
            <a:r>
              <a:rPr lang="en-US" dirty="0"/>
              <a:t>Demographic analysis: PVA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467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to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some challenges of population models?</a:t>
            </a:r>
          </a:p>
          <a:p>
            <a:r>
              <a:rPr lang="en-US" dirty="0"/>
              <a:t>What is natural structure for a population?</a:t>
            </a:r>
          </a:p>
          <a:p>
            <a:r>
              <a:rPr lang="en-US" dirty="0"/>
              <a:t>What determines that structure?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1DD02-63C5-0743-BA6B-5D26F5D4223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028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and deterministic</a:t>
            </a:r>
          </a:p>
          <a:p>
            <a:pPr lvl="1"/>
            <a:r>
              <a:rPr lang="en-US" dirty="0"/>
              <a:t>Keeps math simpler</a:t>
            </a:r>
          </a:p>
          <a:p>
            <a:pPr lvl="1"/>
            <a:r>
              <a:rPr lang="en-US" dirty="0"/>
              <a:t>Provides direction</a:t>
            </a:r>
          </a:p>
          <a:p>
            <a:pPr lvl="1"/>
            <a:r>
              <a:rPr lang="en-US" dirty="0"/>
              <a:t>Usually limited to estimation</a:t>
            </a:r>
          </a:p>
          <a:p>
            <a:r>
              <a:rPr lang="en-US" dirty="0"/>
              <a:t>What would be a nonlinear effect?</a:t>
            </a:r>
          </a:p>
          <a:p>
            <a:r>
              <a:rPr lang="en-US" dirty="0"/>
              <a:t>What do we lose and what do we gain by having structure?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1DD02-63C5-0743-BA6B-5D26F5D4223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64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Suppose we know the following:</a:t>
            </a:r>
          </a:p>
          <a:p>
            <a:r>
              <a:rPr lang="en-US" dirty="0"/>
              <a:t>Tick life stages: egg, larva, nymph, adult</a:t>
            </a:r>
          </a:p>
          <a:p>
            <a:pPr lvl="1"/>
            <a:r>
              <a:rPr lang="en-US" dirty="0"/>
              <a:t>On average 10% of eggs survive to larvae</a:t>
            </a:r>
          </a:p>
          <a:p>
            <a:pPr lvl="1"/>
            <a:r>
              <a:rPr lang="en-US" dirty="0"/>
              <a:t>On average 5% of larvae survive to nymphs</a:t>
            </a:r>
          </a:p>
          <a:p>
            <a:pPr lvl="1"/>
            <a:r>
              <a:rPr lang="en-US" dirty="0"/>
              <a:t>On average 5% of nymphs become adults</a:t>
            </a:r>
          </a:p>
          <a:p>
            <a:r>
              <a:rPr lang="en-US" dirty="0"/>
              <a:t>How many eggs would an adult female have to lay on average for this population to survive?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1DD02-63C5-0743-BA6B-5D26F5D4223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86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Demographic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Determine the effects of schedules of fertility and mortality on population structure and dynamics.</a:t>
            </a:r>
          </a:p>
          <a:p>
            <a:r>
              <a:rPr lang="en-US" dirty="0"/>
              <a:t>Provide methods to allow comparisons of life histories between differing populations and species.</a:t>
            </a:r>
          </a:p>
          <a:p>
            <a:r>
              <a:rPr lang="en-US" dirty="0"/>
              <a:t>Provide the capability to estimate the impacts of alterations in vital statistics on population dynamics, e.g. both forecasting and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1DD02-63C5-0743-BA6B-5D26F5D4223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843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Population Viability Analysis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Prediction of population growth or decline</a:t>
            </a:r>
          </a:p>
          <a:p>
            <a:pPr>
              <a:lnSpc>
                <a:spcPct val="90000"/>
              </a:lnSpc>
            </a:pPr>
            <a:r>
              <a:rPr lang="en-US" sz="2800"/>
              <a:t>Quantitative methods to predict probability of extinction or time to extinction </a:t>
            </a:r>
          </a:p>
          <a:p>
            <a:pPr>
              <a:lnSpc>
                <a:spcPct val="90000"/>
              </a:lnSpc>
            </a:pPr>
            <a:r>
              <a:rPr lang="en-US" sz="2800"/>
              <a:t>Predict which life stages contribute most to population growth</a:t>
            </a:r>
          </a:p>
          <a:p>
            <a:pPr>
              <a:lnSpc>
                <a:spcPct val="90000"/>
              </a:lnSpc>
            </a:pPr>
            <a:r>
              <a:rPr lang="en-US" sz="2800"/>
              <a:t>Assess affects of variation in vital rates on prediction capabilities</a:t>
            </a:r>
          </a:p>
          <a:p>
            <a:pPr>
              <a:lnSpc>
                <a:spcPct val="90000"/>
              </a:lnSpc>
            </a:pPr>
            <a:r>
              <a:rPr lang="en-US" sz="2800"/>
              <a:t>Determining which additional data are most needed to improve future population estimate</a:t>
            </a:r>
          </a:p>
        </p:txBody>
      </p:sp>
    </p:spTree>
    <p:extLst>
      <p:ext uri="{BB962C8B-B14F-4D97-AF65-F5344CB8AC3E}">
        <p14:creationId xmlns:p14="http://schemas.microsoft.com/office/powerpoint/2010/main" val="1656660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Usefulness of PVA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dirty="0"/>
              <a:t>Initial focus was to determine Minimum Viable Population size.</a:t>
            </a:r>
          </a:p>
          <a:p>
            <a:pPr lvl="1">
              <a:defRPr/>
            </a:pPr>
            <a:r>
              <a:rPr lang="en-US" dirty="0"/>
              <a:t>For instance, what is the population size of grizzly bears needed to be 95% certain that the population will survive for 100 years? </a:t>
            </a:r>
          </a:p>
          <a:p>
            <a:pPr>
              <a:defRPr/>
            </a:pPr>
            <a:r>
              <a:rPr lang="en-US" dirty="0"/>
              <a:t>Emphasis shifted to using extinction (or quasi-extinction) curves to conduct sensitivity analysis and to compare relative merits of proposed conservation actions.</a:t>
            </a:r>
          </a:p>
        </p:txBody>
      </p:sp>
    </p:spTree>
    <p:extLst>
      <p:ext uri="{BB962C8B-B14F-4D97-AF65-F5344CB8AC3E}">
        <p14:creationId xmlns:p14="http://schemas.microsoft.com/office/powerpoint/2010/main" val="2122643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 Types of PVA Models</a:t>
            </a:r>
          </a:p>
        </p:txBody>
      </p:sp>
      <p:sp>
        <p:nvSpPr>
          <p:cNvPr id="22531" name="Content Placehold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Deterministic Single Population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Age-structured matrix model using only means</a:t>
            </a:r>
          </a:p>
          <a:p>
            <a:r>
              <a:rPr lang="en-US" dirty="0"/>
              <a:t>Stochastic Single Population</a:t>
            </a:r>
          </a:p>
          <a:p>
            <a:pPr lvl="1"/>
            <a:r>
              <a:rPr lang="en-US" dirty="0"/>
              <a:t>Age-structured matrix model with environmental and demographic </a:t>
            </a:r>
            <a:r>
              <a:rPr lang="en-US" dirty="0" err="1"/>
              <a:t>stochastisity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775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 Types of PVA Models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dirty="0" err="1"/>
              <a:t>Metapopulation</a:t>
            </a:r>
            <a:endParaRPr lang="en-US" dirty="0"/>
          </a:p>
          <a:p>
            <a:pPr lvl="1">
              <a:defRPr/>
            </a:pPr>
            <a:r>
              <a:rPr lang="en-US" dirty="0"/>
              <a:t>Includes structure via dispersal</a:t>
            </a:r>
          </a:p>
          <a:p>
            <a:pPr lvl="1">
              <a:defRPr/>
            </a:pPr>
            <a:r>
              <a:rPr lang="en-US" dirty="0"/>
              <a:t>Patch-occupancy model</a:t>
            </a:r>
          </a:p>
          <a:p>
            <a:pPr lvl="1">
              <a:defRPr/>
            </a:pPr>
            <a:r>
              <a:rPr lang="en-US" dirty="0"/>
              <a:t>Explicit patch model</a:t>
            </a:r>
          </a:p>
          <a:p>
            <a:pPr>
              <a:defRPr/>
            </a:pPr>
            <a:r>
              <a:rPr lang="en-US" dirty="0"/>
              <a:t>Spatially-explicit Individual Based</a:t>
            </a:r>
          </a:p>
          <a:p>
            <a:pPr lvl="1">
              <a:defRPr/>
            </a:pPr>
            <a:r>
              <a:rPr lang="en-US" dirty="0"/>
              <a:t>Individuals tracked – movement, breeding, mortality, etc.</a:t>
            </a:r>
          </a:p>
          <a:p>
            <a:pPr lvl="1">
              <a:defRPr/>
            </a:pPr>
            <a:r>
              <a:rPr lang="en-US" dirty="0"/>
              <a:t>Data intensive </a:t>
            </a:r>
          </a:p>
          <a:p>
            <a:pPr lvl="1">
              <a:defRPr/>
            </a:pPr>
            <a:r>
              <a:rPr lang="en-US" dirty="0"/>
              <a:t>Difficult to validate</a:t>
            </a:r>
          </a:p>
        </p:txBody>
      </p:sp>
    </p:spTree>
    <p:extLst>
      <p:ext uri="{BB962C8B-B14F-4D97-AF65-F5344CB8AC3E}">
        <p14:creationId xmlns:p14="http://schemas.microsoft.com/office/powerpoint/2010/main" val="2262966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3"/>
          <p:cNvSpPr txBox="1">
            <a:spLocks noChangeArrowheads="1"/>
          </p:cNvSpPr>
          <p:nvPr/>
        </p:nvSpPr>
        <p:spPr bwMode="auto">
          <a:xfrm>
            <a:off x="1630363" y="6372225"/>
            <a:ext cx="62436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600"/>
              <a:t>from Morris and Doak. 2002. Quantitative Conservation Biology.</a:t>
            </a:r>
          </a:p>
        </p:txBody>
      </p:sp>
      <p:sp>
        <p:nvSpPr>
          <p:cNvPr id="25603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Potential Uses of PVA</a:t>
            </a:r>
          </a:p>
        </p:txBody>
      </p:sp>
      <p:sp>
        <p:nvSpPr>
          <p:cNvPr id="25604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Assessment of extinction risk</a:t>
            </a:r>
          </a:p>
          <a:p>
            <a:pPr lvl="1"/>
            <a:r>
              <a:rPr lang="en-US"/>
              <a:t>Assessing risk of single population</a:t>
            </a:r>
          </a:p>
          <a:p>
            <a:pPr lvl="1"/>
            <a:r>
              <a:rPr lang="en-US"/>
              <a:t>Comparing relative risks of two or more populations</a:t>
            </a:r>
          </a:p>
          <a:p>
            <a:pPr lvl="1"/>
            <a:r>
              <a:rPr lang="en-US"/>
              <a:t>Analyzing and synthesizing monitoring data</a:t>
            </a:r>
          </a:p>
        </p:txBody>
      </p:sp>
    </p:spTree>
    <p:extLst>
      <p:ext uri="{BB962C8B-B14F-4D97-AF65-F5344CB8AC3E}">
        <p14:creationId xmlns:p14="http://schemas.microsoft.com/office/powerpoint/2010/main" val="1884080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3"/>
          <p:cNvSpPr txBox="1">
            <a:spLocks noChangeArrowheads="1"/>
          </p:cNvSpPr>
          <p:nvPr/>
        </p:nvSpPr>
        <p:spPr bwMode="auto">
          <a:xfrm>
            <a:off x="1630363" y="6372225"/>
            <a:ext cx="62436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600"/>
              <a:t>from Morris and Doak. 2002. Quantitative Conservation Biology.</a:t>
            </a:r>
          </a:p>
        </p:txBody>
      </p:sp>
      <p:sp>
        <p:nvSpPr>
          <p:cNvPr id="26627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Potential Uses of PVA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/>
              <a:t>Guiding management</a:t>
            </a:r>
          </a:p>
          <a:p>
            <a:pPr lvl="1">
              <a:defRPr/>
            </a:pPr>
            <a:r>
              <a:rPr lang="en-US" dirty="0"/>
              <a:t>Identifying key life stages or demographic processes</a:t>
            </a:r>
          </a:p>
          <a:p>
            <a:pPr lvl="1">
              <a:defRPr/>
            </a:pPr>
            <a:r>
              <a:rPr lang="en-US" dirty="0"/>
              <a:t>Determining required size for a reserve</a:t>
            </a:r>
          </a:p>
          <a:p>
            <a:pPr lvl="1">
              <a:defRPr/>
            </a:pPr>
            <a:r>
              <a:rPr lang="en-US" dirty="0"/>
              <a:t>Determining number of individuals to release in introduction</a:t>
            </a:r>
          </a:p>
          <a:p>
            <a:pPr lvl="1">
              <a:defRPr/>
            </a:pPr>
            <a:r>
              <a:rPr lang="en-US" dirty="0"/>
              <a:t>Setting harvest limits</a:t>
            </a:r>
          </a:p>
          <a:p>
            <a:pPr lvl="1">
              <a:defRPr/>
            </a:pPr>
            <a:r>
              <a:rPr lang="en-US" dirty="0"/>
              <a:t>Deciding number of populations needed for regional persistence</a:t>
            </a:r>
          </a:p>
          <a:p>
            <a:pPr lvl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972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Recent extinctions of animal species</a:t>
            </a:r>
          </a:p>
        </p:txBody>
      </p:sp>
      <p:pic>
        <p:nvPicPr>
          <p:cNvPr id="27651" name="Content Placeholder 7" descr="extinction.png"/>
          <p:cNvPicPr>
            <a:picLocks noGrp="1" noChangeAspect="1"/>
          </p:cNvPicPr>
          <p:nvPr>
            <p:ph idx="1"/>
          </p:nvPr>
        </p:nvPicPr>
        <p:blipFill>
          <a:blip r:embed="rId2"/>
          <a:srcRect l="-20078" r="-20078"/>
          <a:stretch>
            <a:fillRect/>
          </a:stretch>
        </p:blipFill>
        <p:spPr/>
      </p:pic>
      <p:sp>
        <p:nvSpPr>
          <p:cNvPr id="27652" name="TextBox 8"/>
          <p:cNvSpPr txBox="1">
            <a:spLocks noChangeArrowheads="1"/>
          </p:cNvSpPr>
          <p:nvPr/>
        </p:nvSpPr>
        <p:spPr bwMode="auto">
          <a:xfrm>
            <a:off x="1524000" y="5867400"/>
            <a:ext cx="6400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200"/>
              <a:t>The Currency and Tempo of Extinction. HM Regan, R Lupia, AN Drinnan, MA Burgman. American Naturalist 157:11, 1-10, 1/2001.</a:t>
            </a:r>
          </a:p>
        </p:txBody>
      </p:sp>
    </p:spTree>
    <p:extLst>
      <p:ext uri="{BB962C8B-B14F-4D97-AF65-F5344CB8AC3E}">
        <p14:creationId xmlns:p14="http://schemas.microsoft.com/office/powerpoint/2010/main" val="768236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 recent increase a cause for alarm?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 dirty="0"/>
              <a:t>Most ecologists agree that current rates are relatively high and mainly due to human effects </a:t>
            </a:r>
          </a:p>
          <a:p>
            <a:pPr>
              <a:defRPr/>
            </a:pPr>
            <a:r>
              <a:rPr lang="en-US" dirty="0"/>
              <a:t>However, disagreement exists regarding the magnitude of the current extinction period—some equate current period with historical mass extinctions; others think predictions are overestimates.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273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Historical Perspective of Extinction </a:t>
            </a:r>
          </a:p>
        </p:txBody>
      </p:sp>
      <p:pic>
        <p:nvPicPr>
          <p:cNvPr id="29699" name="Content Placeholder 4" descr="extinction_graph.gif"/>
          <p:cNvPicPr>
            <a:picLocks noGrp="1" noChangeAspect="1"/>
          </p:cNvPicPr>
          <p:nvPr>
            <p:ph idx="1"/>
          </p:nvPr>
        </p:nvPicPr>
        <p:blipFill>
          <a:blip r:embed="rId2"/>
          <a:srcRect l="-19382" r="-19382"/>
          <a:stretch>
            <a:fillRect/>
          </a:stretch>
        </p:blipFill>
        <p:spPr/>
      </p:pic>
      <p:sp>
        <p:nvSpPr>
          <p:cNvPr id="2970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42B62DF-505A-2047-8860-B9577C3368F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9701" name="TextBox 5"/>
          <p:cNvSpPr txBox="1">
            <a:spLocks noChangeArrowheads="1"/>
          </p:cNvSpPr>
          <p:nvPr/>
        </p:nvSpPr>
        <p:spPr bwMode="auto">
          <a:xfrm>
            <a:off x="2133600" y="6096000"/>
            <a:ext cx="58674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200"/>
              <a:t>http://evolution.berkeley.edu/evosite/evo101/images/extinction_graph.gif</a:t>
            </a:r>
          </a:p>
        </p:txBody>
      </p:sp>
    </p:spTree>
    <p:extLst>
      <p:ext uri="{BB962C8B-B14F-4D97-AF65-F5344CB8AC3E}">
        <p14:creationId xmlns:p14="http://schemas.microsoft.com/office/powerpoint/2010/main" val="2511655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5"/>
          <p:cNvSpPr txBox="1">
            <a:spLocks noChangeArrowheads="1"/>
          </p:cNvSpPr>
          <p:nvPr/>
        </p:nvSpPr>
        <p:spPr bwMode="auto">
          <a:xfrm>
            <a:off x="974725" y="1160463"/>
            <a:ext cx="282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Tx/>
              <a:buChar char="•"/>
            </a:pPr>
            <a:endParaRPr lang="en-US"/>
          </a:p>
        </p:txBody>
      </p:sp>
      <p:sp>
        <p:nvSpPr>
          <p:cNvPr id="30723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Estimating extinction rates is hard!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dirty="0"/>
              <a:t>Number of species there are on earth isn’t known (perhaps 6-20 million but only 1.5 million described)</a:t>
            </a:r>
          </a:p>
          <a:p>
            <a:pPr>
              <a:defRPr/>
            </a:pPr>
            <a:r>
              <a:rPr lang="en-US" dirty="0"/>
              <a:t>Extinctions of certain groups are well documented (mammals, birds) but others are not (insects, plants)</a:t>
            </a:r>
          </a:p>
          <a:p>
            <a:pPr>
              <a:defRPr/>
            </a:pPr>
            <a:r>
              <a:rPr lang="en-US" dirty="0"/>
              <a:t>Background levels are estimated from fossil record and have great deal of uncertainty associated with them</a:t>
            </a:r>
          </a:p>
          <a:p>
            <a:pPr>
              <a:defRPr/>
            </a:pPr>
            <a:r>
              <a:rPr lang="en-US" dirty="0"/>
              <a:t>Future predictions might overestimate species loss because not all species are equally susceptible to current climate changes</a:t>
            </a:r>
          </a:p>
        </p:txBody>
      </p:sp>
    </p:spTree>
    <p:extLst>
      <p:ext uri="{BB962C8B-B14F-4D97-AF65-F5344CB8AC3E}">
        <p14:creationId xmlns:p14="http://schemas.microsoft.com/office/powerpoint/2010/main" val="1951108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Populations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step is just to get an estimate on how many individuals are in the population</a:t>
            </a:r>
          </a:p>
          <a:p>
            <a:r>
              <a:rPr lang="en-US" dirty="0"/>
              <a:t>How can you estimate this?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1DD02-63C5-0743-BA6B-5D26F5D4223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83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Mark-Recapture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 is to get an estimate of total population</a:t>
            </a:r>
          </a:p>
          <a:p>
            <a:r>
              <a:rPr lang="en-US" dirty="0"/>
              <a:t>Trap animals, mark and release</a:t>
            </a:r>
          </a:p>
          <a:p>
            <a:r>
              <a:rPr lang="en-US" dirty="0"/>
              <a:t>Repeat trapping and count captures of marked individuals</a:t>
            </a:r>
          </a:p>
          <a:p>
            <a:r>
              <a:rPr lang="en-US" dirty="0"/>
              <a:t>Important to know if closed or open population</a:t>
            </a:r>
          </a:p>
        </p:txBody>
      </p:sp>
    </p:spTree>
    <p:extLst>
      <p:ext uri="{BB962C8B-B14F-4D97-AF65-F5344CB8AC3E}">
        <p14:creationId xmlns:p14="http://schemas.microsoft.com/office/powerpoint/2010/main" val="251077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Closed populations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 individuals enter or leave the population between surveys</a:t>
            </a: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1143000" y="3657600"/>
            <a:ext cx="2057400" cy="1905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auto">
          <a:xfrm>
            <a:off x="6019800" y="3657600"/>
            <a:ext cx="2057400" cy="1905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84" name="Picture 12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3733800"/>
            <a:ext cx="533400" cy="515938"/>
          </a:xfrm>
          <a:prstGeom prst="rect">
            <a:avLst/>
          </a:prstGeom>
          <a:noFill/>
        </p:spPr>
      </p:pic>
      <p:pic>
        <p:nvPicPr>
          <p:cNvPr id="3085" name="Picture 13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4360863"/>
            <a:ext cx="533400" cy="515937"/>
          </a:xfrm>
          <a:prstGeom prst="rect">
            <a:avLst/>
          </a:prstGeom>
          <a:noFill/>
        </p:spPr>
      </p:pic>
      <p:pic>
        <p:nvPicPr>
          <p:cNvPr id="3086" name="Picture 14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3886200"/>
            <a:ext cx="533400" cy="515938"/>
          </a:xfrm>
          <a:prstGeom prst="rect">
            <a:avLst/>
          </a:prstGeom>
          <a:noFill/>
        </p:spPr>
      </p:pic>
      <p:pic>
        <p:nvPicPr>
          <p:cNvPr id="3087" name="Picture 15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4970463"/>
            <a:ext cx="533400" cy="515937"/>
          </a:xfrm>
          <a:prstGeom prst="rect">
            <a:avLst/>
          </a:prstGeom>
          <a:noFill/>
        </p:spPr>
      </p:pic>
      <p:pic>
        <p:nvPicPr>
          <p:cNvPr id="3088" name="Picture 16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77000" y="3716338"/>
            <a:ext cx="533400" cy="515937"/>
          </a:xfrm>
          <a:prstGeom prst="rect">
            <a:avLst/>
          </a:prstGeom>
          <a:noFill/>
        </p:spPr>
      </p:pic>
      <p:pic>
        <p:nvPicPr>
          <p:cNvPr id="3089" name="Picture 17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91400" y="4953000"/>
            <a:ext cx="533400" cy="515938"/>
          </a:xfrm>
          <a:prstGeom prst="rect">
            <a:avLst/>
          </a:prstGeom>
          <a:noFill/>
        </p:spPr>
      </p:pic>
      <p:pic>
        <p:nvPicPr>
          <p:cNvPr id="3090" name="Picture 18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15200" y="4419600"/>
            <a:ext cx="533400" cy="515938"/>
          </a:xfrm>
          <a:prstGeom prst="rect">
            <a:avLst/>
          </a:prstGeom>
          <a:noFill/>
        </p:spPr>
      </p:pic>
      <p:pic>
        <p:nvPicPr>
          <p:cNvPr id="3091" name="Picture 19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48400" y="4953000"/>
            <a:ext cx="533400" cy="515938"/>
          </a:xfrm>
          <a:prstGeom prst="rect">
            <a:avLst/>
          </a:prstGeom>
          <a:noFill/>
        </p:spPr>
      </p:pic>
      <p:sp>
        <p:nvSpPr>
          <p:cNvPr id="3093" name="Text Box 21"/>
          <p:cNvSpPr txBox="1">
            <a:spLocks noChangeArrowheads="1"/>
          </p:cNvSpPr>
          <p:nvPr/>
        </p:nvSpPr>
        <p:spPr bwMode="auto">
          <a:xfrm>
            <a:off x="1279525" y="5602288"/>
            <a:ext cx="14557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ial" pitchFamily="-97" charset="0"/>
              </a:rPr>
              <a:t>Survey 1</a:t>
            </a:r>
          </a:p>
        </p:txBody>
      </p:sp>
      <p:sp>
        <p:nvSpPr>
          <p:cNvPr id="3094" name="Text Box 22"/>
          <p:cNvSpPr txBox="1">
            <a:spLocks noChangeArrowheads="1"/>
          </p:cNvSpPr>
          <p:nvPr/>
        </p:nvSpPr>
        <p:spPr bwMode="auto">
          <a:xfrm>
            <a:off x="6384925" y="5562600"/>
            <a:ext cx="14557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ial" pitchFamily="-97" charset="0"/>
              </a:rPr>
              <a:t>Survey 2</a:t>
            </a:r>
          </a:p>
        </p:txBody>
      </p:sp>
      <p:sp>
        <p:nvSpPr>
          <p:cNvPr id="3095" name="Line 23"/>
          <p:cNvSpPr>
            <a:spLocks noChangeShapeType="1"/>
          </p:cNvSpPr>
          <p:nvPr/>
        </p:nvSpPr>
        <p:spPr bwMode="auto">
          <a:xfrm>
            <a:off x="3200400" y="46482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96" name="Rectangle 24"/>
          <p:cNvSpPr>
            <a:spLocks noChangeArrowheads="1"/>
          </p:cNvSpPr>
          <p:nvPr/>
        </p:nvSpPr>
        <p:spPr bwMode="auto">
          <a:xfrm>
            <a:off x="3581400" y="3657600"/>
            <a:ext cx="2057400" cy="1905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97" name="Picture 25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0" y="3733800"/>
            <a:ext cx="533400" cy="515938"/>
          </a:xfrm>
          <a:prstGeom prst="rect">
            <a:avLst/>
          </a:prstGeom>
          <a:noFill/>
        </p:spPr>
      </p:pic>
      <p:pic>
        <p:nvPicPr>
          <p:cNvPr id="3098" name="Picture 26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9600" y="4648200"/>
            <a:ext cx="533400" cy="515938"/>
          </a:xfrm>
          <a:prstGeom prst="rect">
            <a:avLst/>
          </a:prstGeom>
          <a:noFill/>
        </p:spPr>
      </p:pic>
      <p:pic>
        <p:nvPicPr>
          <p:cNvPr id="3099" name="Picture 27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>
            <a:lum bright="-6000" contrast="12000"/>
          </a:blip>
          <a:srcRect/>
          <a:stretch>
            <a:fillRect/>
          </a:stretch>
        </p:blipFill>
        <p:spPr bwMode="auto">
          <a:xfrm>
            <a:off x="4724400" y="4114800"/>
            <a:ext cx="533400" cy="515938"/>
          </a:xfrm>
          <a:prstGeom prst="rect">
            <a:avLst/>
          </a:prstGeom>
          <a:noFill/>
        </p:spPr>
      </p:pic>
      <p:pic>
        <p:nvPicPr>
          <p:cNvPr id="3100" name="Picture 28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81400" y="4970463"/>
            <a:ext cx="533400" cy="515937"/>
          </a:xfrm>
          <a:prstGeom prst="rect">
            <a:avLst/>
          </a:prstGeom>
          <a:noFill/>
        </p:spPr>
      </p:pic>
      <p:sp>
        <p:nvSpPr>
          <p:cNvPr id="3111" name="Line 39"/>
          <p:cNvSpPr>
            <a:spLocks noChangeShapeType="1"/>
          </p:cNvSpPr>
          <p:nvPr/>
        </p:nvSpPr>
        <p:spPr bwMode="auto">
          <a:xfrm>
            <a:off x="5638800" y="46482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46119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 populations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Individuals enter or leave the population between surveys</a:t>
            </a:r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1143000" y="3657600"/>
            <a:ext cx="2057400" cy="1905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6019800" y="3657600"/>
            <a:ext cx="2057400" cy="1905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2" name="Picture 6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3733800"/>
            <a:ext cx="533400" cy="515938"/>
          </a:xfrm>
          <a:prstGeom prst="rect">
            <a:avLst/>
          </a:prstGeom>
          <a:noFill/>
        </p:spPr>
      </p:pic>
      <p:pic>
        <p:nvPicPr>
          <p:cNvPr id="4103" name="Picture 7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4360863"/>
            <a:ext cx="533400" cy="515937"/>
          </a:xfrm>
          <a:prstGeom prst="rect">
            <a:avLst/>
          </a:prstGeom>
          <a:noFill/>
        </p:spPr>
      </p:pic>
      <p:pic>
        <p:nvPicPr>
          <p:cNvPr id="4104" name="Picture 8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>
            <a:lum bright="-6000" contrast="12000"/>
          </a:blip>
          <a:srcRect/>
          <a:stretch>
            <a:fillRect/>
          </a:stretch>
        </p:blipFill>
        <p:spPr bwMode="auto">
          <a:xfrm>
            <a:off x="2209800" y="3886200"/>
            <a:ext cx="533400" cy="515938"/>
          </a:xfrm>
          <a:prstGeom prst="rect">
            <a:avLst/>
          </a:prstGeom>
          <a:noFill/>
        </p:spPr>
      </p:pic>
      <p:pic>
        <p:nvPicPr>
          <p:cNvPr id="4105" name="Picture 9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4970463"/>
            <a:ext cx="533400" cy="515937"/>
          </a:xfrm>
          <a:prstGeom prst="rect">
            <a:avLst/>
          </a:prstGeom>
          <a:noFill/>
        </p:spPr>
      </p:pic>
      <p:pic>
        <p:nvPicPr>
          <p:cNvPr id="4106" name="Picture 10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53200" y="4343400"/>
            <a:ext cx="533400" cy="515938"/>
          </a:xfrm>
          <a:prstGeom prst="rect">
            <a:avLst/>
          </a:prstGeom>
          <a:noFill/>
        </p:spPr>
      </p:pic>
      <p:pic>
        <p:nvPicPr>
          <p:cNvPr id="4107" name="Picture 11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91400" y="4876800"/>
            <a:ext cx="533400" cy="515938"/>
          </a:xfrm>
          <a:prstGeom prst="rect">
            <a:avLst/>
          </a:prstGeom>
          <a:noFill/>
        </p:spPr>
      </p:pic>
      <p:pic>
        <p:nvPicPr>
          <p:cNvPr id="4108" name="Picture 12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39000" y="3810000"/>
            <a:ext cx="533400" cy="515938"/>
          </a:xfrm>
          <a:prstGeom prst="rect">
            <a:avLst/>
          </a:prstGeom>
          <a:noFill/>
        </p:spPr>
      </p:pic>
      <p:pic>
        <p:nvPicPr>
          <p:cNvPr id="4109" name="Picture 13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48400" y="4953000"/>
            <a:ext cx="533400" cy="515938"/>
          </a:xfrm>
          <a:prstGeom prst="rect">
            <a:avLst/>
          </a:prstGeom>
          <a:noFill/>
        </p:spPr>
      </p:pic>
      <p:sp>
        <p:nvSpPr>
          <p:cNvPr id="4110" name="Line 14"/>
          <p:cNvSpPr>
            <a:spLocks noChangeShapeType="1"/>
          </p:cNvSpPr>
          <p:nvPr/>
        </p:nvSpPr>
        <p:spPr bwMode="auto">
          <a:xfrm>
            <a:off x="3200400" y="46482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1279525" y="5602288"/>
            <a:ext cx="14557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ial" pitchFamily="-97" charset="0"/>
              </a:rPr>
              <a:t>Survey 1</a:t>
            </a:r>
          </a:p>
        </p:txBody>
      </p:sp>
      <p:sp>
        <p:nvSpPr>
          <p:cNvPr id="4112" name="Text Box 16"/>
          <p:cNvSpPr txBox="1">
            <a:spLocks noChangeArrowheads="1"/>
          </p:cNvSpPr>
          <p:nvPr/>
        </p:nvSpPr>
        <p:spPr bwMode="auto">
          <a:xfrm>
            <a:off x="6384925" y="5562600"/>
            <a:ext cx="14557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ial" pitchFamily="-97" charset="0"/>
              </a:rPr>
              <a:t>Survey 2</a:t>
            </a:r>
          </a:p>
        </p:txBody>
      </p:sp>
      <p:sp>
        <p:nvSpPr>
          <p:cNvPr id="4113" name="Rectangle 17"/>
          <p:cNvSpPr>
            <a:spLocks noChangeArrowheads="1"/>
          </p:cNvSpPr>
          <p:nvPr/>
        </p:nvSpPr>
        <p:spPr bwMode="auto">
          <a:xfrm>
            <a:off x="3581400" y="3657600"/>
            <a:ext cx="2057400" cy="1905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14" name="Picture 18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0" y="3733800"/>
            <a:ext cx="533400" cy="515938"/>
          </a:xfrm>
          <a:prstGeom prst="rect">
            <a:avLst/>
          </a:prstGeom>
          <a:noFill/>
        </p:spPr>
      </p:pic>
      <p:pic>
        <p:nvPicPr>
          <p:cNvPr id="4115" name="Picture 19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2400" y="4360863"/>
            <a:ext cx="533400" cy="515937"/>
          </a:xfrm>
          <a:prstGeom prst="rect">
            <a:avLst/>
          </a:prstGeom>
          <a:noFill/>
        </p:spPr>
      </p:pic>
      <p:pic>
        <p:nvPicPr>
          <p:cNvPr id="4116" name="Picture 20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>
            <a:lum bright="-6000" contrast="12000"/>
          </a:blip>
          <a:srcRect/>
          <a:stretch>
            <a:fillRect/>
          </a:stretch>
        </p:blipFill>
        <p:spPr bwMode="auto">
          <a:xfrm>
            <a:off x="4648200" y="3886200"/>
            <a:ext cx="533400" cy="515938"/>
          </a:xfrm>
          <a:prstGeom prst="rect">
            <a:avLst/>
          </a:prstGeom>
          <a:noFill/>
        </p:spPr>
      </p:pic>
      <p:pic>
        <p:nvPicPr>
          <p:cNvPr id="4117" name="Picture 21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81400" y="4970463"/>
            <a:ext cx="533400" cy="515937"/>
          </a:xfrm>
          <a:prstGeom prst="rect">
            <a:avLst/>
          </a:prstGeom>
          <a:noFill/>
        </p:spPr>
      </p:pic>
      <p:pic>
        <p:nvPicPr>
          <p:cNvPr id="4119" name="Picture 23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76800" y="4800600"/>
            <a:ext cx="457200" cy="442913"/>
          </a:xfrm>
          <a:prstGeom prst="rect">
            <a:avLst/>
          </a:prstGeom>
          <a:noFill/>
        </p:spPr>
      </p:pic>
      <p:sp>
        <p:nvSpPr>
          <p:cNvPr id="4120" name="Line 24"/>
          <p:cNvSpPr>
            <a:spLocks noChangeShapeType="1"/>
          </p:cNvSpPr>
          <p:nvPr/>
        </p:nvSpPr>
        <p:spPr bwMode="auto">
          <a:xfrm flipH="1">
            <a:off x="4800600" y="5105400"/>
            <a:ext cx="1524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21" name="Line 25"/>
          <p:cNvSpPr>
            <a:spLocks noChangeShapeType="1"/>
          </p:cNvSpPr>
          <p:nvPr/>
        </p:nvSpPr>
        <p:spPr bwMode="auto">
          <a:xfrm flipH="1" flipV="1">
            <a:off x="5181600" y="51816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22" name="Line 26"/>
          <p:cNvSpPr>
            <a:spLocks noChangeShapeType="1"/>
          </p:cNvSpPr>
          <p:nvPr/>
        </p:nvSpPr>
        <p:spPr bwMode="auto">
          <a:xfrm flipH="1" flipV="1">
            <a:off x="5334000" y="5105400"/>
            <a:ext cx="1524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23" name="Line 27"/>
          <p:cNvSpPr>
            <a:spLocks noChangeShapeType="1"/>
          </p:cNvSpPr>
          <p:nvPr/>
        </p:nvSpPr>
        <p:spPr bwMode="auto">
          <a:xfrm flipH="1">
            <a:off x="5334000" y="4800600"/>
            <a:ext cx="2286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24" name="Line 28"/>
          <p:cNvSpPr>
            <a:spLocks noChangeShapeType="1"/>
          </p:cNvSpPr>
          <p:nvPr/>
        </p:nvSpPr>
        <p:spPr bwMode="auto">
          <a:xfrm flipH="1">
            <a:off x="5410200" y="50292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25" name="Line 29"/>
          <p:cNvSpPr>
            <a:spLocks noChangeShapeType="1"/>
          </p:cNvSpPr>
          <p:nvPr/>
        </p:nvSpPr>
        <p:spPr bwMode="auto">
          <a:xfrm flipH="1">
            <a:off x="5257800" y="4648200"/>
            <a:ext cx="1524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26" name="Line 30"/>
          <p:cNvSpPr>
            <a:spLocks noChangeShapeType="1"/>
          </p:cNvSpPr>
          <p:nvPr/>
        </p:nvSpPr>
        <p:spPr bwMode="auto">
          <a:xfrm flipH="1">
            <a:off x="5105400" y="45720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27" name="Line 31"/>
          <p:cNvSpPr>
            <a:spLocks noChangeShapeType="1"/>
          </p:cNvSpPr>
          <p:nvPr/>
        </p:nvSpPr>
        <p:spPr bwMode="auto">
          <a:xfrm>
            <a:off x="4800600" y="4572000"/>
            <a:ext cx="1524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28" name="Line 32"/>
          <p:cNvSpPr>
            <a:spLocks noChangeShapeType="1"/>
          </p:cNvSpPr>
          <p:nvPr/>
        </p:nvSpPr>
        <p:spPr bwMode="auto">
          <a:xfrm>
            <a:off x="4724400" y="48768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29" name="Line 33"/>
          <p:cNvSpPr>
            <a:spLocks noChangeShapeType="1"/>
          </p:cNvSpPr>
          <p:nvPr/>
        </p:nvSpPr>
        <p:spPr bwMode="auto">
          <a:xfrm flipV="1">
            <a:off x="4114800" y="3124200"/>
            <a:ext cx="4572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30" name="Picture 34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2400" y="5732463"/>
            <a:ext cx="533400" cy="515937"/>
          </a:xfrm>
          <a:prstGeom prst="rect">
            <a:avLst/>
          </a:prstGeom>
          <a:noFill/>
        </p:spPr>
      </p:pic>
      <p:sp>
        <p:nvSpPr>
          <p:cNvPr id="4131" name="Line 35"/>
          <p:cNvSpPr>
            <a:spLocks noChangeShapeType="1"/>
          </p:cNvSpPr>
          <p:nvPr/>
        </p:nvSpPr>
        <p:spPr bwMode="auto">
          <a:xfrm flipV="1">
            <a:off x="4267200" y="5257800"/>
            <a:ext cx="76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32" name="Picture 36" descr="C:\Program Files\Common Files\Microsoft Shared\Clipart\cagcat50\an02542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81800" y="4876800"/>
            <a:ext cx="533400" cy="515938"/>
          </a:xfrm>
          <a:prstGeom prst="rect">
            <a:avLst/>
          </a:prstGeom>
          <a:noFill/>
        </p:spPr>
      </p:pic>
      <p:sp>
        <p:nvSpPr>
          <p:cNvPr id="4133" name="Line 37"/>
          <p:cNvSpPr>
            <a:spLocks noChangeShapeType="1"/>
          </p:cNvSpPr>
          <p:nvPr/>
        </p:nvSpPr>
        <p:spPr bwMode="auto">
          <a:xfrm>
            <a:off x="5638800" y="46482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3718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makes a population closed?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Dispersal barriers</a:t>
            </a:r>
          </a:p>
          <a:p>
            <a:r>
              <a:rPr lang="en-US" dirty="0" err="1"/>
              <a:t>Philopatry</a:t>
            </a:r>
            <a:endParaRPr lang="en-US" dirty="0"/>
          </a:p>
          <a:p>
            <a:r>
              <a:rPr lang="en-US" dirty="0"/>
              <a:t>Large surveyed area</a:t>
            </a:r>
          </a:p>
          <a:p>
            <a:r>
              <a:rPr lang="en-US" dirty="0"/>
              <a:t>Slow reproductive/death rate</a:t>
            </a:r>
          </a:p>
          <a:p>
            <a:r>
              <a:rPr lang="en-US" dirty="0"/>
              <a:t>Short time between surveys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2435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Lincoln-Petersen method: Closed population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381000" y="2514600"/>
            <a:ext cx="39258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Arial" pitchFamily="-97" charset="0"/>
              </a:rPr>
              <a:t>Catch several animals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1143000" y="1752600"/>
            <a:ext cx="1787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Arial" pitchFamily="-97" charset="0"/>
              </a:rPr>
              <a:t>Survey 1:</a:t>
            </a: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481012" y="3367088"/>
            <a:ext cx="33289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Arial" pitchFamily="-97" charset="0"/>
              </a:rPr>
              <a:t>Mark all </a:t>
            </a:r>
            <a:r>
              <a:rPr lang="en-US" sz="2800" b="1" dirty="0">
                <a:solidFill>
                  <a:srgbClr val="FF0000"/>
                </a:solidFill>
                <a:latin typeface="Arial" pitchFamily="-97" charset="0"/>
              </a:rPr>
              <a:t>M</a:t>
            </a:r>
            <a:r>
              <a:rPr lang="en-US" sz="2800" b="1" dirty="0">
                <a:latin typeface="Arial" pitchFamily="-97" charset="0"/>
              </a:rPr>
              <a:t> animals</a:t>
            </a: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381000" y="4129088"/>
            <a:ext cx="40386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latin typeface="Arial" pitchFamily="-97" charset="0"/>
              </a:rPr>
              <a:t>Return animals to population</a:t>
            </a:r>
          </a:p>
        </p:txBody>
      </p:sp>
      <p:sp>
        <p:nvSpPr>
          <p:cNvPr id="7175" name="Line 7"/>
          <p:cNvSpPr>
            <a:spLocks noChangeShapeType="1"/>
          </p:cNvSpPr>
          <p:nvPr/>
        </p:nvSpPr>
        <p:spPr bwMode="auto">
          <a:xfrm>
            <a:off x="2057400" y="2971800"/>
            <a:ext cx="0" cy="3810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2057400" y="3810000"/>
            <a:ext cx="0" cy="3810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304800" y="2362200"/>
            <a:ext cx="4038600" cy="312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5580063" y="2514600"/>
            <a:ext cx="295433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Arial" pitchFamily="-97" charset="0"/>
              </a:rPr>
              <a:t>Catch </a:t>
            </a:r>
            <a:r>
              <a:rPr lang="en-US" sz="2800" b="1">
                <a:solidFill>
                  <a:srgbClr val="FF0000"/>
                </a:solidFill>
                <a:latin typeface="Arial" pitchFamily="-97" charset="0"/>
              </a:rPr>
              <a:t>C</a:t>
            </a:r>
            <a:r>
              <a:rPr lang="en-US" sz="2800" b="1">
                <a:latin typeface="Arial" pitchFamily="-97" charset="0"/>
              </a:rPr>
              <a:t> animals</a:t>
            </a: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5791200" y="1752600"/>
            <a:ext cx="1787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Arial" pitchFamily="-97" charset="0"/>
              </a:rPr>
              <a:t>Survey 2:</a:t>
            </a:r>
          </a:p>
        </p:txBody>
      </p:sp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5029200" y="3290888"/>
            <a:ext cx="37274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Arial" pitchFamily="-97" charset="0"/>
              </a:rPr>
              <a:t>Count recaptures (</a:t>
            </a:r>
            <a:r>
              <a:rPr lang="en-US" sz="2800" b="1">
                <a:solidFill>
                  <a:srgbClr val="FF0000"/>
                </a:solidFill>
                <a:latin typeface="Arial" pitchFamily="-97" charset="0"/>
              </a:rPr>
              <a:t>R</a:t>
            </a:r>
            <a:r>
              <a:rPr lang="en-US" sz="2800" b="1">
                <a:latin typeface="Arial" pitchFamily="-97" charset="0"/>
              </a:rPr>
              <a:t>)</a:t>
            </a:r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5029200" y="4129088"/>
            <a:ext cx="40386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latin typeface="Arial" pitchFamily="-97" charset="0"/>
              </a:rPr>
              <a:t>Return animals to population</a:t>
            </a:r>
          </a:p>
        </p:txBody>
      </p:sp>
      <p:sp>
        <p:nvSpPr>
          <p:cNvPr id="7182" name="Line 14"/>
          <p:cNvSpPr>
            <a:spLocks noChangeShapeType="1"/>
          </p:cNvSpPr>
          <p:nvPr/>
        </p:nvSpPr>
        <p:spPr bwMode="auto">
          <a:xfrm>
            <a:off x="6705600" y="2971800"/>
            <a:ext cx="0" cy="3810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83" name="Line 15"/>
          <p:cNvSpPr>
            <a:spLocks noChangeShapeType="1"/>
          </p:cNvSpPr>
          <p:nvPr/>
        </p:nvSpPr>
        <p:spPr bwMode="auto">
          <a:xfrm>
            <a:off x="6705600" y="3810000"/>
            <a:ext cx="0" cy="3810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84" name="Rectangle 16"/>
          <p:cNvSpPr>
            <a:spLocks noChangeArrowheads="1"/>
          </p:cNvSpPr>
          <p:nvPr/>
        </p:nvSpPr>
        <p:spPr bwMode="auto">
          <a:xfrm>
            <a:off x="4953000" y="2362200"/>
            <a:ext cx="4038600" cy="312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3328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games!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rules</a:t>
            </a:r>
          </a:p>
          <a:p>
            <a:r>
              <a:rPr lang="en-US" dirty="0"/>
              <a:t>Play nicely with others</a:t>
            </a:r>
          </a:p>
          <a:p>
            <a:r>
              <a:rPr lang="en-US" dirty="0"/>
              <a:t>Don’t spill the beads!</a:t>
            </a:r>
          </a:p>
        </p:txBody>
      </p:sp>
    </p:spTree>
    <p:extLst>
      <p:ext uri="{BB962C8B-B14F-4D97-AF65-F5344CB8AC3E}">
        <p14:creationId xmlns:p14="http://schemas.microsoft.com/office/powerpoint/2010/main" val="103142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Mark-Recapture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Guess how many total clear beads you have</a:t>
            </a:r>
          </a:p>
          <a:p>
            <a:r>
              <a:rPr lang="en-US" dirty="0"/>
              <a:t>Take one sample (one handful) of your population</a:t>
            </a:r>
          </a:p>
          <a:p>
            <a:r>
              <a:rPr lang="en-US" dirty="0"/>
              <a:t>Count clear beads sampled</a:t>
            </a:r>
          </a:p>
          <a:p>
            <a:r>
              <a:rPr lang="en-US" dirty="0"/>
              <a:t>Replace all of those clear beads with blue beads</a:t>
            </a:r>
          </a:p>
          <a:p>
            <a:r>
              <a:rPr lang="en-US" dirty="0"/>
              <a:t>Mix thoroughly!!!</a:t>
            </a:r>
          </a:p>
          <a:p>
            <a:r>
              <a:rPr lang="en-US" dirty="0"/>
              <a:t>Take another sample (one handful) of your population</a:t>
            </a:r>
          </a:p>
          <a:p>
            <a:r>
              <a:rPr lang="en-US" dirty="0"/>
              <a:t>Count number of clear and blue beads in re-sample</a:t>
            </a:r>
          </a:p>
          <a:p>
            <a:r>
              <a:rPr lang="en-US" dirty="0"/>
              <a:t>Resample at least 5 times (do NOT mark, just resample)</a:t>
            </a:r>
          </a:p>
        </p:txBody>
      </p:sp>
    </p:spTree>
    <p:extLst>
      <p:ext uri="{BB962C8B-B14F-4D97-AF65-F5344CB8AC3E}">
        <p14:creationId xmlns:p14="http://schemas.microsoft.com/office/powerpoint/2010/main" val="12053507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Mark-Recapture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sure each member of your group takes one handful in the </a:t>
            </a:r>
            <a:r>
              <a:rPr lang="en-US" dirty="0" err="1"/>
              <a:t>resampling</a:t>
            </a:r>
            <a:endParaRPr lang="en-US" dirty="0"/>
          </a:p>
          <a:p>
            <a:r>
              <a:rPr lang="en-US" dirty="0"/>
              <a:t>How variable are your </a:t>
            </a:r>
            <a:r>
              <a:rPr lang="en-US" dirty="0" err="1"/>
              <a:t>resamples</a:t>
            </a:r>
            <a:r>
              <a:rPr lang="en-US" dirty="0"/>
              <a:t>?</a:t>
            </a:r>
          </a:p>
          <a:p>
            <a:r>
              <a:rPr lang="en-US" dirty="0"/>
              <a:t>What is the average number marked per sample?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1997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Mark-Recapture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So how could we now estimate the total number of beads in your cup?</a:t>
            </a:r>
          </a:p>
          <a:p>
            <a:r>
              <a:rPr lang="en-US" dirty="0"/>
              <a:t>As you repeat the game</a:t>
            </a:r>
          </a:p>
          <a:p>
            <a:pPr lvl="1"/>
            <a:r>
              <a:rPr lang="en-US" dirty="0"/>
              <a:t>If you continue to mark, what would happen?</a:t>
            </a:r>
          </a:p>
          <a:p>
            <a:pPr lvl="1"/>
            <a:r>
              <a:rPr lang="en-US" dirty="0"/>
              <a:t>Does it matter if it is closed or open population?</a:t>
            </a:r>
          </a:p>
          <a:p>
            <a:r>
              <a:rPr lang="en-US" dirty="0"/>
              <a:t>Many approaches to calculating the total population</a:t>
            </a:r>
          </a:p>
        </p:txBody>
      </p:sp>
    </p:spTree>
    <p:extLst>
      <p:ext uri="{BB962C8B-B14F-4D97-AF65-F5344CB8AC3E}">
        <p14:creationId xmlns:p14="http://schemas.microsoft.com/office/powerpoint/2010/main" val="12617582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4" name="Rectangle 72"/>
          <p:cNvSpPr>
            <a:spLocks noChangeArrowheads="1"/>
          </p:cNvSpPr>
          <p:nvPr/>
        </p:nvSpPr>
        <p:spPr bwMode="auto">
          <a:xfrm>
            <a:off x="2819400" y="228600"/>
            <a:ext cx="3505200" cy="312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65" name="Oval 73"/>
          <p:cNvSpPr>
            <a:spLocks noChangeArrowheads="1"/>
          </p:cNvSpPr>
          <p:nvPr/>
        </p:nvSpPr>
        <p:spPr bwMode="auto">
          <a:xfrm>
            <a:off x="3048000" y="5334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66" name="Oval 74"/>
          <p:cNvSpPr>
            <a:spLocks noChangeArrowheads="1"/>
          </p:cNvSpPr>
          <p:nvPr/>
        </p:nvSpPr>
        <p:spPr bwMode="auto">
          <a:xfrm>
            <a:off x="5562600" y="10668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67" name="Oval 75"/>
          <p:cNvSpPr>
            <a:spLocks noChangeArrowheads="1"/>
          </p:cNvSpPr>
          <p:nvPr/>
        </p:nvSpPr>
        <p:spPr bwMode="auto">
          <a:xfrm>
            <a:off x="5257800" y="25908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68" name="Oval 76"/>
          <p:cNvSpPr>
            <a:spLocks noChangeArrowheads="1"/>
          </p:cNvSpPr>
          <p:nvPr/>
        </p:nvSpPr>
        <p:spPr bwMode="auto">
          <a:xfrm>
            <a:off x="3048000" y="18288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69" name="Oval 77"/>
          <p:cNvSpPr>
            <a:spLocks noChangeArrowheads="1"/>
          </p:cNvSpPr>
          <p:nvPr/>
        </p:nvSpPr>
        <p:spPr bwMode="auto">
          <a:xfrm>
            <a:off x="5105400" y="17526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70" name="Oval 78"/>
          <p:cNvSpPr>
            <a:spLocks noChangeArrowheads="1"/>
          </p:cNvSpPr>
          <p:nvPr/>
        </p:nvSpPr>
        <p:spPr bwMode="auto">
          <a:xfrm>
            <a:off x="4267200" y="21336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71" name="Oval 79"/>
          <p:cNvSpPr>
            <a:spLocks noChangeArrowheads="1"/>
          </p:cNvSpPr>
          <p:nvPr/>
        </p:nvSpPr>
        <p:spPr bwMode="auto">
          <a:xfrm>
            <a:off x="3505200" y="20574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72" name="Oval 80"/>
          <p:cNvSpPr>
            <a:spLocks noChangeArrowheads="1"/>
          </p:cNvSpPr>
          <p:nvPr/>
        </p:nvSpPr>
        <p:spPr bwMode="auto">
          <a:xfrm>
            <a:off x="4343400" y="6096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73" name="Oval 81"/>
          <p:cNvSpPr>
            <a:spLocks noChangeArrowheads="1"/>
          </p:cNvSpPr>
          <p:nvPr/>
        </p:nvSpPr>
        <p:spPr bwMode="auto">
          <a:xfrm>
            <a:off x="3657600" y="4572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74" name="Oval 82"/>
          <p:cNvSpPr>
            <a:spLocks noChangeArrowheads="1"/>
          </p:cNvSpPr>
          <p:nvPr/>
        </p:nvSpPr>
        <p:spPr bwMode="auto">
          <a:xfrm>
            <a:off x="2895600" y="11430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75" name="Oval 83"/>
          <p:cNvSpPr>
            <a:spLocks noChangeArrowheads="1"/>
          </p:cNvSpPr>
          <p:nvPr/>
        </p:nvSpPr>
        <p:spPr bwMode="auto">
          <a:xfrm>
            <a:off x="5029200" y="5334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76" name="Oval 84"/>
          <p:cNvSpPr>
            <a:spLocks noChangeArrowheads="1"/>
          </p:cNvSpPr>
          <p:nvPr/>
        </p:nvSpPr>
        <p:spPr bwMode="auto">
          <a:xfrm>
            <a:off x="3276600" y="9906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77" name="Oval 85"/>
          <p:cNvSpPr>
            <a:spLocks noChangeArrowheads="1"/>
          </p:cNvSpPr>
          <p:nvPr/>
        </p:nvSpPr>
        <p:spPr bwMode="auto">
          <a:xfrm>
            <a:off x="3886200" y="9906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78" name="Oval 86"/>
          <p:cNvSpPr>
            <a:spLocks noChangeArrowheads="1"/>
          </p:cNvSpPr>
          <p:nvPr/>
        </p:nvSpPr>
        <p:spPr bwMode="auto">
          <a:xfrm>
            <a:off x="4343400" y="10668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79" name="Oval 87"/>
          <p:cNvSpPr>
            <a:spLocks noChangeArrowheads="1"/>
          </p:cNvSpPr>
          <p:nvPr/>
        </p:nvSpPr>
        <p:spPr bwMode="auto">
          <a:xfrm>
            <a:off x="3886200" y="16764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80" name="Oval 88"/>
          <p:cNvSpPr>
            <a:spLocks noChangeArrowheads="1"/>
          </p:cNvSpPr>
          <p:nvPr/>
        </p:nvSpPr>
        <p:spPr bwMode="auto">
          <a:xfrm>
            <a:off x="3276600" y="12954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81" name="Oval 89"/>
          <p:cNvSpPr>
            <a:spLocks noChangeArrowheads="1"/>
          </p:cNvSpPr>
          <p:nvPr/>
        </p:nvSpPr>
        <p:spPr bwMode="auto">
          <a:xfrm>
            <a:off x="3505200" y="25908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82" name="Oval 90"/>
          <p:cNvSpPr>
            <a:spLocks noChangeArrowheads="1"/>
          </p:cNvSpPr>
          <p:nvPr/>
        </p:nvSpPr>
        <p:spPr bwMode="auto">
          <a:xfrm>
            <a:off x="5562600" y="6858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83" name="Oval 91"/>
          <p:cNvSpPr>
            <a:spLocks noChangeArrowheads="1"/>
          </p:cNvSpPr>
          <p:nvPr/>
        </p:nvSpPr>
        <p:spPr bwMode="auto">
          <a:xfrm>
            <a:off x="5943600" y="15240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84" name="Oval 92"/>
          <p:cNvSpPr>
            <a:spLocks noChangeArrowheads="1"/>
          </p:cNvSpPr>
          <p:nvPr/>
        </p:nvSpPr>
        <p:spPr bwMode="auto">
          <a:xfrm>
            <a:off x="4419600" y="19050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85" name="Oval 93"/>
          <p:cNvSpPr>
            <a:spLocks noChangeArrowheads="1"/>
          </p:cNvSpPr>
          <p:nvPr/>
        </p:nvSpPr>
        <p:spPr bwMode="auto">
          <a:xfrm>
            <a:off x="4953000" y="12954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86" name="Oval 94"/>
          <p:cNvSpPr>
            <a:spLocks noChangeArrowheads="1"/>
          </p:cNvSpPr>
          <p:nvPr/>
        </p:nvSpPr>
        <p:spPr bwMode="auto">
          <a:xfrm>
            <a:off x="5486400" y="19812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87" name="Oval 95"/>
          <p:cNvSpPr>
            <a:spLocks noChangeArrowheads="1"/>
          </p:cNvSpPr>
          <p:nvPr/>
        </p:nvSpPr>
        <p:spPr bwMode="auto">
          <a:xfrm>
            <a:off x="3200400" y="6858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88" name="Oval 96"/>
          <p:cNvSpPr>
            <a:spLocks noChangeArrowheads="1"/>
          </p:cNvSpPr>
          <p:nvPr/>
        </p:nvSpPr>
        <p:spPr bwMode="auto">
          <a:xfrm>
            <a:off x="4191000" y="28956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89" name="Oval 97"/>
          <p:cNvSpPr>
            <a:spLocks noChangeArrowheads="1"/>
          </p:cNvSpPr>
          <p:nvPr/>
        </p:nvSpPr>
        <p:spPr bwMode="auto">
          <a:xfrm>
            <a:off x="3048000" y="24384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90" name="Oval 98"/>
          <p:cNvSpPr>
            <a:spLocks noChangeArrowheads="1"/>
          </p:cNvSpPr>
          <p:nvPr/>
        </p:nvSpPr>
        <p:spPr bwMode="auto">
          <a:xfrm>
            <a:off x="4038600" y="6096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91" name="Oval 99"/>
          <p:cNvSpPr>
            <a:spLocks noChangeArrowheads="1"/>
          </p:cNvSpPr>
          <p:nvPr/>
        </p:nvSpPr>
        <p:spPr bwMode="auto">
          <a:xfrm>
            <a:off x="3429000" y="16002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92" name="Oval 100"/>
          <p:cNvSpPr>
            <a:spLocks noChangeArrowheads="1"/>
          </p:cNvSpPr>
          <p:nvPr/>
        </p:nvSpPr>
        <p:spPr bwMode="auto">
          <a:xfrm>
            <a:off x="5638800" y="28194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93" name="Oval 101"/>
          <p:cNvSpPr>
            <a:spLocks noChangeArrowheads="1"/>
          </p:cNvSpPr>
          <p:nvPr/>
        </p:nvSpPr>
        <p:spPr bwMode="auto">
          <a:xfrm>
            <a:off x="5943600" y="12954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94" name="Oval 102"/>
          <p:cNvSpPr>
            <a:spLocks noChangeArrowheads="1"/>
          </p:cNvSpPr>
          <p:nvPr/>
        </p:nvSpPr>
        <p:spPr bwMode="auto">
          <a:xfrm>
            <a:off x="4876800" y="22098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95" name="Oval 103"/>
          <p:cNvSpPr>
            <a:spLocks noChangeArrowheads="1"/>
          </p:cNvSpPr>
          <p:nvPr/>
        </p:nvSpPr>
        <p:spPr bwMode="auto">
          <a:xfrm>
            <a:off x="3886200" y="22860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96" name="Oval 104"/>
          <p:cNvSpPr>
            <a:spLocks noChangeArrowheads="1"/>
          </p:cNvSpPr>
          <p:nvPr/>
        </p:nvSpPr>
        <p:spPr bwMode="auto">
          <a:xfrm>
            <a:off x="5638800" y="4572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97" name="Oval 105"/>
          <p:cNvSpPr>
            <a:spLocks noChangeArrowheads="1"/>
          </p:cNvSpPr>
          <p:nvPr/>
        </p:nvSpPr>
        <p:spPr bwMode="auto">
          <a:xfrm>
            <a:off x="4876800" y="17526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98" name="Oval 106"/>
          <p:cNvSpPr>
            <a:spLocks noChangeArrowheads="1"/>
          </p:cNvSpPr>
          <p:nvPr/>
        </p:nvSpPr>
        <p:spPr bwMode="auto">
          <a:xfrm>
            <a:off x="3657600" y="10668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299" name="Oval 107"/>
          <p:cNvSpPr>
            <a:spLocks noChangeArrowheads="1"/>
          </p:cNvSpPr>
          <p:nvPr/>
        </p:nvSpPr>
        <p:spPr bwMode="auto">
          <a:xfrm>
            <a:off x="4876800" y="9144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300" name="Oval 108"/>
          <p:cNvSpPr>
            <a:spLocks noChangeArrowheads="1"/>
          </p:cNvSpPr>
          <p:nvPr/>
        </p:nvSpPr>
        <p:spPr bwMode="auto">
          <a:xfrm>
            <a:off x="5334000" y="15240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302" name="Rectangle 110"/>
          <p:cNvSpPr>
            <a:spLocks noChangeArrowheads="1"/>
          </p:cNvSpPr>
          <p:nvPr/>
        </p:nvSpPr>
        <p:spPr bwMode="auto">
          <a:xfrm>
            <a:off x="2971800" y="1524000"/>
            <a:ext cx="1905000" cy="1371600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303" name="Oval 111"/>
          <p:cNvSpPr>
            <a:spLocks noChangeArrowheads="1"/>
          </p:cNvSpPr>
          <p:nvPr/>
        </p:nvSpPr>
        <p:spPr bwMode="auto">
          <a:xfrm>
            <a:off x="4495800" y="25908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304" name="Oval 112"/>
          <p:cNvSpPr>
            <a:spLocks noChangeArrowheads="1"/>
          </p:cNvSpPr>
          <p:nvPr/>
        </p:nvSpPr>
        <p:spPr bwMode="auto">
          <a:xfrm>
            <a:off x="4114800" y="17526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305" name="Oval 113"/>
          <p:cNvSpPr>
            <a:spLocks noChangeArrowheads="1"/>
          </p:cNvSpPr>
          <p:nvPr/>
        </p:nvSpPr>
        <p:spPr bwMode="auto">
          <a:xfrm>
            <a:off x="4572000" y="11430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306" name="Oval 114"/>
          <p:cNvSpPr>
            <a:spLocks noChangeArrowheads="1"/>
          </p:cNvSpPr>
          <p:nvPr/>
        </p:nvSpPr>
        <p:spPr bwMode="auto">
          <a:xfrm>
            <a:off x="4038600" y="24384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323" name="Line 131"/>
          <p:cNvSpPr>
            <a:spLocks noChangeShapeType="1"/>
          </p:cNvSpPr>
          <p:nvPr/>
        </p:nvSpPr>
        <p:spPr bwMode="auto">
          <a:xfrm flipH="1">
            <a:off x="2438400" y="2514600"/>
            <a:ext cx="5334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59"/>
          <p:cNvGrpSpPr>
            <a:grpSpLocks/>
          </p:cNvGrpSpPr>
          <p:nvPr/>
        </p:nvGrpSpPr>
        <p:grpSpPr bwMode="auto">
          <a:xfrm>
            <a:off x="457200" y="2224088"/>
            <a:ext cx="2438400" cy="2881312"/>
            <a:chOff x="288" y="1401"/>
            <a:chExt cx="1536" cy="1815"/>
          </a:xfrm>
        </p:grpSpPr>
        <p:sp>
          <p:nvSpPr>
            <p:cNvPr id="8196" name="Text Box 4"/>
            <p:cNvSpPr txBox="1">
              <a:spLocks noChangeArrowheads="1"/>
            </p:cNvSpPr>
            <p:nvPr/>
          </p:nvSpPr>
          <p:spPr bwMode="auto">
            <a:xfrm>
              <a:off x="288" y="1401"/>
              <a:ext cx="112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800" b="1">
                  <a:solidFill>
                    <a:srgbClr val="0000CC"/>
                  </a:solidFill>
                  <a:latin typeface="Arial" pitchFamily="-97" charset="0"/>
                </a:rPr>
                <a:t>Survey 1:</a:t>
              </a:r>
            </a:p>
          </p:txBody>
        </p:sp>
        <p:sp>
          <p:nvSpPr>
            <p:cNvPr id="8249" name="Rectangle 57"/>
            <p:cNvSpPr>
              <a:spLocks noChangeArrowheads="1"/>
            </p:cNvSpPr>
            <p:nvPr/>
          </p:nvSpPr>
          <p:spPr bwMode="auto">
            <a:xfrm>
              <a:off x="336" y="1680"/>
              <a:ext cx="1200" cy="9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11" name="Oval 119"/>
            <p:cNvSpPr>
              <a:spLocks noChangeArrowheads="1"/>
            </p:cNvSpPr>
            <p:nvPr/>
          </p:nvSpPr>
          <p:spPr bwMode="auto">
            <a:xfrm>
              <a:off x="384" y="1872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12" name="Oval 120"/>
            <p:cNvSpPr>
              <a:spLocks noChangeArrowheads="1"/>
            </p:cNvSpPr>
            <p:nvPr/>
          </p:nvSpPr>
          <p:spPr bwMode="auto">
            <a:xfrm>
              <a:off x="1152" y="2064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13" name="Oval 121"/>
            <p:cNvSpPr>
              <a:spLocks noChangeArrowheads="1"/>
            </p:cNvSpPr>
            <p:nvPr/>
          </p:nvSpPr>
          <p:spPr bwMode="auto">
            <a:xfrm>
              <a:off x="672" y="2016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14" name="Oval 122"/>
            <p:cNvSpPr>
              <a:spLocks noChangeArrowheads="1"/>
            </p:cNvSpPr>
            <p:nvPr/>
          </p:nvSpPr>
          <p:spPr bwMode="auto">
            <a:xfrm>
              <a:off x="912" y="1776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15" name="Oval 123"/>
            <p:cNvSpPr>
              <a:spLocks noChangeArrowheads="1"/>
            </p:cNvSpPr>
            <p:nvPr/>
          </p:nvSpPr>
          <p:spPr bwMode="auto">
            <a:xfrm>
              <a:off x="672" y="2352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16" name="Oval 124"/>
            <p:cNvSpPr>
              <a:spLocks noChangeArrowheads="1"/>
            </p:cNvSpPr>
            <p:nvPr/>
          </p:nvSpPr>
          <p:spPr bwMode="auto">
            <a:xfrm>
              <a:off x="1248" y="1920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17" name="Oval 125"/>
            <p:cNvSpPr>
              <a:spLocks noChangeArrowheads="1"/>
            </p:cNvSpPr>
            <p:nvPr/>
          </p:nvSpPr>
          <p:spPr bwMode="auto">
            <a:xfrm>
              <a:off x="384" y="2256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18" name="Oval 126"/>
            <p:cNvSpPr>
              <a:spLocks noChangeArrowheads="1"/>
            </p:cNvSpPr>
            <p:nvPr/>
          </p:nvSpPr>
          <p:spPr bwMode="auto">
            <a:xfrm>
              <a:off x="624" y="1728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19" name="Oval 127"/>
            <p:cNvSpPr>
              <a:spLocks noChangeArrowheads="1"/>
            </p:cNvSpPr>
            <p:nvPr/>
          </p:nvSpPr>
          <p:spPr bwMode="auto">
            <a:xfrm>
              <a:off x="912" y="2160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20" name="Oval 128"/>
            <p:cNvSpPr>
              <a:spLocks noChangeArrowheads="1"/>
            </p:cNvSpPr>
            <p:nvPr/>
          </p:nvSpPr>
          <p:spPr bwMode="auto">
            <a:xfrm>
              <a:off x="1296" y="2352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21" name="Oval 129"/>
            <p:cNvSpPr>
              <a:spLocks noChangeArrowheads="1"/>
            </p:cNvSpPr>
            <p:nvPr/>
          </p:nvSpPr>
          <p:spPr bwMode="auto">
            <a:xfrm>
              <a:off x="1056" y="1824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22" name="Oval 130"/>
            <p:cNvSpPr>
              <a:spLocks noChangeArrowheads="1"/>
            </p:cNvSpPr>
            <p:nvPr/>
          </p:nvSpPr>
          <p:spPr bwMode="auto">
            <a:xfrm>
              <a:off x="1008" y="2256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24" name="Line 132"/>
            <p:cNvSpPr>
              <a:spLocks noChangeShapeType="1"/>
            </p:cNvSpPr>
            <p:nvPr/>
          </p:nvSpPr>
          <p:spPr bwMode="auto">
            <a:xfrm>
              <a:off x="1104" y="2592"/>
              <a:ext cx="72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40" name="Text Box 148"/>
            <p:cNvSpPr txBox="1">
              <a:spLocks noChangeArrowheads="1"/>
            </p:cNvSpPr>
            <p:nvPr/>
          </p:nvSpPr>
          <p:spPr bwMode="auto">
            <a:xfrm>
              <a:off x="300" y="2544"/>
              <a:ext cx="7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b="1">
                  <a:solidFill>
                    <a:srgbClr val="0000CC"/>
                  </a:solidFill>
                  <a:latin typeface="Arial" pitchFamily="-97" charset="0"/>
                </a:rPr>
                <a:t>M = 12</a:t>
              </a:r>
            </a:p>
          </p:txBody>
        </p:sp>
      </p:grpSp>
      <p:grpSp>
        <p:nvGrpSpPr>
          <p:cNvPr id="3" name="Group 160"/>
          <p:cNvGrpSpPr>
            <a:grpSpLocks/>
          </p:cNvGrpSpPr>
          <p:nvPr/>
        </p:nvGrpSpPr>
        <p:grpSpPr bwMode="auto">
          <a:xfrm>
            <a:off x="2819400" y="3505200"/>
            <a:ext cx="3505200" cy="3124200"/>
            <a:chOff x="1776" y="2208"/>
            <a:chExt cx="2208" cy="1968"/>
          </a:xfrm>
        </p:grpSpPr>
        <p:sp>
          <p:nvSpPr>
            <p:cNvPr id="8201" name="Rectangle 9"/>
            <p:cNvSpPr>
              <a:spLocks noChangeArrowheads="1"/>
            </p:cNvSpPr>
            <p:nvPr/>
          </p:nvSpPr>
          <p:spPr bwMode="auto">
            <a:xfrm>
              <a:off x="1776" y="2208"/>
              <a:ext cx="2208" cy="19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09" name="Oval 17"/>
            <p:cNvSpPr>
              <a:spLocks noChangeArrowheads="1"/>
            </p:cNvSpPr>
            <p:nvPr/>
          </p:nvSpPr>
          <p:spPr bwMode="auto">
            <a:xfrm>
              <a:off x="1920" y="2400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11" name="Oval 19"/>
            <p:cNvSpPr>
              <a:spLocks noChangeArrowheads="1"/>
            </p:cNvSpPr>
            <p:nvPr/>
          </p:nvSpPr>
          <p:spPr bwMode="auto">
            <a:xfrm>
              <a:off x="3504" y="2736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12" name="Oval 20"/>
            <p:cNvSpPr>
              <a:spLocks noChangeArrowheads="1"/>
            </p:cNvSpPr>
            <p:nvPr/>
          </p:nvSpPr>
          <p:spPr bwMode="auto">
            <a:xfrm>
              <a:off x="3312" y="3696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13" name="Oval 21"/>
            <p:cNvSpPr>
              <a:spLocks noChangeArrowheads="1"/>
            </p:cNvSpPr>
            <p:nvPr/>
          </p:nvSpPr>
          <p:spPr bwMode="auto">
            <a:xfrm>
              <a:off x="1920" y="3216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14" name="Oval 22"/>
            <p:cNvSpPr>
              <a:spLocks noChangeArrowheads="1"/>
            </p:cNvSpPr>
            <p:nvPr/>
          </p:nvSpPr>
          <p:spPr bwMode="auto">
            <a:xfrm>
              <a:off x="3216" y="3216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15" name="Oval 23"/>
            <p:cNvSpPr>
              <a:spLocks noChangeArrowheads="1"/>
            </p:cNvSpPr>
            <p:nvPr/>
          </p:nvSpPr>
          <p:spPr bwMode="auto">
            <a:xfrm>
              <a:off x="2688" y="3408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16" name="Oval 24"/>
            <p:cNvSpPr>
              <a:spLocks noChangeArrowheads="1"/>
            </p:cNvSpPr>
            <p:nvPr/>
          </p:nvSpPr>
          <p:spPr bwMode="auto">
            <a:xfrm>
              <a:off x="2208" y="3360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17" name="Oval 25"/>
            <p:cNvSpPr>
              <a:spLocks noChangeArrowheads="1"/>
            </p:cNvSpPr>
            <p:nvPr/>
          </p:nvSpPr>
          <p:spPr bwMode="auto">
            <a:xfrm>
              <a:off x="2736" y="2448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18" name="Oval 26"/>
            <p:cNvSpPr>
              <a:spLocks noChangeArrowheads="1"/>
            </p:cNvSpPr>
            <p:nvPr/>
          </p:nvSpPr>
          <p:spPr bwMode="auto">
            <a:xfrm>
              <a:off x="2304" y="2352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19" name="Oval 27"/>
            <p:cNvSpPr>
              <a:spLocks noChangeArrowheads="1"/>
            </p:cNvSpPr>
            <p:nvPr/>
          </p:nvSpPr>
          <p:spPr bwMode="auto">
            <a:xfrm>
              <a:off x="1824" y="2784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20" name="Oval 28"/>
            <p:cNvSpPr>
              <a:spLocks noChangeArrowheads="1"/>
            </p:cNvSpPr>
            <p:nvPr/>
          </p:nvSpPr>
          <p:spPr bwMode="auto">
            <a:xfrm>
              <a:off x="3168" y="2400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21" name="Oval 29"/>
            <p:cNvSpPr>
              <a:spLocks noChangeArrowheads="1"/>
            </p:cNvSpPr>
            <p:nvPr/>
          </p:nvSpPr>
          <p:spPr bwMode="auto">
            <a:xfrm>
              <a:off x="2064" y="2688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22" name="Oval 30"/>
            <p:cNvSpPr>
              <a:spLocks noChangeArrowheads="1"/>
            </p:cNvSpPr>
            <p:nvPr/>
          </p:nvSpPr>
          <p:spPr bwMode="auto">
            <a:xfrm>
              <a:off x="2448" y="2688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23" name="Oval 31"/>
            <p:cNvSpPr>
              <a:spLocks noChangeArrowheads="1"/>
            </p:cNvSpPr>
            <p:nvPr/>
          </p:nvSpPr>
          <p:spPr bwMode="auto">
            <a:xfrm>
              <a:off x="2736" y="2736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24" name="Oval 32"/>
            <p:cNvSpPr>
              <a:spLocks noChangeArrowheads="1"/>
            </p:cNvSpPr>
            <p:nvPr/>
          </p:nvSpPr>
          <p:spPr bwMode="auto">
            <a:xfrm>
              <a:off x="2448" y="3120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25" name="Oval 33"/>
            <p:cNvSpPr>
              <a:spLocks noChangeArrowheads="1"/>
            </p:cNvSpPr>
            <p:nvPr/>
          </p:nvSpPr>
          <p:spPr bwMode="auto">
            <a:xfrm>
              <a:off x="2064" y="2880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26" name="Oval 34"/>
            <p:cNvSpPr>
              <a:spLocks noChangeArrowheads="1"/>
            </p:cNvSpPr>
            <p:nvPr/>
          </p:nvSpPr>
          <p:spPr bwMode="auto">
            <a:xfrm>
              <a:off x="2208" y="3696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27" name="Oval 35"/>
            <p:cNvSpPr>
              <a:spLocks noChangeArrowheads="1"/>
            </p:cNvSpPr>
            <p:nvPr/>
          </p:nvSpPr>
          <p:spPr bwMode="auto">
            <a:xfrm>
              <a:off x="3504" y="2496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28" name="Oval 36"/>
            <p:cNvSpPr>
              <a:spLocks noChangeArrowheads="1"/>
            </p:cNvSpPr>
            <p:nvPr/>
          </p:nvSpPr>
          <p:spPr bwMode="auto">
            <a:xfrm>
              <a:off x="3744" y="3024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29" name="Oval 37"/>
            <p:cNvSpPr>
              <a:spLocks noChangeArrowheads="1"/>
            </p:cNvSpPr>
            <p:nvPr/>
          </p:nvSpPr>
          <p:spPr bwMode="auto">
            <a:xfrm>
              <a:off x="2784" y="3264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30" name="Oval 38"/>
            <p:cNvSpPr>
              <a:spLocks noChangeArrowheads="1"/>
            </p:cNvSpPr>
            <p:nvPr/>
          </p:nvSpPr>
          <p:spPr bwMode="auto">
            <a:xfrm>
              <a:off x="3120" y="2880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31" name="Oval 39"/>
            <p:cNvSpPr>
              <a:spLocks noChangeArrowheads="1"/>
            </p:cNvSpPr>
            <p:nvPr/>
          </p:nvSpPr>
          <p:spPr bwMode="auto">
            <a:xfrm>
              <a:off x="3456" y="3312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32" name="Oval 40"/>
            <p:cNvSpPr>
              <a:spLocks noChangeArrowheads="1"/>
            </p:cNvSpPr>
            <p:nvPr/>
          </p:nvSpPr>
          <p:spPr bwMode="auto">
            <a:xfrm>
              <a:off x="2016" y="2496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33" name="Oval 41"/>
            <p:cNvSpPr>
              <a:spLocks noChangeArrowheads="1"/>
            </p:cNvSpPr>
            <p:nvPr/>
          </p:nvSpPr>
          <p:spPr bwMode="auto">
            <a:xfrm>
              <a:off x="2640" y="3888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34" name="Oval 42"/>
            <p:cNvSpPr>
              <a:spLocks noChangeArrowheads="1"/>
            </p:cNvSpPr>
            <p:nvPr/>
          </p:nvSpPr>
          <p:spPr bwMode="auto">
            <a:xfrm>
              <a:off x="1920" y="3600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35" name="Oval 43"/>
            <p:cNvSpPr>
              <a:spLocks noChangeArrowheads="1"/>
            </p:cNvSpPr>
            <p:nvPr/>
          </p:nvSpPr>
          <p:spPr bwMode="auto">
            <a:xfrm>
              <a:off x="2544" y="2448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36" name="Oval 44"/>
            <p:cNvSpPr>
              <a:spLocks noChangeArrowheads="1"/>
            </p:cNvSpPr>
            <p:nvPr/>
          </p:nvSpPr>
          <p:spPr bwMode="auto">
            <a:xfrm>
              <a:off x="2160" y="3072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37" name="Oval 45"/>
            <p:cNvSpPr>
              <a:spLocks noChangeArrowheads="1"/>
            </p:cNvSpPr>
            <p:nvPr/>
          </p:nvSpPr>
          <p:spPr bwMode="auto">
            <a:xfrm>
              <a:off x="3552" y="3840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38" name="Oval 46"/>
            <p:cNvSpPr>
              <a:spLocks noChangeArrowheads="1"/>
            </p:cNvSpPr>
            <p:nvPr/>
          </p:nvSpPr>
          <p:spPr bwMode="auto">
            <a:xfrm>
              <a:off x="3744" y="2880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39" name="Oval 47"/>
            <p:cNvSpPr>
              <a:spLocks noChangeArrowheads="1"/>
            </p:cNvSpPr>
            <p:nvPr/>
          </p:nvSpPr>
          <p:spPr bwMode="auto">
            <a:xfrm>
              <a:off x="3072" y="3456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40" name="Oval 48"/>
            <p:cNvSpPr>
              <a:spLocks noChangeArrowheads="1"/>
            </p:cNvSpPr>
            <p:nvPr/>
          </p:nvSpPr>
          <p:spPr bwMode="auto">
            <a:xfrm>
              <a:off x="2448" y="3504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43" name="Oval 51"/>
            <p:cNvSpPr>
              <a:spLocks noChangeArrowheads="1"/>
            </p:cNvSpPr>
            <p:nvPr/>
          </p:nvSpPr>
          <p:spPr bwMode="auto">
            <a:xfrm>
              <a:off x="3552" y="2352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44" name="Oval 52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45" name="Oval 53"/>
            <p:cNvSpPr>
              <a:spLocks noChangeArrowheads="1"/>
            </p:cNvSpPr>
            <p:nvPr/>
          </p:nvSpPr>
          <p:spPr bwMode="auto">
            <a:xfrm>
              <a:off x="2304" y="2736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46" name="Oval 54"/>
            <p:cNvSpPr>
              <a:spLocks noChangeArrowheads="1"/>
            </p:cNvSpPr>
            <p:nvPr/>
          </p:nvSpPr>
          <p:spPr bwMode="auto">
            <a:xfrm>
              <a:off x="3072" y="2640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247" name="Oval 55"/>
            <p:cNvSpPr>
              <a:spLocks noChangeArrowheads="1"/>
            </p:cNvSpPr>
            <p:nvPr/>
          </p:nvSpPr>
          <p:spPr bwMode="auto">
            <a:xfrm>
              <a:off x="3360" y="3024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07" name="Oval 115"/>
            <p:cNvSpPr>
              <a:spLocks noChangeArrowheads="1"/>
            </p:cNvSpPr>
            <p:nvPr/>
          </p:nvSpPr>
          <p:spPr bwMode="auto">
            <a:xfrm>
              <a:off x="2592" y="3216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08" name="Oval 116"/>
            <p:cNvSpPr>
              <a:spLocks noChangeArrowheads="1"/>
            </p:cNvSpPr>
            <p:nvPr/>
          </p:nvSpPr>
          <p:spPr bwMode="auto">
            <a:xfrm>
              <a:off x="2880" y="2928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09" name="Oval 117"/>
            <p:cNvSpPr>
              <a:spLocks noChangeArrowheads="1"/>
            </p:cNvSpPr>
            <p:nvPr/>
          </p:nvSpPr>
          <p:spPr bwMode="auto">
            <a:xfrm>
              <a:off x="2928" y="3744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10" name="Oval 118"/>
            <p:cNvSpPr>
              <a:spLocks noChangeArrowheads="1"/>
            </p:cNvSpPr>
            <p:nvPr/>
          </p:nvSpPr>
          <p:spPr bwMode="auto">
            <a:xfrm>
              <a:off x="2544" y="3648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26" name="Rectangle 134"/>
            <p:cNvSpPr>
              <a:spLocks noChangeArrowheads="1"/>
            </p:cNvSpPr>
            <p:nvPr/>
          </p:nvSpPr>
          <p:spPr bwMode="auto">
            <a:xfrm>
              <a:off x="2736" y="2304"/>
              <a:ext cx="1200" cy="91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42" name="Oval 150"/>
            <p:cNvSpPr>
              <a:spLocks noChangeArrowheads="1"/>
            </p:cNvSpPr>
            <p:nvPr/>
          </p:nvSpPr>
          <p:spPr bwMode="auto">
            <a:xfrm>
              <a:off x="3312" y="2736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43" name="Oval 151"/>
            <p:cNvSpPr>
              <a:spLocks noChangeArrowheads="1"/>
            </p:cNvSpPr>
            <p:nvPr/>
          </p:nvSpPr>
          <p:spPr bwMode="auto">
            <a:xfrm>
              <a:off x="2928" y="2448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44" name="Oval 152"/>
            <p:cNvSpPr>
              <a:spLocks noChangeArrowheads="1"/>
            </p:cNvSpPr>
            <p:nvPr/>
          </p:nvSpPr>
          <p:spPr bwMode="auto">
            <a:xfrm>
              <a:off x="3552" y="2928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</p:grpSp>
      <p:grpSp>
        <p:nvGrpSpPr>
          <p:cNvPr id="4" name="Group 161"/>
          <p:cNvGrpSpPr>
            <a:grpSpLocks/>
          </p:cNvGrpSpPr>
          <p:nvPr/>
        </p:nvGrpSpPr>
        <p:grpSpPr bwMode="auto">
          <a:xfrm>
            <a:off x="6248400" y="2147888"/>
            <a:ext cx="2286000" cy="2789237"/>
            <a:chOff x="3936" y="1353"/>
            <a:chExt cx="1440" cy="1757"/>
          </a:xfrm>
        </p:grpSpPr>
        <p:sp>
          <p:nvSpPr>
            <p:cNvPr id="8203" name="Text Box 11"/>
            <p:cNvSpPr txBox="1">
              <a:spLocks noChangeArrowheads="1"/>
            </p:cNvSpPr>
            <p:nvPr/>
          </p:nvSpPr>
          <p:spPr bwMode="auto">
            <a:xfrm>
              <a:off x="4250" y="1353"/>
              <a:ext cx="112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800" b="1">
                  <a:solidFill>
                    <a:srgbClr val="0000CC"/>
                  </a:solidFill>
                  <a:latin typeface="Arial" pitchFamily="-97" charset="0"/>
                </a:rPr>
                <a:t>Survey 2:</a:t>
              </a:r>
            </a:p>
          </p:txBody>
        </p:sp>
        <p:sp>
          <p:nvSpPr>
            <p:cNvPr id="8208" name="Rectangle 16"/>
            <p:cNvSpPr>
              <a:spLocks noChangeArrowheads="1"/>
            </p:cNvSpPr>
            <p:nvPr/>
          </p:nvSpPr>
          <p:spPr bwMode="auto">
            <a:xfrm>
              <a:off x="4176" y="1632"/>
              <a:ext cx="1200" cy="9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27" name="Line 135"/>
            <p:cNvSpPr>
              <a:spLocks noChangeShapeType="1"/>
            </p:cNvSpPr>
            <p:nvPr/>
          </p:nvSpPr>
          <p:spPr bwMode="auto">
            <a:xfrm flipV="1">
              <a:off x="3936" y="2592"/>
              <a:ext cx="48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28" name="Oval 136"/>
            <p:cNvSpPr>
              <a:spLocks noChangeArrowheads="1"/>
            </p:cNvSpPr>
            <p:nvPr/>
          </p:nvSpPr>
          <p:spPr bwMode="auto">
            <a:xfrm>
              <a:off x="4944" y="2016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29" name="Oval 137"/>
            <p:cNvSpPr>
              <a:spLocks noChangeArrowheads="1"/>
            </p:cNvSpPr>
            <p:nvPr/>
          </p:nvSpPr>
          <p:spPr bwMode="auto">
            <a:xfrm>
              <a:off x="4176" y="1728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30" name="Oval 138"/>
            <p:cNvSpPr>
              <a:spLocks noChangeArrowheads="1"/>
            </p:cNvSpPr>
            <p:nvPr/>
          </p:nvSpPr>
          <p:spPr bwMode="auto">
            <a:xfrm>
              <a:off x="4608" y="1680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31" name="Oval 139"/>
            <p:cNvSpPr>
              <a:spLocks noChangeArrowheads="1"/>
            </p:cNvSpPr>
            <p:nvPr/>
          </p:nvSpPr>
          <p:spPr bwMode="auto">
            <a:xfrm>
              <a:off x="4176" y="2016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32" name="Oval 140"/>
            <p:cNvSpPr>
              <a:spLocks noChangeArrowheads="1"/>
            </p:cNvSpPr>
            <p:nvPr/>
          </p:nvSpPr>
          <p:spPr bwMode="auto">
            <a:xfrm>
              <a:off x="4944" y="1776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33" name="Oval 141"/>
            <p:cNvSpPr>
              <a:spLocks noChangeArrowheads="1"/>
            </p:cNvSpPr>
            <p:nvPr/>
          </p:nvSpPr>
          <p:spPr bwMode="auto">
            <a:xfrm>
              <a:off x="5184" y="2304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34" name="Oval 142"/>
            <p:cNvSpPr>
              <a:spLocks noChangeArrowheads="1"/>
            </p:cNvSpPr>
            <p:nvPr/>
          </p:nvSpPr>
          <p:spPr bwMode="auto">
            <a:xfrm>
              <a:off x="4560" y="2160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35" name="Oval 143"/>
            <p:cNvSpPr>
              <a:spLocks noChangeArrowheads="1"/>
            </p:cNvSpPr>
            <p:nvPr/>
          </p:nvSpPr>
          <p:spPr bwMode="auto">
            <a:xfrm>
              <a:off x="5184" y="2160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36" name="Oval 144"/>
            <p:cNvSpPr>
              <a:spLocks noChangeArrowheads="1"/>
            </p:cNvSpPr>
            <p:nvPr/>
          </p:nvSpPr>
          <p:spPr bwMode="auto">
            <a:xfrm>
              <a:off x="4992" y="1632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37" name="Oval 145"/>
            <p:cNvSpPr>
              <a:spLocks noChangeArrowheads="1"/>
            </p:cNvSpPr>
            <p:nvPr/>
          </p:nvSpPr>
          <p:spPr bwMode="auto">
            <a:xfrm>
              <a:off x="4512" y="1920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38" name="Oval 146"/>
            <p:cNvSpPr>
              <a:spLocks noChangeArrowheads="1"/>
            </p:cNvSpPr>
            <p:nvPr/>
          </p:nvSpPr>
          <p:spPr bwMode="auto">
            <a:xfrm>
              <a:off x="4800" y="2304"/>
              <a:ext cx="144" cy="14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39" name="Oval 147"/>
            <p:cNvSpPr>
              <a:spLocks noChangeArrowheads="1"/>
            </p:cNvSpPr>
            <p:nvPr/>
          </p:nvSpPr>
          <p:spPr bwMode="auto">
            <a:xfrm>
              <a:off x="4320" y="2208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41" name="Text Box 149"/>
            <p:cNvSpPr txBox="1">
              <a:spLocks noChangeArrowheads="1"/>
            </p:cNvSpPr>
            <p:nvPr/>
          </p:nvSpPr>
          <p:spPr bwMode="auto">
            <a:xfrm>
              <a:off x="4464" y="2592"/>
              <a:ext cx="687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b="1">
                  <a:solidFill>
                    <a:srgbClr val="0000CC"/>
                  </a:solidFill>
                  <a:latin typeface="Arial" pitchFamily="-97" charset="0"/>
                </a:rPr>
                <a:t>C = 15</a:t>
              </a:r>
            </a:p>
            <a:p>
              <a:r>
                <a:rPr lang="en-US" b="1">
                  <a:solidFill>
                    <a:srgbClr val="0000CC"/>
                  </a:solidFill>
                  <a:latin typeface="Arial" pitchFamily="-97" charset="0"/>
                </a:rPr>
                <a:t>R = 4</a:t>
              </a:r>
            </a:p>
          </p:txBody>
        </p:sp>
        <p:sp>
          <p:nvSpPr>
            <p:cNvPr id="8345" name="Oval 153"/>
            <p:cNvSpPr>
              <a:spLocks noChangeArrowheads="1"/>
            </p:cNvSpPr>
            <p:nvPr/>
          </p:nvSpPr>
          <p:spPr bwMode="auto">
            <a:xfrm>
              <a:off x="4992" y="2208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46" name="Oval 154"/>
            <p:cNvSpPr>
              <a:spLocks noChangeArrowheads="1"/>
            </p:cNvSpPr>
            <p:nvPr/>
          </p:nvSpPr>
          <p:spPr bwMode="auto">
            <a:xfrm>
              <a:off x="4368" y="1728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p:sp>
          <p:nvSpPr>
            <p:cNvPr id="8347" name="Oval 155"/>
            <p:cNvSpPr>
              <a:spLocks noChangeArrowheads="1"/>
            </p:cNvSpPr>
            <p:nvPr/>
          </p:nvSpPr>
          <p:spPr bwMode="auto">
            <a:xfrm>
              <a:off x="4800" y="2016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</p:grpSp>
      <p:sp>
        <p:nvSpPr>
          <p:cNvPr id="8348" name="Oval 156"/>
          <p:cNvSpPr>
            <a:spLocks noChangeArrowheads="1"/>
          </p:cNvSpPr>
          <p:nvPr/>
        </p:nvSpPr>
        <p:spPr bwMode="auto">
          <a:xfrm>
            <a:off x="5638800" y="13716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349" name="Oval 157"/>
          <p:cNvSpPr>
            <a:spLocks noChangeArrowheads="1"/>
          </p:cNvSpPr>
          <p:nvPr/>
        </p:nvSpPr>
        <p:spPr bwMode="auto">
          <a:xfrm>
            <a:off x="4724400" y="6096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8350" name="Oval 158"/>
          <p:cNvSpPr>
            <a:spLocks noChangeArrowheads="1"/>
          </p:cNvSpPr>
          <p:nvPr/>
        </p:nvSpPr>
        <p:spPr bwMode="auto">
          <a:xfrm>
            <a:off x="5257800" y="12192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4547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0" name="Line 104"/>
          <p:cNvSpPr>
            <a:spLocks noChangeShapeType="1"/>
          </p:cNvSpPr>
          <p:nvPr/>
        </p:nvSpPr>
        <p:spPr bwMode="auto">
          <a:xfrm flipV="1">
            <a:off x="3681413" y="3236119"/>
            <a:ext cx="1638300" cy="2460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8" name="Group 77"/>
          <p:cNvGrpSpPr/>
          <p:nvPr/>
        </p:nvGrpSpPr>
        <p:grpSpPr>
          <a:xfrm>
            <a:off x="1466850" y="2262188"/>
            <a:ext cx="2214563" cy="2046287"/>
            <a:chOff x="2286000" y="4506913"/>
            <a:chExt cx="2214563" cy="2046287"/>
          </a:xfrm>
        </p:grpSpPr>
        <p:sp>
          <p:nvSpPr>
            <p:cNvPr id="9221" name="Rectangle 5"/>
            <p:cNvSpPr>
              <a:spLocks noChangeArrowheads="1"/>
            </p:cNvSpPr>
            <p:nvPr/>
          </p:nvSpPr>
          <p:spPr bwMode="auto">
            <a:xfrm>
              <a:off x="2286000" y="4506913"/>
              <a:ext cx="2214563" cy="2046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22" name="Oval 6"/>
            <p:cNvSpPr>
              <a:spLocks noChangeArrowheads="1"/>
            </p:cNvSpPr>
            <p:nvPr/>
          </p:nvSpPr>
          <p:spPr bwMode="auto">
            <a:xfrm>
              <a:off x="2430463" y="4706938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23" name="Oval 7"/>
            <p:cNvSpPr>
              <a:spLocks noChangeArrowheads="1"/>
            </p:cNvSpPr>
            <p:nvPr/>
          </p:nvSpPr>
          <p:spPr bwMode="auto">
            <a:xfrm>
              <a:off x="4019550" y="5056188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24" name="Oval 8"/>
            <p:cNvSpPr>
              <a:spLocks noChangeArrowheads="1"/>
            </p:cNvSpPr>
            <p:nvPr/>
          </p:nvSpPr>
          <p:spPr bwMode="auto">
            <a:xfrm>
              <a:off x="3825875" y="6054725"/>
              <a:ext cx="146050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25" name="Oval 9"/>
            <p:cNvSpPr>
              <a:spLocks noChangeArrowheads="1"/>
            </p:cNvSpPr>
            <p:nvPr/>
          </p:nvSpPr>
          <p:spPr bwMode="auto">
            <a:xfrm>
              <a:off x="2430463" y="5554663"/>
              <a:ext cx="144462" cy="15081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26" name="Oval 10"/>
            <p:cNvSpPr>
              <a:spLocks noChangeArrowheads="1"/>
            </p:cNvSpPr>
            <p:nvPr/>
          </p:nvSpPr>
          <p:spPr bwMode="auto">
            <a:xfrm>
              <a:off x="3730625" y="5554663"/>
              <a:ext cx="144463" cy="15081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27" name="Oval 11"/>
            <p:cNvSpPr>
              <a:spLocks noChangeArrowheads="1"/>
            </p:cNvSpPr>
            <p:nvPr/>
          </p:nvSpPr>
          <p:spPr bwMode="auto">
            <a:xfrm>
              <a:off x="3200400" y="5754688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28" name="Oval 12"/>
            <p:cNvSpPr>
              <a:spLocks noChangeArrowheads="1"/>
            </p:cNvSpPr>
            <p:nvPr/>
          </p:nvSpPr>
          <p:spPr bwMode="auto">
            <a:xfrm>
              <a:off x="2719388" y="5705475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29" name="Oval 13"/>
            <p:cNvSpPr>
              <a:spLocks noChangeArrowheads="1"/>
            </p:cNvSpPr>
            <p:nvPr/>
          </p:nvSpPr>
          <p:spPr bwMode="auto">
            <a:xfrm>
              <a:off x="3248025" y="4757738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30" name="Oval 14"/>
            <p:cNvSpPr>
              <a:spLocks noChangeArrowheads="1"/>
            </p:cNvSpPr>
            <p:nvPr/>
          </p:nvSpPr>
          <p:spPr bwMode="auto">
            <a:xfrm>
              <a:off x="2814638" y="4657725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31" name="Oval 15"/>
            <p:cNvSpPr>
              <a:spLocks noChangeArrowheads="1"/>
            </p:cNvSpPr>
            <p:nvPr/>
          </p:nvSpPr>
          <p:spPr bwMode="auto">
            <a:xfrm>
              <a:off x="2333625" y="5106988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32" name="Oval 16"/>
            <p:cNvSpPr>
              <a:spLocks noChangeArrowheads="1"/>
            </p:cNvSpPr>
            <p:nvPr/>
          </p:nvSpPr>
          <p:spPr bwMode="auto">
            <a:xfrm>
              <a:off x="3681413" y="4706938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33" name="Oval 17"/>
            <p:cNvSpPr>
              <a:spLocks noChangeArrowheads="1"/>
            </p:cNvSpPr>
            <p:nvPr/>
          </p:nvSpPr>
          <p:spPr bwMode="auto">
            <a:xfrm>
              <a:off x="2574925" y="5006975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34" name="Oval 18"/>
            <p:cNvSpPr>
              <a:spLocks noChangeArrowheads="1"/>
            </p:cNvSpPr>
            <p:nvPr/>
          </p:nvSpPr>
          <p:spPr bwMode="auto">
            <a:xfrm>
              <a:off x="2959100" y="5006975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35" name="Oval 19"/>
            <p:cNvSpPr>
              <a:spLocks noChangeArrowheads="1"/>
            </p:cNvSpPr>
            <p:nvPr/>
          </p:nvSpPr>
          <p:spPr bwMode="auto">
            <a:xfrm>
              <a:off x="3248025" y="5056188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36" name="Oval 20"/>
            <p:cNvSpPr>
              <a:spLocks noChangeArrowheads="1"/>
            </p:cNvSpPr>
            <p:nvPr/>
          </p:nvSpPr>
          <p:spPr bwMode="auto">
            <a:xfrm>
              <a:off x="2959100" y="5456238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37" name="Oval 21"/>
            <p:cNvSpPr>
              <a:spLocks noChangeArrowheads="1"/>
            </p:cNvSpPr>
            <p:nvPr/>
          </p:nvSpPr>
          <p:spPr bwMode="auto">
            <a:xfrm>
              <a:off x="2574925" y="5205413"/>
              <a:ext cx="144463" cy="15081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38" name="Oval 22"/>
            <p:cNvSpPr>
              <a:spLocks noChangeArrowheads="1"/>
            </p:cNvSpPr>
            <p:nvPr/>
          </p:nvSpPr>
          <p:spPr bwMode="auto">
            <a:xfrm>
              <a:off x="2719388" y="6054725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39" name="Oval 23"/>
            <p:cNvSpPr>
              <a:spLocks noChangeArrowheads="1"/>
            </p:cNvSpPr>
            <p:nvPr/>
          </p:nvSpPr>
          <p:spPr bwMode="auto">
            <a:xfrm>
              <a:off x="4019550" y="4806950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40" name="Oval 24"/>
            <p:cNvSpPr>
              <a:spLocks noChangeArrowheads="1"/>
            </p:cNvSpPr>
            <p:nvPr/>
          </p:nvSpPr>
          <p:spPr bwMode="auto">
            <a:xfrm>
              <a:off x="4260850" y="5356225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41" name="Oval 25"/>
            <p:cNvSpPr>
              <a:spLocks noChangeArrowheads="1"/>
            </p:cNvSpPr>
            <p:nvPr/>
          </p:nvSpPr>
          <p:spPr bwMode="auto">
            <a:xfrm>
              <a:off x="3297238" y="5605463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42" name="Oval 26"/>
            <p:cNvSpPr>
              <a:spLocks noChangeArrowheads="1"/>
            </p:cNvSpPr>
            <p:nvPr/>
          </p:nvSpPr>
          <p:spPr bwMode="auto">
            <a:xfrm>
              <a:off x="3633788" y="5205413"/>
              <a:ext cx="144462" cy="15081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43" name="Oval 27"/>
            <p:cNvSpPr>
              <a:spLocks noChangeArrowheads="1"/>
            </p:cNvSpPr>
            <p:nvPr/>
          </p:nvSpPr>
          <p:spPr bwMode="auto">
            <a:xfrm>
              <a:off x="3971925" y="5654675"/>
              <a:ext cx="144463" cy="15081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44" name="Oval 28"/>
            <p:cNvSpPr>
              <a:spLocks noChangeArrowheads="1"/>
            </p:cNvSpPr>
            <p:nvPr/>
          </p:nvSpPr>
          <p:spPr bwMode="auto">
            <a:xfrm>
              <a:off x="2525713" y="4806950"/>
              <a:ext cx="144462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45" name="Oval 29"/>
            <p:cNvSpPr>
              <a:spLocks noChangeArrowheads="1"/>
            </p:cNvSpPr>
            <p:nvPr/>
          </p:nvSpPr>
          <p:spPr bwMode="auto">
            <a:xfrm>
              <a:off x="3152775" y="6253163"/>
              <a:ext cx="144463" cy="15081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46" name="Oval 30"/>
            <p:cNvSpPr>
              <a:spLocks noChangeArrowheads="1"/>
            </p:cNvSpPr>
            <p:nvPr/>
          </p:nvSpPr>
          <p:spPr bwMode="auto">
            <a:xfrm>
              <a:off x="2430463" y="5954713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47" name="Oval 31"/>
            <p:cNvSpPr>
              <a:spLocks noChangeArrowheads="1"/>
            </p:cNvSpPr>
            <p:nvPr/>
          </p:nvSpPr>
          <p:spPr bwMode="auto">
            <a:xfrm>
              <a:off x="3055938" y="4757738"/>
              <a:ext cx="144462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48" name="Oval 32"/>
            <p:cNvSpPr>
              <a:spLocks noChangeArrowheads="1"/>
            </p:cNvSpPr>
            <p:nvPr/>
          </p:nvSpPr>
          <p:spPr bwMode="auto">
            <a:xfrm>
              <a:off x="2670175" y="5405438"/>
              <a:ext cx="144463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49" name="Oval 33"/>
            <p:cNvSpPr>
              <a:spLocks noChangeArrowheads="1"/>
            </p:cNvSpPr>
            <p:nvPr/>
          </p:nvSpPr>
          <p:spPr bwMode="auto">
            <a:xfrm>
              <a:off x="4067175" y="6203950"/>
              <a:ext cx="144463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50" name="Oval 34"/>
            <p:cNvSpPr>
              <a:spLocks noChangeArrowheads="1"/>
            </p:cNvSpPr>
            <p:nvPr/>
          </p:nvSpPr>
          <p:spPr bwMode="auto">
            <a:xfrm>
              <a:off x="4260850" y="5205413"/>
              <a:ext cx="144463" cy="15081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51" name="Oval 35"/>
            <p:cNvSpPr>
              <a:spLocks noChangeArrowheads="1"/>
            </p:cNvSpPr>
            <p:nvPr/>
          </p:nvSpPr>
          <p:spPr bwMode="auto">
            <a:xfrm>
              <a:off x="3586163" y="5805488"/>
              <a:ext cx="144462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52" name="Oval 36"/>
            <p:cNvSpPr>
              <a:spLocks noChangeArrowheads="1"/>
            </p:cNvSpPr>
            <p:nvPr/>
          </p:nvSpPr>
          <p:spPr bwMode="auto">
            <a:xfrm>
              <a:off x="2959100" y="5854700"/>
              <a:ext cx="144463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53" name="Oval 37"/>
            <p:cNvSpPr>
              <a:spLocks noChangeArrowheads="1"/>
            </p:cNvSpPr>
            <p:nvPr/>
          </p:nvSpPr>
          <p:spPr bwMode="auto">
            <a:xfrm>
              <a:off x="4067175" y="4657725"/>
              <a:ext cx="144463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54" name="Oval 38"/>
            <p:cNvSpPr>
              <a:spLocks noChangeArrowheads="1"/>
            </p:cNvSpPr>
            <p:nvPr/>
          </p:nvSpPr>
          <p:spPr bwMode="auto">
            <a:xfrm>
              <a:off x="3536950" y="5605463"/>
              <a:ext cx="144463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55" name="Oval 39"/>
            <p:cNvSpPr>
              <a:spLocks noChangeArrowheads="1"/>
            </p:cNvSpPr>
            <p:nvPr/>
          </p:nvSpPr>
          <p:spPr bwMode="auto">
            <a:xfrm>
              <a:off x="2814638" y="5056188"/>
              <a:ext cx="144462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56" name="Oval 40"/>
            <p:cNvSpPr>
              <a:spLocks noChangeArrowheads="1"/>
            </p:cNvSpPr>
            <p:nvPr/>
          </p:nvSpPr>
          <p:spPr bwMode="auto">
            <a:xfrm>
              <a:off x="3586163" y="4956175"/>
              <a:ext cx="144462" cy="15081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257" name="Oval 41"/>
            <p:cNvSpPr>
              <a:spLocks noChangeArrowheads="1"/>
            </p:cNvSpPr>
            <p:nvPr/>
          </p:nvSpPr>
          <p:spPr bwMode="auto">
            <a:xfrm>
              <a:off x="3875088" y="5356225"/>
              <a:ext cx="144462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301" name="Oval 85"/>
            <p:cNvSpPr>
              <a:spLocks noChangeArrowheads="1"/>
            </p:cNvSpPr>
            <p:nvPr/>
          </p:nvSpPr>
          <p:spPr bwMode="auto">
            <a:xfrm>
              <a:off x="3103563" y="5554663"/>
              <a:ext cx="144462" cy="15081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302" name="Oval 86"/>
            <p:cNvSpPr>
              <a:spLocks noChangeArrowheads="1"/>
            </p:cNvSpPr>
            <p:nvPr/>
          </p:nvSpPr>
          <p:spPr bwMode="auto">
            <a:xfrm>
              <a:off x="3392488" y="5256213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303" name="Oval 87"/>
            <p:cNvSpPr>
              <a:spLocks noChangeArrowheads="1"/>
            </p:cNvSpPr>
            <p:nvPr/>
          </p:nvSpPr>
          <p:spPr bwMode="auto">
            <a:xfrm>
              <a:off x="3441700" y="6103938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304" name="Oval 88"/>
            <p:cNvSpPr>
              <a:spLocks noChangeArrowheads="1"/>
            </p:cNvSpPr>
            <p:nvPr/>
          </p:nvSpPr>
          <p:spPr bwMode="auto">
            <a:xfrm>
              <a:off x="3055938" y="6003925"/>
              <a:ext cx="144462" cy="15081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319" name="Rectangle 103"/>
            <p:cNvSpPr>
              <a:spLocks noChangeArrowheads="1"/>
            </p:cNvSpPr>
            <p:nvPr/>
          </p:nvSpPr>
          <p:spPr bwMode="auto">
            <a:xfrm>
              <a:off x="3248025" y="4606925"/>
              <a:ext cx="1204913" cy="94773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35" name="Oval 119"/>
            <p:cNvSpPr>
              <a:spLocks noChangeArrowheads="1"/>
            </p:cNvSpPr>
            <p:nvPr/>
          </p:nvSpPr>
          <p:spPr bwMode="auto">
            <a:xfrm>
              <a:off x="3825875" y="5056188"/>
              <a:ext cx="146050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336" name="Oval 120"/>
            <p:cNvSpPr>
              <a:spLocks noChangeArrowheads="1"/>
            </p:cNvSpPr>
            <p:nvPr/>
          </p:nvSpPr>
          <p:spPr bwMode="auto">
            <a:xfrm>
              <a:off x="3441700" y="4757738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337" name="Oval 121"/>
            <p:cNvSpPr>
              <a:spLocks noChangeArrowheads="1"/>
            </p:cNvSpPr>
            <p:nvPr/>
          </p:nvSpPr>
          <p:spPr bwMode="auto">
            <a:xfrm>
              <a:off x="4067175" y="5256213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5319713" y="2836069"/>
            <a:ext cx="1203325" cy="947738"/>
            <a:chOff x="4694238" y="3908425"/>
            <a:chExt cx="1203325" cy="947738"/>
          </a:xfrm>
        </p:grpSpPr>
        <p:sp>
          <p:nvSpPr>
            <p:cNvPr id="9220" name="Rectangle 4"/>
            <p:cNvSpPr>
              <a:spLocks noChangeArrowheads="1"/>
            </p:cNvSpPr>
            <p:nvPr/>
          </p:nvSpPr>
          <p:spPr bwMode="auto">
            <a:xfrm>
              <a:off x="4694238" y="3908425"/>
              <a:ext cx="1203325" cy="9477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21" name="Oval 105"/>
            <p:cNvSpPr>
              <a:spLocks noChangeArrowheads="1"/>
            </p:cNvSpPr>
            <p:nvPr/>
          </p:nvSpPr>
          <p:spPr bwMode="auto">
            <a:xfrm>
              <a:off x="5464175" y="4308475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322" name="Oval 106"/>
            <p:cNvSpPr>
              <a:spLocks noChangeArrowheads="1"/>
            </p:cNvSpPr>
            <p:nvPr/>
          </p:nvSpPr>
          <p:spPr bwMode="auto">
            <a:xfrm>
              <a:off x="4694238" y="4008438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323" name="Oval 107"/>
            <p:cNvSpPr>
              <a:spLocks noChangeArrowheads="1"/>
            </p:cNvSpPr>
            <p:nvPr/>
          </p:nvSpPr>
          <p:spPr bwMode="auto">
            <a:xfrm>
              <a:off x="5127625" y="3959225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324" name="Oval 108"/>
            <p:cNvSpPr>
              <a:spLocks noChangeArrowheads="1"/>
            </p:cNvSpPr>
            <p:nvPr/>
          </p:nvSpPr>
          <p:spPr bwMode="auto">
            <a:xfrm>
              <a:off x="4694238" y="4308475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325" name="Oval 109"/>
            <p:cNvSpPr>
              <a:spLocks noChangeArrowheads="1"/>
            </p:cNvSpPr>
            <p:nvPr/>
          </p:nvSpPr>
          <p:spPr bwMode="auto">
            <a:xfrm>
              <a:off x="5464175" y="4059238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326" name="Oval 110"/>
            <p:cNvSpPr>
              <a:spLocks noChangeArrowheads="1"/>
            </p:cNvSpPr>
            <p:nvPr/>
          </p:nvSpPr>
          <p:spPr bwMode="auto">
            <a:xfrm>
              <a:off x="5705475" y="4606925"/>
              <a:ext cx="144463" cy="15081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327" name="Oval 111"/>
            <p:cNvSpPr>
              <a:spLocks noChangeArrowheads="1"/>
            </p:cNvSpPr>
            <p:nvPr/>
          </p:nvSpPr>
          <p:spPr bwMode="auto">
            <a:xfrm>
              <a:off x="5078413" y="4457700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328" name="Oval 112"/>
            <p:cNvSpPr>
              <a:spLocks noChangeArrowheads="1"/>
            </p:cNvSpPr>
            <p:nvPr/>
          </p:nvSpPr>
          <p:spPr bwMode="auto">
            <a:xfrm>
              <a:off x="5705475" y="4457700"/>
              <a:ext cx="144463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329" name="Oval 113"/>
            <p:cNvSpPr>
              <a:spLocks noChangeArrowheads="1"/>
            </p:cNvSpPr>
            <p:nvPr/>
          </p:nvSpPr>
          <p:spPr bwMode="auto">
            <a:xfrm>
              <a:off x="5511800" y="3908425"/>
              <a:ext cx="144463" cy="15081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330" name="Oval 114"/>
            <p:cNvSpPr>
              <a:spLocks noChangeArrowheads="1"/>
            </p:cNvSpPr>
            <p:nvPr/>
          </p:nvSpPr>
          <p:spPr bwMode="auto">
            <a:xfrm>
              <a:off x="5030788" y="4208463"/>
              <a:ext cx="144462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331" name="Oval 115"/>
            <p:cNvSpPr>
              <a:spLocks noChangeArrowheads="1"/>
            </p:cNvSpPr>
            <p:nvPr/>
          </p:nvSpPr>
          <p:spPr bwMode="auto">
            <a:xfrm>
              <a:off x="5319713" y="4606925"/>
              <a:ext cx="144462" cy="15081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332" name="Oval 116"/>
            <p:cNvSpPr>
              <a:spLocks noChangeArrowheads="1"/>
            </p:cNvSpPr>
            <p:nvPr/>
          </p:nvSpPr>
          <p:spPr bwMode="auto">
            <a:xfrm>
              <a:off x="4838700" y="4506913"/>
              <a:ext cx="144463" cy="15081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338" name="Oval 122"/>
            <p:cNvSpPr>
              <a:spLocks noChangeArrowheads="1"/>
            </p:cNvSpPr>
            <p:nvPr/>
          </p:nvSpPr>
          <p:spPr bwMode="auto">
            <a:xfrm>
              <a:off x="5511800" y="4506913"/>
              <a:ext cx="144463" cy="15081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339" name="Oval 123"/>
            <p:cNvSpPr>
              <a:spLocks noChangeArrowheads="1"/>
            </p:cNvSpPr>
            <p:nvPr/>
          </p:nvSpPr>
          <p:spPr bwMode="auto">
            <a:xfrm>
              <a:off x="4886325" y="4008438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340" name="Oval 124"/>
            <p:cNvSpPr>
              <a:spLocks noChangeArrowheads="1"/>
            </p:cNvSpPr>
            <p:nvPr/>
          </p:nvSpPr>
          <p:spPr bwMode="auto">
            <a:xfrm>
              <a:off x="5319713" y="4308475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5343525" y="4159250"/>
            <a:ext cx="1203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 = 15</a:t>
            </a:r>
          </a:p>
          <a:p>
            <a:r>
              <a:rPr lang="en-US" dirty="0"/>
              <a:t>R = 4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31962" y="4634815"/>
            <a:ext cx="1203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???</a:t>
            </a:r>
          </a:p>
          <a:p>
            <a:r>
              <a:rPr lang="en-US" dirty="0"/>
              <a:t>M = 12 </a:t>
            </a:r>
          </a:p>
        </p:txBody>
      </p:sp>
      <p:sp>
        <p:nvSpPr>
          <p:cNvPr id="82" name="Title 8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Population</a:t>
            </a:r>
          </a:p>
        </p:txBody>
      </p:sp>
    </p:spTree>
    <p:extLst>
      <p:ext uri="{BB962C8B-B14F-4D97-AF65-F5344CB8AC3E}">
        <p14:creationId xmlns:p14="http://schemas.microsoft.com/office/powerpoint/2010/main" val="277313167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Lincoln-Peterson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 that the proportion marked in the population equals the proportion marked in the 2nd sample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914400" y="3244850"/>
          <a:ext cx="7317390" cy="216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4600" imgH="368300" progId="Equation.3">
                  <p:embed/>
                </p:oleObj>
              </mc:Choice>
              <mc:Fallback>
                <p:oleObj name="Equation" r:id="rId2" imgW="1244600" imgH="36830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244850"/>
                        <a:ext cx="7317390" cy="216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1485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622467"/>
              </p:ext>
            </p:extLst>
          </p:nvPr>
        </p:nvGraphicFramePr>
        <p:xfrm>
          <a:off x="2133600" y="4590465"/>
          <a:ext cx="4421790" cy="1308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4600" imgH="368300" progId="Equation.3">
                  <p:embed/>
                </p:oleObj>
              </mc:Choice>
              <mc:Fallback>
                <p:oleObj name="Equation" r:id="rId2" imgW="1244600" imgH="36830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590465"/>
                        <a:ext cx="4421790" cy="13084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ine 104">
            <a:extLst>
              <a:ext uri="{FF2B5EF4-FFF2-40B4-BE49-F238E27FC236}">
                <a16:creationId xmlns:a16="http://schemas.microsoft.com/office/drawing/2014/main" id="{4C1837F6-8AB3-D48B-C39F-69076EFED8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43363" y="2145973"/>
            <a:ext cx="1638300" cy="2460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A1E762F-43BF-708E-0F2E-FBF7BE4DCADD}"/>
              </a:ext>
            </a:extLst>
          </p:cNvPr>
          <p:cNvGrpSpPr/>
          <p:nvPr/>
        </p:nvGrpSpPr>
        <p:grpSpPr>
          <a:xfrm>
            <a:off x="1828800" y="1172042"/>
            <a:ext cx="2214563" cy="2046287"/>
            <a:chOff x="2286000" y="4506913"/>
            <a:chExt cx="2214563" cy="2046287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59D710D4-0C8E-658D-0BAF-8BDD4293C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4506913"/>
              <a:ext cx="2214563" cy="20462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A0C7B6FA-6754-26AC-B2FB-169204816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0463" y="4706938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1F76CA98-2AB6-665E-4EA6-8197D3C60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550" y="5056188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10" name="Oval 8">
              <a:extLst>
                <a:ext uri="{FF2B5EF4-FFF2-40B4-BE49-F238E27FC236}">
                  <a16:creationId xmlns:a16="http://schemas.microsoft.com/office/drawing/2014/main" id="{C9FDC37F-19D0-76C6-22F2-F1FF2B7CB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5875" y="6054725"/>
              <a:ext cx="146050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11" name="Oval 9">
              <a:extLst>
                <a:ext uri="{FF2B5EF4-FFF2-40B4-BE49-F238E27FC236}">
                  <a16:creationId xmlns:a16="http://schemas.microsoft.com/office/drawing/2014/main" id="{9D19C145-3FF4-66B4-1332-3B5396D1A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0463" y="5554663"/>
              <a:ext cx="144462" cy="15081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12" name="Oval 10">
              <a:extLst>
                <a:ext uri="{FF2B5EF4-FFF2-40B4-BE49-F238E27FC236}">
                  <a16:creationId xmlns:a16="http://schemas.microsoft.com/office/drawing/2014/main" id="{28DBC24F-DECE-3F8E-8696-79443DC77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0625" y="5554663"/>
              <a:ext cx="144463" cy="15081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13" name="Oval 11">
              <a:extLst>
                <a:ext uri="{FF2B5EF4-FFF2-40B4-BE49-F238E27FC236}">
                  <a16:creationId xmlns:a16="http://schemas.microsoft.com/office/drawing/2014/main" id="{EA48EEE5-0B75-E4B9-4897-9FA7C66C1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5754688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14" name="Oval 12">
              <a:extLst>
                <a:ext uri="{FF2B5EF4-FFF2-40B4-BE49-F238E27FC236}">
                  <a16:creationId xmlns:a16="http://schemas.microsoft.com/office/drawing/2014/main" id="{8DC453AD-C9F4-121C-26D2-7DCDEB19E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9388" y="5705475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15" name="Oval 13">
              <a:extLst>
                <a:ext uri="{FF2B5EF4-FFF2-40B4-BE49-F238E27FC236}">
                  <a16:creationId xmlns:a16="http://schemas.microsoft.com/office/drawing/2014/main" id="{9EDF941D-80AA-43BA-D08F-599C40868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8025" y="4757738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16" name="Oval 14">
              <a:extLst>
                <a:ext uri="{FF2B5EF4-FFF2-40B4-BE49-F238E27FC236}">
                  <a16:creationId xmlns:a16="http://schemas.microsoft.com/office/drawing/2014/main" id="{BCC201D0-FD37-637B-9DE5-F9D63E287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4638" y="4657725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17" name="Oval 15">
              <a:extLst>
                <a:ext uri="{FF2B5EF4-FFF2-40B4-BE49-F238E27FC236}">
                  <a16:creationId xmlns:a16="http://schemas.microsoft.com/office/drawing/2014/main" id="{140C49F8-EEEA-B8AA-4766-FA55F5B97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3625" y="5106988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18" name="Oval 16">
              <a:extLst>
                <a:ext uri="{FF2B5EF4-FFF2-40B4-BE49-F238E27FC236}">
                  <a16:creationId xmlns:a16="http://schemas.microsoft.com/office/drawing/2014/main" id="{A2E9CA5E-81A7-A2B7-371E-4B3AC0C89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413" y="4706938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19" name="Oval 17">
              <a:extLst>
                <a:ext uri="{FF2B5EF4-FFF2-40B4-BE49-F238E27FC236}">
                  <a16:creationId xmlns:a16="http://schemas.microsoft.com/office/drawing/2014/main" id="{495F39D0-AB4B-A42C-B26B-E27CE54E1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4925" y="5006975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20" name="Oval 18">
              <a:extLst>
                <a:ext uri="{FF2B5EF4-FFF2-40B4-BE49-F238E27FC236}">
                  <a16:creationId xmlns:a16="http://schemas.microsoft.com/office/drawing/2014/main" id="{8E4A47C6-1027-3E87-4653-8FC2856A2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9100" y="5006975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21" name="Oval 19">
              <a:extLst>
                <a:ext uri="{FF2B5EF4-FFF2-40B4-BE49-F238E27FC236}">
                  <a16:creationId xmlns:a16="http://schemas.microsoft.com/office/drawing/2014/main" id="{5F00B2E1-4BB0-C340-EE82-D5A205AAB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8025" y="5056188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22" name="Oval 20">
              <a:extLst>
                <a:ext uri="{FF2B5EF4-FFF2-40B4-BE49-F238E27FC236}">
                  <a16:creationId xmlns:a16="http://schemas.microsoft.com/office/drawing/2014/main" id="{C8295F63-A3BD-88A6-0B56-3B96F37DE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9100" y="5456238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23" name="Oval 21">
              <a:extLst>
                <a:ext uri="{FF2B5EF4-FFF2-40B4-BE49-F238E27FC236}">
                  <a16:creationId xmlns:a16="http://schemas.microsoft.com/office/drawing/2014/main" id="{FD12948D-F43D-A620-621C-FF7F71BB4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4925" y="5205413"/>
              <a:ext cx="144463" cy="15081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24" name="Oval 22">
              <a:extLst>
                <a:ext uri="{FF2B5EF4-FFF2-40B4-BE49-F238E27FC236}">
                  <a16:creationId xmlns:a16="http://schemas.microsoft.com/office/drawing/2014/main" id="{4AE79B62-7EFC-DF77-6E93-1EF927F3F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9388" y="6054725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25" name="Oval 23">
              <a:extLst>
                <a:ext uri="{FF2B5EF4-FFF2-40B4-BE49-F238E27FC236}">
                  <a16:creationId xmlns:a16="http://schemas.microsoft.com/office/drawing/2014/main" id="{7CA3C7D5-DB07-2D35-B879-5A3B09511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550" y="4806950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26" name="Oval 24">
              <a:extLst>
                <a:ext uri="{FF2B5EF4-FFF2-40B4-BE49-F238E27FC236}">
                  <a16:creationId xmlns:a16="http://schemas.microsoft.com/office/drawing/2014/main" id="{38B3CD3D-D760-D372-F91C-73070C3B7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0850" y="5356225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27" name="Oval 25">
              <a:extLst>
                <a:ext uri="{FF2B5EF4-FFF2-40B4-BE49-F238E27FC236}">
                  <a16:creationId xmlns:a16="http://schemas.microsoft.com/office/drawing/2014/main" id="{F0F993A2-4842-EB5C-F00B-8A1BB4737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7238" y="5605463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28" name="Oval 26">
              <a:extLst>
                <a:ext uri="{FF2B5EF4-FFF2-40B4-BE49-F238E27FC236}">
                  <a16:creationId xmlns:a16="http://schemas.microsoft.com/office/drawing/2014/main" id="{4B3FDFD5-4BFC-EF55-51CE-EFE6A7AF3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3788" y="5205413"/>
              <a:ext cx="144462" cy="15081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29" name="Oval 27">
              <a:extLst>
                <a:ext uri="{FF2B5EF4-FFF2-40B4-BE49-F238E27FC236}">
                  <a16:creationId xmlns:a16="http://schemas.microsoft.com/office/drawing/2014/main" id="{04660A65-2A69-683B-34F6-CF43085D4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5654675"/>
              <a:ext cx="144463" cy="15081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30" name="Oval 28">
              <a:extLst>
                <a:ext uri="{FF2B5EF4-FFF2-40B4-BE49-F238E27FC236}">
                  <a16:creationId xmlns:a16="http://schemas.microsoft.com/office/drawing/2014/main" id="{53139ED9-6E25-5620-180C-AB4C81251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5713" y="4806950"/>
              <a:ext cx="144462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31" name="Oval 29">
              <a:extLst>
                <a:ext uri="{FF2B5EF4-FFF2-40B4-BE49-F238E27FC236}">
                  <a16:creationId xmlns:a16="http://schemas.microsoft.com/office/drawing/2014/main" id="{C0112AC5-BBBD-C617-327F-D6BD67508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775" y="6253163"/>
              <a:ext cx="144463" cy="15081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32" name="Oval 30">
              <a:extLst>
                <a:ext uri="{FF2B5EF4-FFF2-40B4-BE49-F238E27FC236}">
                  <a16:creationId xmlns:a16="http://schemas.microsoft.com/office/drawing/2014/main" id="{F0E0E9C6-0E0A-EF92-E18E-CCBE55AFD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0463" y="5954713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33" name="Oval 31">
              <a:extLst>
                <a:ext uri="{FF2B5EF4-FFF2-40B4-BE49-F238E27FC236}">
                  <a16:creationId xmlns:a16="http://schemas.microsoft.com/office/drawing/2014/main" id="{44A596AF-3B1D-6912-FACD-642CA21FE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938" y="4757738"/>
              <a:ext cx="144462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34" name="Oval 32">
              <a:extLst>
                <a:ext uri="{FF2B5EF4-FFF2-40B4-BE49-F238E27FC236}">
                  <a16:creationId xmlns:a16="http://schemas.microsoft.com/office/drawing/2014/main" id="{DFFFB871-0EC1-E4C9-4D3C-3BDF8A1AF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0175" y="5405438"/>
              <a:ext cx="144463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35" name="Oval 33">
              <a:extLst>
                <a:ext uri="{FF2B5EF4-FFF2-40B4-BE49-F238E27FC236}">
                  <a16:creationId xmlns:a16="http://schemas.microsoft.com/office/drawing/2014/main" id="{4D075F55-7063-A889-6982-1C348A397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175" y="6203950"/>
              <a:ext cx="144463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36" name="Oval 34">
              <a:extLst>
                <a:ext uri="{FF2B5EF4-FFF2-40B4-BE49-F238E27FC236}">
                  <a16:creationId xmlns:a16="http://schemas.microsoft.com/office/drawing/2014/main" id="{371AE988-9C1D-79BE-D633-7438E3B19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0850" y="5205413"/>
              <a:ext cx="144463" cy="15081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37" name="Oval 35">
              <a:extLst>
                <a:ext uri="{FF2B5EF4-FFF2-40B4-BE49-F238E27FC236}">
                  <a16:creationId xmlns:a16="http://schemas.microsoft.com/office/drawing/2014/main" id="{97FF7DDB-07FB-4422-9F0A-1C916395F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163" y="5805488"/>
              <a:ext cx="144462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38" name="Oval 36">
              <a:extLst>
                <a:ext uri="{FF2B5EF4-FFF2-40B4-BE49-F238E27FC236}">
                  <a16:creationId xmlns:a16="http://schemas.microsoft.com/office/drawing/2014/main" id="{9AD86F08-5587-86ED-7BD4-E8684BFD8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9100" y="5854700"/>
              <a:ext cx="144463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39" name="Oval 37">
              <a:extLst>
                <a:ext uri="{FF2B5EF4-FFF2-40B4-BE49-F238E27FC236}">
                  <a16:creationId xmlns:a16="http://schemas.microsoft.com/office/drawing/2014/main" id="{3C19A29D-171F-8073-43D9-D1289BAAF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175" y="4657725"/>
              <a:ext cx="144463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40" name="Oval 38">
              <a:extLst>
                <a:ext uri="{FF2B5EF4-FFF2-40B4-BE49-F238E27FC236}">
                  <a16:creationId xmlns:a16="http://schemas.microsoft.com/office/drawing/2014/main" id="{2D9BF371-6F3C-4508-929C-3D3EE36B0A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6950" y="5605463"/>
              <a:ext cx="144463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41" name="Oval 39">
              <a:extLst>
                <a:ext uri="{FF2B5EF4-FFF2-40B4-BE49-F238E27FC236}">
                  <a16:creationId xmlns:a16="http://schemas.microsoft.com/office/drawing/2014/main" id="{B3723B2B-B9ED-6BC4-680C-AA7E9B71B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4638" y="5056188"/>
              <a:ext cx="144462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42" name="Oval 40">
              <a:extLst>
                <a:ext uri="{FF2B5EF4-FFF2-40B4-BE49-F238E27FC236}">
                  <a16:creationId xmlns:a16="http://schemas.microsoft.com/office/drawing/2014/main" id="{43241381-CB29-9454-007B-0836786DA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163" y="4956175"/>
              <a:ext cx="144462" cy="15081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43" name="Oval 41">
              <a:extLst>
                <a:ext uri="{FF2B5EF4-FFF2-40B4-BE49-F238E27FC236}">
                  <a16:creationId xmlns:a16="http://schemas.microsoft.com/office/drawing/2014/main" id="{FF3A83EF-9CBD-5722-8FC6-742BE6D4B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5088" y="5356225"/>
              <a:ext cx="144462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44" name="Oval 85">
              <a:extLst>
                <a:ext uri="{FF2B5EF4-FFF2-40B4-BE49-F238E27FC236}">
                  <a16:creationId xmlns:a16="http://schemas.microsoft.com/office/drawing/2014/main" id="{0F98365D-5C76-89B9-DFDB-989628043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3563" y="5554663"/>
              <a:ext cx="144462" cy="15081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45" name="Oval 86">
              <a:extLst>
                <a:ext uri="{FF2B5EF4-FFF2-40B4-BE49-F238E27FC236}">
                  <a16:creationId xmlns:a16="http://schemas.microsoft.com/office/drawing/2014/main" id="{1018438B-1DF1-6CA8-2BE2-21FEFAD77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488" y="5256213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46" name="Oval 87">
              <a:extLst>
                <a:ext uri="{FF2B5EF4-FFF2-40B4-BE49-F238E27FC236}">
                  <a16:creationId xmlns:a16="http://schemas.microsoft.com/office/drawing/2014/main" id="{C7D3DFBA-24F0-3B5D-A9BC-B14ABC775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6103938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47" name="Oval 88">
              <a:extLst>
                <a:ext uri="{FF2B5EF4-FFF2-40B4-BE49-F238E27FC236}">
                  <a16:creationId xmlns:a16="http://schemas.microsoft.com/office/drawing/2014/main" id="{E9D04FF3-5E2B-583C-4307-9A4F3DE84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938" y="6003925"/>
              <a:ext cx="144462" cy="15081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48" name="Rectangle 103">
              <a:extLst>
                <a:ext uri="{FF2B5EF4-FFF2-40B4-BE49-F238E27FC236}">
                  <a16:creationId xmlns:a16="http://schemas.microsoft.com/office/drawing/2014/main" id="{1D70E266-8518-DCCC-0850-D00AE00CA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8025" y="4606925"/>
              <a:ext cx="1204913" cy="94773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Oval 119">
              <a:extLst>
                <a:ext uri="{FF2B5EF4-FFF2-40B4-BE49-F238E27FC236}">
                  <a16:creationId xmlns:a16="http://schemas.microsoft.com/office/drawing/2014/main" id="{2382667F-2685-2006-99A9-568C0294E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5875" y="5056188"/>
              <a:ext cx="146050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50" name="Oval 120">
              <a:extLst>
                <a:ext uri="{FF2B5EF4-FFF2-40B4-BE49-F238E27FC236}">
                  <a16:creationId xmlns:a16="http://schemas.microsoft.com/office/drawing/2014/main" id="{DEE285D3-A6A7-C92F-8964-38B028B15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4757738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51" name="Oval 121">
              <a:extLst>
                <a:ext uri="{FF2B5EF4-FFF2-40B4-BE49-F238E27FC236}">
                  <a16:creationId xmlns:a16="http://schemas.microsoft.com/office/drawing/2014/main" id="{609A6C67-9E46-5A21-A8DF-D4CD8F9F5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175" y="5256213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CCF29A4-9A81-565D-57BE-3EB33FA10FFF}"/>
              </a:ext>
            </a:extLst>
          </p:cNvPr>
          <p:cNvGrpSpPr/>
          <p:nvPr/>
        </p:nvGrpSpPr>
        <p:grpSpPr>
          <a:xfrm>
            <a:off x="5681663" y="1745923"/>
            <a:ext cx="1203325" cy="947738"/>
            <a:chOff x="4694238" y="3908425"/>
            <a:chExt cx="1203325" cy="947738"/>
          </a:xfrm>
        </p:grpSpPr>
        <p:sp>
          <p:nvSpPr>
            <p:cNvPr id="53" name="Rectangle 4">
              <a:extLst>
                <a:ext uri="{FF2B5EF4-FFF2-40B4-BE49-F238E27FC236}">
                  <a16:creationId xmlns:a16="http://schemas.microsoft.com/office/drawing/2014/main" id="{3B99C22E-FB5E-D362-D953-3DE67CA7F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238" y="3908425"/>
              <a:ext cx="1203325" cy="9477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Oval 105">
              <a:extLst>
                <a:ext uri="{FF2B5EF4-FFF2-40B4-BE49-F238E27FC236}">
                  <a16:creationId xmlns:a16="http://schemas.microsoft.com/office/drawing/2014/main" id="{5C532DA0-A025-548E-D478-B19CFD9F0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4175" y="4308475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55" name="Oval 106">
              <a:extLst>
                <a:ext uri="{FF2B5EF4-FFF2-40B4-BE49-F238E27FC236}">
                  <a16:creationId xmlns:a16="http://schemas.microsoft.com/office/drawing/2014/main" id="{D3DF2F64-1768-FE37-11EC-15EEED8CF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238" y="4008438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56" name="Oval 107">
              <a:extLst>
                <a:ext uri="{FF2B5EF4-FFF2-40B4-BE49-F238E27FC236}">
                  <a16:creationId xmlns:a16="http://schemas.microsoft.com/office/drawing/2014/main" id="{16A06B73-C939-12CB-221D-E3A19C04E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7625" y="3959225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57" name="Oval 108">
              <a:extLst>
                <a:ext uri="{FF2B5EF4-FFF2-40B4-BE49-F238E27FC236}">
                  <a16:creationId xmlns:a16="http://schemas.microsoft.com/office/drawing/2014/main" id="{55BC8F04-ED56-D0E8-6CE0-A481C8C4C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238" y="4308475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58" name="Oval 109">
              <a:extLst>
                <a:ext uri="{FF2B5EF4-FFF2-40B4-BE49-F238E27FC236}">
                  <a16:creationId xmlns:a16="http://schemas.microsoft.com/office/drawing/2014/main" id="{071AC097-0A9E-1A9B-7431-3EFD0E97F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4175" y="4059238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59" name="Oval 110">
              <a:extLst>
                <a:ext uri="{FF2B5EF4-FFF2-40B4-BE49-F238E27FC236}">
                  <a16:creationId xmlns:a16="http://schemas.microsoft.com/office/drawing/2014/main" id="{8B02B59B-F6BF-87C3-E267-CF58FB3E6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5475" y="4606925"/>
              <a:ext cx="144463" cy="15081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60" name="Oval 111">
              <a:extLst>
                <a:ext uri="{FF2B5EF4-FFF2-40B4-BE49-F238E27FC236}">
                  <a16:creationId xmlns:a16="http://schemas.microsoft.com/office/drawing/2014/main" id="{FF908E25-C327-B9BF-846A-093A812E0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8413" y="4457700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61" name="Oval 112">
              <a:extLst>
                <a:ext uri="{FF2B5EF4-FFF2-40B4-BE49-F238E27FC236}">
                  <a16:creationId xmlns:a16="http://schemas.microsoft.com/office/drawing/2014/main" id="{881F4412-D7CF-F3FE-EB77-AA3169069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5475" y="4457700"/>
              <a:ext cx="144463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62" name="Oval 113">
              <a:extLst>
                <a:ext uri="{FF2B5EF4-FFF2-40B4-BE49-F238E27FC236}">
                  <a16:creationId xmlns:a16="http://schemas.microsoft.com/office/drawing/2014/main" id="{2868DC8C-FDF2-EA43-535D-41CEDCFD4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1800" y="3908425"/>
              <a:ext cx="144463" cy="15081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63" name="Oval 114">
              <a:extLst>
                <a:ext uri="{FF2B5EF4-FFF2-40B4-BE49-F238E27FC236}">
                  <a16:creationId xmlns:a16="http://schemas.microsoft.com/office/drawing/2014/main" id="{A3AA7FA6-D7A8-7853-F5CA-8141D65E8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788" y="4208463"/>
              <a:ext cx="144462" cy="1492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64" name="Oval 115">
              <a:extLst>
                <a:ext uri="{FF2B5EF4-FFF2-40B4-BE49-F238E27FC236}">
                  <a16:creationId xmlns:a16="http://schemas.microsoft.com/office/drawing/2014/main" id="{6C54BAE1-DBE3-134B-15E6-4A12F0679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9713" y="4606925"/>
              <a:ext cx="144462" cy="15081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65" name="Oval 116">
              <a:extLst>
                <a:ext uri="{FF2B5EF4-FFF2-40B4-BE49-F238E27FC236}">
                  <a16:creationId xmlns:a16="http://schemas.microsoft.com/office/drawing/2014/main" id="{48E7B0E6-4A4C-DD79-37DD-47A13649A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8700" y="4506913"/>
              <a:ext cx="144463" cy="15081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66" name="Oval 122">
              <a:extLst>
                <a:ext uri="{FF2B5EF4-FFF2-40B4-BE49-F238E27FC236}">
                  <a16:creationId xmlns:a16="http://schemas.microsoft.com/office/drawing/2014/main" id="{033625F4-3A27-F88E-718C-66B2A8BF4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1800" y="4506913"/>
              <a:ext cx="144463" cy="15081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67" name="Oval 123">
              <a:extLst>
                <a:ext uri="{FF2B5EF4-FFF2-40B4-BE49-F238E27FC236}">
                  <a16:creationId xmlns:a16="http://schemas.microsoft.com/office/drawing/2014/main" id="{E6FFFD9C-0F5D-0FA4-6DF1-990669291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6325" y="4008438"/>
              <a:ext cx="144463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  <p:sp>
          <p:nvSpPr>
            <p:cNvPr id="68" name="Oval 124">
              <a:extLst>
                <a:ext uri="{FF2B5EF4-FFF2-40B4-BE49-F238E27FC236}">
                  <a16:creationId xmlns:a16="http://schemas.microsoft.com/office/drawing/2014/main" id="{1BA2FBCA-50BE-A581-7F04-BE339DC55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9713" y="4308475"/>
              <a:ext cx="144462" cy="1492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800">
                <a:solidFill>
                  <a:srgbClr val="0000CC"/>
                </a:solidFill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31EF9B6A-6C72-BA0C-B836-DF4A35C3B5AD}"/>
              </a:ext>
            </a:extLst>
          </p:cNvPr>
          <p:cNvSpPr txBox="1"/>
          <p:nvPr/>
        </p:nvSpPr>
        <p:spPr>
          <a:xfrm>
            <a:off x="5705475" y="3069104"/>
            <a:ext cx="1203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 = 15</a:t>
            </a:r>
          </a:p>
          <a:p>
            <a:r>
              <a:rPr lang="en-US" dirty="0"/>
              <a:t>R = 4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AADA9F-09EF-8398-54FE-91880E3F627A}"/>
              </a:ext>
            </a:extLst>
          </p:cNvPr>
          <p:cNvSpPr txBox="1"/>
          <p:nvPr/>
        </p:nvSpPr>
        <p:spPr>
          <a:xfrm>
            <a:off x="2093912" y="3544669"/>
            <a:ext cx="1203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???</a:t>
            </a:r>
          </a:p>
          <a:p>
            <a:r>
              <a:rPr lang="en-US" dirty="0"/>
              <a:t>M = 12 </a:t>
            </a:r>
          </a:p>
        </p:txBody>
      </p:sp>
    </p:spTree>
    <p:extLst>
      <p:ext uri="{BB962C8B-B14F-4D97-AF65-F5344CB8AC3E}">
        <p14:creationId xmlns:p14="http://schemas.microsoft.com/office/powerpoint/2010/main" val="2413161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Mark-Recapture for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you have multiple age classes?</a:t>
            </a:r>
          </a:p>
          <a:p>
            <a:r>
              <a:rPr lang="en-US" dirty="0"/>
              <a:t>Can you use similar technique to estimate changes?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7142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Mark-Recapture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Put handful of clear beads and blue juvenile beads in cup</a:t>
            </a:r>
          </a:p>
          <a:p>
            <a:r>
              <a:rPr lang="en-US" dirty="0"/>
              <a:t>Take one sample (one handful) of your population</a:t>
            </a:r>
          </a:p>
          <a:p>
            <a:r>
              <a:rPr lang="en-US" dirty="0"/>
              <a:t>Count beads sampled noting color</a:t>
            </a:r>
          </a:p>
          <a:p>
            <a:r>
              <a:rPr lang="en-US" dirty="0"/>
              <a:t>Replace all of those clear adults with blue adults, replace blue juveniles with yellow</a:t>
            </a:r>
          </a:p>
          <a:p>
            <a:r>
              <a:rPr lang="en-US" dirty="0"/>
              <a:t>Mix thoroughly!!!</a:t>
            </a:r>
          </a:p>
          <a:p>
            <a:r>
              <a:rPr lang="en-US" dirty="0"/>
              <a:t>Take another sample (one handful) of your population</a:t>
            </a:r>
          </a:p>
          <a:p>
            <a:r>
              <a:rPr lang="en-US" dirty="0"/>
              <a:t>Count number of each kind of beads in re-sample</a:t>
            </a:r>
          </a:p>
          <a:p>
            <a:r>
              <a:rPr lang="en-US" dirty="0"/>
              <a:t>Resample at least 5 times (do NOT mark, just resample)</a:t>
            </a:r>
          </a:p>
        </p:txBody>
      </p:sp>
    </p:spTree>
    <p:extLst>
      <p:ext uri="{BB962C8B-B14F-4D97-AF65-F5344CB8AC3E}">
        <p14:creationId xmlns:p14="http://schemas.microsoft.com/office/powerpoint/2010/main" val="8978603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your results look?</a:t>
            </a:r>
          </a:p>
          <a:p>
            <a:r>
              <a:rPr lang="en-US" dirty="0"/>
              <a:t>What implications could you make?</a:t>
            </a:r>
          </a:p>
          <a:p>
            <a:r>
              <a:rPr lang="en-US" dirty="0"/>
              <a:t>What is still missing?</a:t>
            </a:r>
          </a:p>
          <a:p>
            <a:r>
              <a:rPr lang="en-US" dirty="0"/>
              <a:t>This is census data.</a:t>
            </a:r>
          </a:p>
        </p:txBody>
      </p:sp>
    </p:spTree>
    <p:extLst>
      <p:ext uri="{BB962C8B-B14F-4D97-AF65-F5344CB8AC3E}">
        <p14:creationId xmlns:p14="http://schemas.microsoft.com/office/powerpoint/2010/main" val="40659134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Analyzing Monitoring Data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 dirty="0" err="1"/>
              <a:t>PVAs</a:t>
            </a:r>
            <a:r>
              <a:rPr lang="en-US" dirty="0"/>
              <a:t> can be used to integrate and analyze monitoring data</a:t>
            </a:r>
          </a:p>
          <a:p>
            <a:pPr>
              <a:defRPr/>
            </a:pPr>
            <a:r>
              <a:rPr lang="en-US" dirty="0"/>
              <a:t>Cohort analysis</a:t>
            </a:r>
          </a:p>
          <a:p>
            <a:pPr lvl="1">
              <a:defRPr/>
            </a:pPr>
            <a:r>
              <a:rPr lang="en-US" dirty="0"/>
              <a:t>Follow single cohort through time to estimate fecundity and survivorship</a:t>
            </a:r>
          </a:p>
          <a:p>
            <a:pPr>
              <a:defRPr/>
            </a:pPr>
            <a:r>
              <a:rPr lang="en-US" dirty="0"/>
              <a:t>Census analysis</a:t>
            </a:r>
          </a:p>
          <a:p>
            <a:pPr lvl="1">
              <a:defRPr/>
            </a:pPr>
            <a:r>
              <a:rPr lang="en-US" dirty="0"/>
              <a:t>Estimate fecundity and survivorship from two observations of population at two distinct times</a:t>
            </a:r>
          </a:p>
        </p:txBody>
      </p:sp>
    </p:spTree>
    <p:extLst>
      <p:ext uri="{BB962C8B-B14F-4D97-AF65-F5344CB8AC3E}">
        <p14:creationId xmlns:p14="http://schemas.microsoft.com/office/powerpoint/2010/main" val="27868104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Population trends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Pair up with another student</a:t>
            </a:r>
          </a:p>
          <a:p>
            <a:r>
              <a:rPr lang="en-US" dirty="0"/>
              <a:t>Look at the duck data</a:t>
            </a:r>
          </a:p>
          <a:p>
            <a:r>
              <a:rPr lang="en-US" dirty="0"/>
              <a:t>Decide if assigned species is increasing or decreasing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6545AC4-A616-8241-80A9-63785D55ED39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800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Estimating Population Growth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Vital rates determine rate of population growth</a:t>
            </a:r>
          </a:p>
          <a:p>
            <a:r>
              <a:rPr lang="en-US"/>
              <a:t>Population size at time “t” is N</a:t>
            </a:r>
            <a:r>
              <a:rPr lang="en-US" baseline="-25000"/>
              <a:t>t</a:t>
            </a:r>
          </a:p>
          <a:p>
            <a:r>
              <a:rPr lang="en-US"/>
              <a:t>Population size at some later time interval (e.g., the next year) “t+1” is N</a:t>
            </a:r>
            <a:r>
              <a:rPr lang="en-US" baseline="-25000"/>
              <a:t>t+1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910385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Estimating Population Growth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Thus the relationship (growth or decline) of the population is expressed </a:t>
            </a:r>
          </a:p>
          <a:p>
            <a:pPr>
              <a:buNone/>
            </a:pPr>
            <a:r>
              <a:rPr lang="en-US" dirty="0"/>
              <a:t>		N</a:t>
            </a:r>
            <a:r>
              <a:rPr lang="en-US" baseline="-25000" dirty="0"/>
              <a:t>t+1</a:t>
            </a:r>
            <a:r>
              <a:rPr lang="en-US" dirty="0"/>
              <a:t>=</a:t>
            </a:r>
            <a:r>
              <a:rPr lang="el-GR" dirty="0"/>
              <a:t>λ</a:t>
            </a:r>
            <a:r>
              <a:rPr lang="en-US" baseline="-25000" dirty="0" err="1"/>
              <a:t>t</a:t>
            </a:r>
            <a:r>
              <a:rPr lang="en-US" baseline="-25000" dirty="0"/>
              <a:t> </a:t>
            </a:r>
            <a:r>
              <a:rPr lang="en-US" dirty="0" err="1"/>
              <a:t>N</a:t>
            </a:r>
            <a:r>
              <a:rPr lang="en-US" baseline="-25000" dirty="0" err="1"/>
              <a:t>t</a:t>
            </a:r>
            <a:r>
              <a:rPr lang="en-US" dirty="0"/>
              <a:t> </a:t>
            </a:r>
          </a:p>
          <a:p>
            <a:r>
              <a:rPr lang="el-GR" dirty="0"/>
              <a:t>λ</a:t>
            </a:r>
            <a:r>
              <a:rPr lang="en-US" baseline="-25000" dirty="0" err="1"/>
              <a:t>t</a:t>
            </a:r>
            <a:r>
              <a:rPr lang="en-US" dirty="0"/>
              <a:t> describes the annual population growth rate (from one year to next)</a:t>
            </a:r>
          </a:p>
        </p:txBody>
      </p:sp>
    </p:spTree>
    <p:extLst>
      <p:ext uri="{BB962C8B-B14F-4D97-AF65-F5344CB8AC3E}">
        <p14:creationId xmlns:p14="http://schemas.microsoft.com/office/powerpoint/2010/main" val="5112750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Estimating Population Growth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Thus</a:t>
            </a:r>
          </a:p>
          <a:p>
            <a:pPr>
              <a:buFontTx/>
              <a:buNone/>
              <a:defRPr/>
            </a:pPr>
            <a:r>
              <a:rPr lang="en-US" dirty="0"/>
              <a:t>		 </a:t>
            </a:r>
            <a:r>
              <a:rPr lang="el-GR" dirty="0"/>
              <a:t>λ</a:t>
            </a:r>
            <a:r>
              <a:rPr lang="en-US" baseline="-25000" dirty="0" err="1"/>
              <a:t>t</a:t>
            </a:r>
            <a:r>
              <a:rPr lang="en-US" dirty="0"/>
              <a:t> = N</a:t>
            </a:r>
            <a:r>
              <a:rPr lang="en-US" baseline="-25000" dirty="0"/>
              <a:t>t+1</a:t>
            </a:r>
            <a:r>
              <a:rPr lang="en-US" dirty="0"/>
              <a:t>/N</a:t>
            </a:r>
            <a:r>
              <a:rPr lang="en-US" baseline="-25000" dirty="0"/>
              <a:t>t</a:t>
            </a:r>
          </a:p>
          <a:p>
            <a:pPr>
              <a:defRPr/>
            </a:pPr>
            <a:r>
              <a:rPr lang="en-US" dirty="0"/>
              <a:t>Return to your duck data</a:t>
            </a:r>
          </a:p>
          <a:p>
            <a:pPr>
              <a:defRPr/>
            </a:pPr>
            <a:r>
              <a:rPr lang="en-US" dirty="0"/>
              <a:t>Calculate </a:t>
            </a:r>
            <a:r>
              <a:rPr lang="el-GR" dirty="0"/>
              <a:t>λ</a:t>
            </a:r>
            <a:r>
              <a:rPr lang="en-US" baseline="-25000" dirty="0" err="1"/>
              <a:t>t</a:t>
            </a:r>
            <a:endParaRPr lang="en-US" dirty="0"/>
          </a:p>
          <a:p>
            <a:pPr>
              <a:defRPr/>
            </a:pPr>
            <a:r>
              <a:rPr lang="en-US" dirty="0"/>
              <a:t>Any changes in your answers for which species are increasing or decreasing?</a:t>
            </a:r>
          </a:p>
        </p:txBody>
      </p:sp>
    </p:spTree>
    <p:extLst>
      <p:ext uri="{BB962C8B-B14F-4D97-AF65-F5344CB8AC3E}">
        <p14:creationId xmlns:p14="http://schemas.microsoft.com/office/powerpoint/2010/main" val="36447081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Estimating Population Growth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is the relationship between </a:t>
            </a:r>
            <a:r>
              <a:rPr lang="el-GR"/>
              <a:t>λ</a:t>
            </a:r>
            <a:r>
              <a:rPr lang="en-US" baseline="-25000"/>
              <a:t>t</a:t>
            </a:r>
            <a:r>
              <a:rPr lang="en-US"/>
              <a:t> and your answer for increasing or decreasing? </a:t>
            </a:r>
          </a:p>
          <a:p>
            <a:r>
              <a:rPr lang="en-US"/>
              <a:t>How much variation is there from year to year? </a:t>
            </a:r>
          </a:p>
          <a:p>
            <a:r>
              <a:rPr lang="en-US"/>
              <a:t>Do all species have the same variation?</a:t>
            </a: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FAD233CA-60C3-DD4E-9094-1E81DD769DA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6665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Estimating Population Growth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l-GR" dirty="0"/>
              <a:t>λ</a:t>
            </a:r>
            <a:r>
              <a:rPr lang="en-US" dirty="0"/>
              <a:t> &gt; 1, the population is growing</a:t>
            </a:r>
          </a:p>
          <a:p>
            <a:r>
              <a:rPr lang="en-US" dirty="0"/>
              <a:t>If </a:t>
            </a:r>
            <a:r>
              <a:rPr lang="el-GR" dirty="0"/>
              <a:t>λ</a:t>
            </a:r>
            <a:r>
              <a:rPr lang="en-US" dirty="0"/>
              <a:t> &lt; 1, the population is declining</a:t>
            </a:r>
          </a:p>
          <a:p>
            <a:r>
              <a:rPr lang="en-US" dirty="0"/>
              <a:t>If</a:t>
            </a:r>
            <a:r>
              <a:rPr lang="el-GR" dirty="0"/>
              <a:t>λ</a:t>
            </a:r>
            <a:r>
              <a:rPr lang="en-US" dirty="0"/>
              <a:t> = 1, the population is stable</a:t>
            </a:r>
          </a:p>
        </p:txBody>
      </p:sp>
    </p:spTree>
    <p:extLst>
      <p:ext uri="{BB962C8B-B14F-4D97-AF65-F5344CB8AC3E}">
        <p14:creationId xmlns:p14="http://schemas.microsoft.com/office/powerpoint/2010/main" val="35032859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Sources of Variation in </a:t>
            </a:r>
            <a:br>
              <a:rPr lang="en-US"/>
            </a:br>
            <a:r>
              <a:rPr lang="en-US"/>
              <a:t>Population Growth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 dirty="0"/>
              <a:t>Population growth </a:t>
            </a:r>
            <a:r>
              <a:rPr lang="el-GR" dirty="0"/>
              <a:t>λ</a:t>
            </a:r>
            <a:r>
              <a:rPr lang="en-US" dirty="0"/>
              <a:t> can be influenced by a number of factors that can influence predictions of future population size</a:t>
            </a:r>
          </a:p>
          <a:p>
            <a:pPr lvl="1">
              <a:defRPr/>
            </a:pPr>
            <a:r>
              <a:rPr lang="en-US" dirty="0"/>
              <a:t>Environmental </a:t>
            </a:r>
            <a:r>
              <a:rPr lang="en-US" dirty="0" err="1"/>
              <a:t>stochasticity</a:t>
            </a:r>
            <a:r>
              <a:rPr lang="en-US" dirty="0"/>
              <a:t> (random fluctuations)</a:t>
            </a:r>
          </a:p>
          <a:p>
            <a:pPr lvl="1">
              <a:defRPr/>
            </a:pPr>
            <a:r>
              <a:rPr lang="en-US" dirty="0"/>
              <a:t>Environmental catastrophes and bonanzas (large perturbations)</a:t>
            </a:r>
          </a:p>
          <a:p>
            <a:pPr lvl="1">
              <a:defRPr/>
            </a:pPr>
            <a:r>
              <a:rPr lang="en-US" dirty="0"/>
              <a:t>Demographic </a:t>
            </a:r>
            <a:r>
              <a:rPr lang="en-US" dirty="0" err="1"/>
              <a:t>stochasticity</a:t>
            </a:r>
            <a:r>
              <a:rPr lang="en-US" dirty="0"/>
              <a:t> (change variation in vital rates)</a:t>
            </a:r>
          </a:p>
        </p:txBody>
      </p:sp>
    </p:spTree>
    <p:extLst>
      <p:ext uri="{BB962C8B-B14F-4D97-AF65-F5344CB8AC3E}">
        <p14:creationId xmlns:p14="http://schemas.microsoft.com/office/powerpoint/2010/main" val="40548434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Variation in Population Growth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population growth </a:t>
            </a:r>
            <a:r>
              <a:rPr lang="el-GR"/>
              <a:t>λ</a:t>
            </a:r>
            <a:r>
              <a:rPr lang="en-US"/>
              <a:t> was the same every year, prediction of population growth would be easy</a:t>
            </a:r>
          </a:p>
          <a:p>
            <a:r>
              <a:rPr lang="en-US"/>
              <a:t>Many factors both spatial and temporal result in changes in population growth</a:t>
            </a:r>
          </a:p>
        </p:txBody>
      </p:sp>
    </p:spTree>
    <p:extLst>
      <p:ext uri="{BB962C8B-B14F-4D97-AF65-F5344CB8AC3E}">
        <p14:creationId xmlns:p14="http://schemas.microsoft.com/office/powerpoint/2010/main" val="15142188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Variation in Population Growth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One of the key results of population models is that variation in population growth rates reduces the total population</a:t>
            </a:r>
          </a:p>
          <a:p>
            <a:r>
              <a:rPr lang="en-US"/>
              <a:t>Any guesses for why this is true?</a:t>
            </a:r>
          </a:p>
        </p:txBody>
      </p:sp>
    </p:spTree>
    <p:extLst>
      <p:ext uri="{BB962C8B-B14F-4D97-AF65-F5344CB8AC3E}">
        <p14:creationId xmlns:p14="http://schemas.microsoft.com/office/powerpoint/2010/main" val="39805432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 to ducks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populations had the largest variation from year to year?</a:t>
            </a:r>
          </a:p>
          <a:p>
            <a:r>
              <a:rPr lang="en-US" dirty="0"/>
              <a:t>What is average growth rate?</a:t>
            </a: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DE0D527-810E-AE4A-916A-577313215F63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539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Mathematical Reminder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There are many ways to measure the central tendency of a set of values</a:t>
            </a:r>
          </a:p>
          <a:p>
            <a:pPr lvl="1"/>
            <a:r>
              <a:rPr lang="en-US"/>
              <a:t>Median</a:t>
            </a:r>
          </a:p>
          <a:p>
            <a:pPr lvl="1"/>
            <a:r>
              <a:rPr lang="en-US"/>
              <a:t>Mode</a:t>
            </a:r>
          </a:p>
          <a:p>
            <a:pPr lvl="1"/>
            <a:r>
              <a:rPr lang="en-US"/>
              <a:t>Mean</a:t>
            </a: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A05D5EA-3ADC-A043-B449-5409E0D3AD3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784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Mathematical Reminder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Many types of means</a:t>
            </a:r>
          </a:p>
          <a:p>
            <a:pPr lvl="1"/>
            <a:r>
              <a:rPr lang="en-US"/>
              <a:t>Arithmetic mean</a:t>
            </a:r>
          </a:p>
          <a:p>
            <a:pPr lvl="2"/>
            <a:r>
              <a:rPr lang="en-US"/>
              <a:t>Sum all values and divide by number of values</a:t>
            </a:r>
          </a:p>
          <a:p>
            <a:pPr lvl="1"/>
            <a:r>
              <a:rPr lang="en-US"/>
              <a:t>Geometric mean</a:t>
            </a:r>
          </a:p>
          <a:p>
            <a:pPr lvl="2"/>
            <a:r>
              <a:rPr lang="en-US"/>
              <a:t>Take n</a:t>
            </a:r>
            <a:r>
              <a:rPr lang="en-US" baseline="30000"/>
              <a:t>th</a:t>
            </a:r>
            <a:r>
              <a:rPr lang="en-US"/>
              <a:t> root of product of all values</a:t>
            </a:r>
            <a:endParaRPr lang="en-US" baseline="30000"/>
          </a:p>
          <a:p>
            <a:pPr lvl="1"/>
            <a:endParaRPr 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11A65C9-F822-9D44-96C8-BB9C57BE3EB1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5803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Mathematical Reminder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Geometric mean </a:t>
            </a:r>
          </a:p>
          <a:p>
            <a:pPr lvl="1"/>
            <a:r>
              <a:rPr lang="en-US"/>
              <a:t>Useful for values that are exponential in nature as in population growth</a:t>
            </a:r>
          </a:p>
          <a:p>
            <a:r>
              <a:rPr lang="en-US"/>
              <a:t>How much does this matter?</a:t>
            </a:r>
          </a:p>
          <a:p>
            <a:pPr lvl="1"/>
            <a:endParaRPr 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BD62A27-7511-7D43-87AC-8FB27BA3E3FA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995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Arithmetic Mean in Growth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981200"/>
            <a:ext cx="7772400" cy="4114800"/>
          </a:xfrm>
        </p:spPr>
        <p:txBody>
          <a:bodyPr/>
          <a:lstStyle/>
          <a:p>
            <a:r>
              <a:rPr lang="en-US"/>
              <a:t>Imagine a population where</a:t>
            </a:r>
          </a:p>
          <a:p>
            <a:pPr>
              <a:buFontTx/>
              <a:buNone/>
            </a:pPr>
            <a:endParaRPr lang="en-US"/>
          </a:p>
          <a:p>
            <a:pPr>
              <a:buFontTx/>
              <a:buNone/>
            </a:pPr>
            <a:r>
              <a:rPr lang="en-US"/>
              <a:t>		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graphicFrame>
        <p:nvGraphicFramePr>
          <p:cNvPr id="50178" name="Object 2"/>
          <p:cNvGraphicFramePr>
            <a:graphicFrameLocks noChangeAspect="1"/>
          </p:cNvGraphicFramePr>
          <p:nvPr/>
        </p:nvGraphicFramePr>
        <p:xfrm>
          <a:off x="1604963" y="2984500"/>
          <a:ext cx="6015037" cy="280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5000" imgH="889000" progId="Equation.3">
                  <p:embed/>
                </p:oleObj>
              </mc:Choice>
              <mc:Fallback>
                <p:oleObj name="Equation" r:id="rId2" imgW="1905000" imgH="889000" progId="Equation.3">
                  <p:embed/>
                  <p:pic>
                    <p:nvPicPr>
                      <p:cNvPr id="5017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963" y="2984500"/>
                        <a:ext cx="6015037" cy="280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224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Arithmetic Mean in Growth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Arithmetic mean for </a:t>
            </a:r>
            <a:r>
              <a:rPr lang="el-GR"/>
              <a:t>λ</a:t>
            </a:r>
            <a:r>
              <a:rPr lang="en-US"/>
              <a:t> is 1.01 </a:t>
            </a:r>
          </a:p>
          <a:p>
            <a:r>
              <a:rPr lang="en-US"/>
              <a:t>So if you start with 100 individuals and the population grows for 500 generations then </a:t>
            </a:r>
          </a:p>
          <a:p>
            <a:pPr>
              <a:buFontTx/>
              <a:buNone/>
            </a:pPr>
            <a:r>
              <a:rPr lang="en-US"/>
              <a:t>		N</a:t>
            </a:r>
            <a:r>
              <a:rPr lang="en-US" baseline="-25000"/>
              <a:t>500</a:t>
            </a:r>
            <a:r>
              <a:rPr lang="en-US"/>
              <a:t> = N</a:t>
            </a:r>
            <a:r>
              <a:rPr lang="en-US" baseline="-25000"/>
              <a:t>0</a:t>
            </a:r>
            <a:r>
              <a:rPr lang="en-US"/>
              <a:t> (1.01)</a:t>
            </a:r>
            <a:r>
              <a:rPr lang="en-US" baseline="30000"/>
              <a:t>500</a:t>
            </a:r>
            <a:r>
              <a:rPr lang="en-US"/>
              <a:t> = 14,477</a:t>
            </a:r>
          </a:p>
          <a:p>
            <a:r>
              <a:rPr lang="en-US"/>
              <a:t>So life is good, right?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863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Geometric Mean in Growth</a:t>
            </a:r>
          </a:p>
        </p:txBody>
      </p:sp>
      <p:sp>
        <p:nvSpPr>
          <p:cNvPr id="5222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Geometric mean is:</a:t>
            </a:r>
          </a:p>
          <a:p>
            <a:pPr>
              <a:buFontTx/>
              <a:buNone/>
            </a:pPr>
            <a:endParaRPr lang="en-US"/>
          </a:p>
          <a:p>
            <a:r>
              <a:rPr lang="en-US"/>
              <a:t>So</a:t>
            </a:r>
          </a:p>
          <a:p>
            <a:pPr>
              <a:buFontTx/>
              <a:buNone/>
            </a:pPr>
            <a:r>
              <a:rPr lang="en-US"/>
              <a:t>		N</a:t>
            </a:r>
            <a:r>
              <a:rPr lang="en-US" baseline="-25000"/>
              <a:t>500</a:t>
            </a:r>
            <a:r>
              <a:rPr lang="en-US"/>
              <a:t> = N</a:t>
            </a:r>
            <a:r>
              <a:rPr lang="en-US" baseline="-25000"/>
              <a:t>0</a:t>
            </a:r>
            <a:r>
              <a:rPr lang="en-US"/>
              <a:t> (0.9988)</a:t>
            </a:r>
            <a:r>
              <a:rPr lang="en-US" baseline="30000"/>
              <a:t>500</a:t>
            </a:r>
            <a:r>
              <a:rPr lang="en-US"/>
              <a:t> = 54.84	</a:t>
            </a:r>
          </a:p>
          <a:p>
            <a:pPr>
              <a:buFontTx/>
              <a:buNone/>
            </a:pPr>
            <a:endParaRPr lang="en-US"/>
          </a:p>
          <a:p>
            <a:r>
              <a:rPr lang="en-US"/>
              <a:t>Yikes!</a:t>
            </a:r>
          </a:p>
        </p:txBody>
      </p:sp>
      <p:sp>
        <p:nvSpPr>
          <p:cNvPr id="5222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F0099DD-E8ED-E946-B89E-C4A2FDA41DEE}" type="slidenum">
              <a:rPr lang="en-US" smtClean="0"/>
              <a:pPr/>
              <a:t>51</a:t>
            </a:fld>
            <a:endParaRPr lang="en-US"/>
          </a:p>
        </p:txBody>
      </p:sp>
      <p:graphicFrame>
        <p:nvGraphicFramePr>
          <p:cNvPr id="52226" name="Object 2"/>
          <p:cNvGraphicFramePr>
            <a:graphicFrameLocks noChangeAspect="1"/>
          </p:cNvGraphicFramePr>
          <p:nvPr/>
        </p:nvGraphicFramePr>
        <p:xfrm>
          <a:off x="2397125" y="2667000"/>
          <a:ext cx="28543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8900" imgH="190500" progId="Equation.3">
                  <p:embed/>
                </p:oleObj>
              </mc:Choice>
              <mc:Fallback>
                <p:oleObj name="Equation" r:id="rId2" imgW="1358900" imgH="190500" progId="Equation.3">
                  <p:embed/>
                  <p:pic>
                    <p:nvPicPr>
                      <p:cNvPr id="522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7125" y="2667000"/>
                        <a:ext cx="2854325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34231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way to think about Geometric Mean in Growth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Population growth is subject to stochasticity or random variation</a:t>
            </a:r>
          </a:p>
          <a:p>
            <a:r>
              <a:rPr lang="en-US"/>
              <a:t>Now imagine same population (100 individuals growing for 500 generations) but grow rate varies stochastically (randomly) either 1.16 or 0.86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827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way to think about Geometric Mean in Growth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 with both growth rates about equally likely (about 250 generations with high and with low growth rates then population size after 500 is </a:t>
            </a:r>
          </a:p>
          <a:p>
            <a:pPr>
              <a:buFontTx/>
              <a:buNone/>
            </a:pPr>
            <a:r>
              <a:rPr lang="en-US"/>
              <a:t>N</a:t>
            </a:r>
            <a:r>
              <a:rPr lang="en-US" baseline="-25000"/>
              <a:t>500</a:t>
            </a:r>
            <a:r>
              <a:rPr lang="en-US"/>
              <a:t> ~ N</a:t>
            </a:r>
            <a:r>
              <a:rPr lang="en-US" baseline="-25000"/>
              <a:t>0</a:t>
            </a:r>
            <a:r>
              <a:rPr lang="en-US"/>
              <a:t> (1.16)</a:t>
            </a:r>
            <a:r>
              <a:rPr lang="en-US" baseline="30000"/>
              <a:t>250</a:t>
            </a:r>
            <a:r>
              <a:rPr lang="en-US"/>
              <a:t> x (0.86)</a:t>
            </a:r>
            <a:r>
              <a:rPr lang="en-US" baseline="30000"/>
              <a:t>250</a:t>
            </a:r>
            <a:r>
              <a:rPr lang="en-US"/>
              <a:t> = 54.8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304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 to ducks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Back to your estimates for population growth rate, </a:t>
            </a:r>
            <a:r>
              <a:rPr lang="el-GR"/>
              <a:t>λ</a:t>
            </a:r>
            <a:r>
              <a:rPr lang="en-US"/>
              <a:t> </a:t>
            </a:r>
          </a:p>
          <a:p>
            <a:r>
              <a:rPr lang="en-US"/>
              <a:t>Calculate the geometric mean for the growth rate</a:t>
            </a:r>
          </a:p>
          <a:p>
            <a:r>
              <a:rPr lang="en-US"/>
              <a:t>Any changes in your predictions for increasing or decreasing?</a:t>
            </a: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103375D-4E2F-E34E-950C-280FE85CF56C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3628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Variation in Population Growth Rate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/>
              <a:t>Addition of variation to population growth rate will have additional consequences</a:t>
            </a:r>
          </a:p>
          <a:p>
            <a:pPr>
              <a:defRPr/>
            </a:pPr>
            <a:r>
              <a:rPr lang="en-US" dirty="0"/>
              <a:t>This will make future predictions of population growth less certain</a:t>
            </a:r>
          </a:p>
          <a:p>
            <a:pPr>
              <a:defRPr/>
            </a:pPr>
            <a:r>
              <a:rPr lang="en-US" dirty="0"/>
              <a:t>It also means that there will be an increasing probability of extinction (or also of high population abundance)</a:t>
            </a:r>
          </a:p>
        </p:txBody>
      </p:sp>
    </p:spTree>
    <p:extLst>
      <p:ext uri="{BB962C8B-B14F-4D97-AF65-F5344CB8AC3E}">
        <p14:creationId xmlns:p14="http://schemas.microsoft.com/office/powerpoint/2010/main" val="18118936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 in Data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Observation error </a:t>
            </a:r>
          </a:p>
          <a:p>
            <a:pPr lvl="1">
              <a:defRPr/>
            </a:pPr>
            <a:r>
              <a:rPr lang="en-US" dirty="0"/>
              <a:t>Make measurements in better habitats</a:t>
            </a:r>
          </a:p>
          <a:p>
            <a:pPr lvl="1">
              <a:defRPr/>
            </a:pPr>
            <a:r>
              <a:rPr lang="en-US" dirty="0"/>
              <a:t>Easier to find and mark healthiest plants (easier to find) or less healthy animals (easier to catch)</a:t>
            </a:r>
          </a:p>
          <a:p>
            <a:pPr lvl="1">
              <a:defRPr/>
            </a:pPr>
            <a:r>
              <a:rPr lang="en-US" dirty="0"/>
              <a:t>Difficulty finding/seeing organisms</a:t>
            </a:r>
          </a:p>
          <a:p>
            <a:pPr lvl="1">
              <a:defRPr/>
            </a:pPr>
            <a:r>
              <a:rPr lang="en-US" dirty="0"/>
              <a:t>Estimates will be more variable thus more pessimistic</a:t>
            </a:r>
          </a:p>
        </p:txBody>
      </p:sp>
    </p:spTree>
    <p:extLst>
      <p:ext uri="{BB962C8B-B14F-4D97-AF65-F5344CB8AC3E}">
        <p14:creationId xmlns:p14="http://schemas.microsoft.com/office/powerpoint/2010/main" val="35791113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 in Data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Density dependence</a:t>
            </a:r>
          </a:p>
          <a:p>
            <a:pPr lvl="1"/>
            <a:r>
              <a:rPr lang="en-US"/>
              <a:t>Negative density dependence (reduced growth rates with increasing density)</a:t>
            </a:r>
          </a:p>
          <a:p>
            <a:pPr lvl="1"/>
            <a:r>
              <a:rPr lang="en-US"/>
              <a:t>Positive density dependence (Allee effects, decreased growth with decreased density)</a:t>
            </a:r>
          </a:p>
        </p:txBody>
      </p:sp>
    </p:spTree>
    <p:extLst>
      <p:ext uri="{BB962C8B-B14F-4D97-AF65-F5344CB8AC3E}">
        <p14:creationId xmlns:p14="http://schemas.microsoft.com/office/powerpoint/2010/main" val="12000958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Measuring Population Viability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Very small populations (&lt;100) are subject to additional processes  such as inbreeding, demographic stochasticity</a:t>
            </a:r>
          </a:p>
          <a:p>
            <a:r>
              <a:rPr lang="en-US"/>
              <a:t>Conservation biologist typically estimate time to a “quasi-extinction” threshold</a:t>
            </a:r>
          </a:p>
        </p:txBody>
      </p:sp>
    </p:spTree>
    <p:extLst>
      <p:ext uri="{BB962C8B-B14F-4D97-AF65-F5344CB8AC3E}">
        <p14:creationId xmlns:p14="http://schemas.microsoft.com/office/powerpoint/2010/main" val="12035947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0" y="533400"/>
            <a:ext cx="4648200" cy="1143000"/>
          </a:xfrm>
        </p:spPr>
        <p:txBody>
          <a:bodyPr/>
          <a:lstStyle/>
          <a:p>
            <a:r>
              <a:rPr lang="en-US" sz="4000"/>
              <a:t>Analyzing Monitoring Data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29600" cy="4343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Gerber et al. (1999) used monitoring data for eastern Northern Pacific Gray Whales</a:t>
            </a:r>
          </a:p>
          <a:p>
            <a:pPr>
              <a:lnSpc>
                <a:spcPct val="90000"/>
              </a:lnSpc>
            </a:pPr>
            <a:r>
              <a:rPr lang="en-US" sz="2800"/>
              <a:t>They asked how many years of data would be needed to determine if these whales should be delisted (reach population target)</a:t>
            </a:r>
          </a:p>
          <a:p>
            <a:pPr>
              <a:lnSpc>
                <a:spcPct val="90000"/>
              </a:lnSpc>
            </a:pPr>
            <a:r>
              <a:rPr lang="en-US" sz="2800"/>
              <a:t>Population increased to mid 1990s and was delisted in 1994 but with no quantitative basis</a:t>
            </a:r>
          </a:p>
          <a:p>
            <a:pPr>
              <a:lnSpc>
                <a:spcPct val="90000"/>
              </a:lnSpc>
            </a:pPr>
            <a:r>
              <a:rPr lang="en-US" sz="2800"/>
              <a:t>They found the delisting was warranted, but also this could have been done several years earlier</a:t>
            </a:r>
          </a:p>
        </p:txBody>
      </p:sp>
      <p:pic>
        <p:nvPicPr>
          <p:cNvPr id="60420" name="Picture 4" descr="Grey Whal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228600"/>
            <a:ext cx="2362200" cy="157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470502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0" y="762000"/>
            <a:ext cx="4495800" cy="1143000"/>
          </a:xfrm>
        </p:spPr>
        <p:txBody>
          <a:bodyPr/>
          <a:lstStyle/>
          <a:p>
            <a:r>
              <a:rPr lang="en-US" sz="4000" dirty="0"/>
              <a:t>Viability Based on </a:t>
            </a:r>
            <a:br>
              <a:rPr lang="en-US" sz="4000" dirty="0"/>
            </a:br>
            <a:r>
              <a:rPr lang="en-US" sz="4000" dirty="0"/>
              <a:t>Population Growth 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743200"/>
            <a:ext cx="8229600" cy="3962400"/>
          </a:xfrm>
        </p:spPr>
        <p:txBody>
          <a:bodyPr/>
          <a:lstStyle/>
          <a:p>
            <a:r>
              <a:rPr lang="en-US" sz="2800"/>
              <a:t>Growth rates may be more useful for populations where short-term extinction probabilities are low but population is vulnerable</a:t>
            </a:r>
          </a:p>
          <a:p>
            <a:r>
              <a:rPr lang="en-US" sz="2800"/>
              <a:t>Atlantic right whales are currently at a population size of a bit less than 150 and declining</a:t>
            </a:r>
          </a:p>
          <a:p>
            <a:r>
              <a:rPr lang="en-US" sz="2800"/>
              <a:t>The probability of extinction in the next 100 years is nearly zero, but is almost a certainty within 300 years</a:t>
            </a:r>
          </a:p>
          <a:p>
            <a:endParaRPr lang="en-US" sz="2800">
              <a:ea typeface="Tahoma" charset="0"/>
              <a:cs typeface="Tahoma" charset="0"/>
            </a:endParaRPr>
          </a:p>
          <a:p>
            <a:endParaRPr lang="en-US" sz="2800">
              <a:ea typeface="Tahoma" charset="0"/>
              <a:cs typeface="Tahoma" charset="0"/>
            </a:endParaRPr>
          </a:p>
        </p:txBody>
      </p:sp>
      <p:pic>
        <p:nvPicPr>
          <p:cNvPr id="61444" name="Picture 4" descr="RightWhal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81000"/>
            <a:ext cx="3381375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641870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Assumptions with </a:t>
            </a:r>
            <a:br>
              <a:rPr lang="en-US"/>
            </a:br>
            <a:r>
              <a:rPr lang="en-US"/>
              <a:t>Simple PVA Models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No density dependence</a:t>
            </a:r>
          </a:p>
          <a:p>
            <a:pPr>
              <a:defRPr/>
            </a:pPr>
            <a:r>
              <a:rPr lang="en-US" dirty="0"/>
              <a:t>No demographic </a:t>
            </a:r>
            <a:r>
              <a:rPr lang="en-US" dirty="0" err="1"/>
              <a:t>stochasticity</a:t>
            </a:r>
            <a:endParaRPr lang="en-US" dirty="0"/>
          </a:p>
          <a:p>
            <a:pPr>
              <a:defRPr/>
            </a:pPr>
            <a:r>
              <a:rPr lang="en-US" dirty="0"/>
              <a:t>No trends or correlation in environmental variation</a:t>
            </a:r>
          </a:p>
          <a:p>
            <a:pPr>
              <a:defRPr/>
            </a:pPr>
            <a:r>
              <a:rPr lang="en-US" dirty="0"/>
              <a:t>Environmental variation is moderate</a:t>
            </a:r>
          </a:p>
          <a:p>
            <a:pPr>
              <a:defRPr/>
            </a:pPr>
            <a:r>
              <a:rPr lang="en-US" dirty="0"/>
              <a:t>Census counts represent entire population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097451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2" charset="0"/>
            <a:ea typeface="ＭＳ Ｐゴシック" pitchFamily="-112" charset="-128"/>
            <a:cs typeface="ＭＳ Ｐゴシック" pitchFamily="-11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2" charset="0"/>
            <a:ea typeface="ＭＳ Ｐゴシック" pitchFamily="-112" charset="-128"/>
            <a:cs typeface="ＭＳ Ｐゴシック" pitchFamily="-112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91B2070592C54CA35D87054998FBAF" ma:contentTypeVersion="4" ma:contentTypeDescription="Create a new document." ma:contentTypeScope="" ma:versionID="686a4a47ecb621d37ce4011f751fb511">
  <xsd:schema xmlns:xsd="http://www.w3.org/2001/XMLSchema" xmlns:xs="http://www.w3.org/2001/XMLSchema" xmlns:p="http://schemas.microsoft.com/office/2006/metadata/properties" xmlns:ns2="dd0f7990-8f0e-4dcd-a459-cef34a397e7e" targetNamespace="http://schemas.microsoft.com/office/2006/metadata/properties" ma:root="true" ma:fieldsID="a5f08791f2a4a08ac62550394e7387e1" ns2:_="">
    <xsd:import namespace="dd0f7990-8f0e-4dcd-a459-cef34a397e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0f7990-8f0e-4dcd-a459-cef34a397e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624F8D-582B-4A0A-A823-07F109CF71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d0f7990-8f0e-4dcd-a459-cef34a397e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71CA5F6-6CF7-4151-B65F-0D2295724E62}">
  <ds:schemaRefs>
    <ds:schemaRef ds:uri="http://purl.org/dc/terms/"/>
    <ds:schemaRef ds:uri="http://www.w3.org/XML/1998/namespace"/>
    <ds:schemaRef ds:uri="http://purl.org/dc/elements/1.1/"/>
    <ds:schemaRef ds:uri="http://purl.org/dc/dcmitype/"/>
    <ds:schemaRef ds:uri="dd0f7990-8f0e-4dcd-a459-cef34a397e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4BB23D57-4D46-4A01-8B1D-B35307267FF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3294</TotalTime>
  <Words>2120</Words>
  <Application>Microsoft Macintosh PowerPoint</Application>
  <PresentationFormat>On-screen Show (4:3)</PresentationFormat>
  <Paragraphs>308</Paragraphs>
  <Slides>61</Slides>
  <Notes>1</Notes>
  <HiddenSlides>3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Blank Presentation</vt:lpstr>
      <vt:lpstr>Equation</vt:lpstr>
      <vt:lpstr>M&amp;S in Life Sciences</vt:lpstr>
      <vt:lpstr>Population Models</vt:lpstr>
      <vt:lpstr>Matrix Models</vt:lpstr>
      <vt:lpstr>Population to structure</vt:lpstr>
      <vt:lpstr>Simple structure</vt:lpstr>
      <vt:lpstr>Structure Example</vt:lpstr>
      <vt:lpstr>Demographic Analyses</vt:lpstr>
      <vt:lpstr>Population Viability Analysis</vt:lpstr>
      <vt:lpstr>Usefulness of PVA</vt:lpstr>
      <vt:lpstr>Main Types of PVA Models</vt:lpstr>
      <vt:lpstr>Main Types of PVA Models</vt:lpstr>
      <vt:lpstr>Potential Uses of PVA</vt:lpstr>
      <vt:lpstr>Potential Uses of PVA</vt:lpstr>
      <vt:lpstr>Recent extinctions of animal species</vt:lpstr>
      <vt:lpstr>Is recent increase a cause for alarm?</vt:lpstr>
      <vt:lpstr>Historical Perspective of Extinction </vt:lpstr>
      <vt:lpstr>Estimating extinction rates is hard!</vt:lpstr>
      <vt:lpstr>Monitoring Populations</vt:lpstr>
      <vt:lpstr>Mark-Recapture</vt:lpstr>
      <vt:lpstr>Closed populations</vt:lpstr>
      <vt:lpstr>Open populations</vt:lpstr>
      <vt:lpstr>What makes a population closed?</vt:lpstr>
      <vt:lpstr>Lincoln-Petersen method: Closed population</vt:lpstr>
      <vt:lpstr>Back to games!</vt:lpstr>
      <vt:lpstr>Mark-Recapture Game</vt:lpstr>
      <vt:lpstr>Mark-Recapture Game</vt:lpstr>
      <vt:lpstr>Mark-Recapture Game</vt:lpstr>
      <vt:lpstr>PowerPoint Presentation</vt:lpstr>
      <vt:lpstr>Total Population</vt:lpstr>
      <vt:lpstr>Lincoln-Peterson Method</vt:lpstr>
      <vt:lpstr>PowerPoint Presentation</vt:lpstr>
      <vt:lpstr>Mark-Recapture for Structure</vt:lpstr>
      <vt:lpstr>Mark-Recapture Game</vt:lpstr>
      <vt:lpstr>Structured Game</vt:lpstr>
      <vt:lpstr>Analyzing Monitoring Data</vt:lpstr>
      <vt:lpstr>Population trends</vt:lpstr>
      <vt:lpstr>Estimating Population Growth</vt:lpstr>
      <vt:lpstr>Estimating Population Growth</vt:lpstr>
      <vt:lpstr>Estimating Population Growth</vt:lpstr>
      <vt:lpstr>Estimating Population Growth</vt:lpstr>
      <vt:lpstr>Estimating Population Growth</vt:lpstr>
      <vt:lpstr>Sources of Variation in  Population Growth</vt:lpstr>
      <vt:lpstr>Variation in Population Growth</vt:lpstr>
      <vt:lpstr>Variation in Population Growth</vt:lpstr>
      <vt:lpstr>Back to ducks</vt:lpstr>
      <vt:lpstr>Mathematical Reminder</vt:lpstr>
      <vt:lpstr>Mathematical Reminder</vt:lpstr>
      <vt:lpstr>Mathematical Reminder</vt:lpstr>
      <vt:lpstr>Arithmetic Mean in Growth</vt:lpstr>
      <vt:lpstr>Arithmetic Mean in Growth</vt:lpstr>
      <vt:lpstr>Geometric Mean in Growth</vt:lpstr>
      <vt:lpstr>Another way to think about Geometric Mean in Growth</vt:lpstr>
      <vt:lpstr>Another way to think about Geometric Mean in Growth</vt:lpstr>
      <vt:lpstr>Back to ducks</vt:lpstr>
      <vt:lpstr>Variation in Population Growth Rate</vt:lpstr>
      <vt:lpstr>Challenges in Data</vt:lpstr>
      <vt:lpstr>Challenges in Data</vt:lpstr>
      <vt:lpstr>Measuring Population Viability</vt:lpstr>
      <vt:lpstr>Analyzing Monitoring Data</vt:lpstr>
      <vt:lpstr>Viability Based on  Population Growth </vt:lpstr>
      <vt:lpstr>Assumptions with  Simple PVA Models</vt:lpstr>
    </vt:vector>
  </TitlesOfParts>
  <Company>Holly Gaff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Epidemiology - Lecture 1</dc:title>
  <dc:creator>Holly Gaff</dc:creator>
  <cp:lastModifiedBy>Gaff, Holly D.</cp:lastModifiedBy>
  <cp:revision>145</cp:revision>
  <cp:lastPrinted>2010-08-26T19:20:43Z</cp:lastPrinted>
  <dcterms:created xsi:type="dcterms:W3CDTF">2011-01-23T13:43:31Z</dcterms:created>
  <dcterms:modified xsi:type="dcterms:W3CDTF">2022-10-18T21:21:29Z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0x010100D791B2070592C54CA35D87054998FBAF</vt:lpwstr>
  </property>
</Properties>
</file>